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Play-regular.fntdata"/><Relationship Id="rId22" Type="http://schemas.openxmlformats.org/officeDocument/2006/relationships/font" Target="fonts/Play-bold.fntdata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5c171f2_4_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cfc5c171f2_4_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fc5c171f2_4_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a1d1f1b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aa1d1f1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c5c171f2_4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cfc5c171f2_4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fc5c171f2_4_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fc5c171f2_4_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cfc5c171f2_4_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fc5c171f2_4_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c5c171f2_4_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cfc5c171f2_4_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cfc5c171f2_4_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c5c171f2_4_1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cfc5c171f2_4_1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fc5c171f2_4_1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fc5c171f2_4_1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cfc5c171f2_4_1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fc5c171f2_4_1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c5c171f2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fc5c171f2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fc5c171f2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fc5c171f2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fc5c171f2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fc5c171f2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fc5c171f2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fc5c171f2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fc5c171f2_2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fc5c171f2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fc5c171f2_4_1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cfc5c171f2_4_1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fc5c171f2_4_1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fc5c171f2_2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fc5c171f2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0019"/>
          </a:solidFill>
          <a:ln cap="flat" cmpd="sng" w="12700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411480" y="6592824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Junhe Chen  |  PINN Cylinder Flow Reconstruction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9829800" y="659282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Brown University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502920" y="594360"/>
            <a:ext cx="11155680" cy="5440680"/>
          </a:xfrm>
          <a:prstGeom prst="roundRect">
            <a:avLst>
              <a:gd fmla="val 1345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502920" y="594360"/>
            <a:ext cx="11155680" cy="164592"/>
          </a:xfrm>
          <a:prstGeom prst="rect">
            <a:avLst/>
          </a:prstGeom>
          <a:solidFill>
            <a:srgbClr val="7A0019"/>
          </a:solidFill>
          <a:ln cap="flat" cmpd="sng" w="12700">
            <a:solidFill>
              <a:srgbClr val="7A00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868680" y="1188720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Physics-Informed Reconstruction of Cylinder Flow</a:t>
            </a:r>
            <a:r>
              <a:rPr lang="en-US" sz="2600">
                <a:solidFill>
                  <a:schemeClr val="dk1"/>
                </a:solidFill>
              </a:rPr>
              <a:t>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with Reynolds Continuation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932688" y="2514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PINN-based reconstruction and transition analysis for 2D incompressible flow past a cylinder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9006840" y="168249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285100" y="4279272"/>
            <a:ext cx="3749100" cy="1097400"/>
          </a:xfrm>
          <a:prstGeom prst="roundRect">
            <a:avLst>
              <a:gd fmla="val 4211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Junhe Chen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464040" y="53766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Spring 2026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Project Overview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Physical problem, objectives, and expected transition behavior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8"/>
          <p:cNvSpPr/>
          <p:nvPr/>
        </p:nvSpPr>
        <p:spPr>
          <a:xfrm>
            <a:off x="571505" y="1325880"/>
            <a:ext cx="5486400" cy="452640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804672" y="1435608"/>
            <a:ext cx="51572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68680" y="1783080"/>
            <a:ext cx="4892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2D incompressible flow past a circular cylinder is a canonical benchmark in fluid dynamics.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 Reynolds number increases, the wake evolves from steady symmetric recirculation to time-periodic vortex shedding.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This project uses a Physics-Informed Neural Network (PINN) to reconstruct the flow field and study the transition region.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04675" y="4123950"/>
            <a:ext cx="4617600" cy="1417200"/>
          </a:xfrm>
          <a:prstGeom prst="roundRect">
            <a:avLst>
              <a:gd fmla="val 3226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1035505" y="4279398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Geometry and setup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1035505" y="4594230"/>
            <a:ext cx="384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Cylinder radius R = 0.5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Domain x in [-5, 25], y in [-10, 10]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Target Reynolds sweep: Re = 5 to 100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400800" y="1325880"/>
            <a:ext cx="5166360" cy="4526280"/>
          </a:xfrm>
          <a:prstGeom prst="roundRect">
            <a:avLst>
              <a:gd fmla="val 1616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6565392" y="1435608"/>
            <a:ext cx="48371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Main Deliverables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675120" y="1783080"/>
            <a:ext cx="4572000" cy="82296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6858000" y="192938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Flow reconstruction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641080" y="19293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Velocity, pressure, vorticity, and streamlines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675120" y="3977640"/>
            <a:ext cx="4572000" cy="82296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6858000" y="41239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Reusable pipeline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8641080" y="41239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Continuation training across Reynolds numbers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675120" y="50749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Governing Equations and PINN Formulation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2D incompressible Navier-Stokes with stream-function parameterization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19"/>
          <p:cNvSpPr/>
          <p:nvPr/>
        </p:nvSpPr>
        <p:spPr>
          <a:xfrm>
            <a:off x="640080" y="1325880"/>
            <a:ext cx="640080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804672" y="1435608"/>
            <a:ext cx="60716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Navier-Stokes Equations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051560" y="1965960"/>
            <a:ext cx="5577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u_t + u u_x + v u_y = -p_x + (1/Re)(u_xx + u_yy)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v_t + u v_x + v v_y = -p_y + (1/Re)(v_xx + v_yy)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u_x + v_y = 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914400" y="3886200"/>
            <a:ext cx="5806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PINN minimizes PDE residuals together with boundary, initial, and outlet constraints using automatic differentiation.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315200" y="1325880"/>
            <a:ext cx="4251960" cy="4480560"/>
          </a:xfrm>
          <a:prstGeom prst="roundRect">
            <a:avLst>
              <a:gd fmla="val 172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7479792" y="1435608"/>
            <a:ext cx="3922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Stream Function 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7726680" y="187452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Represent the solution 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psi(x, y, t), p(x, y, t)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818120" y="2606040"/>
            <a:ext cx="3246120" cy="868680"/>
          </a:xfrm>
          <a:prstGeom prst="roundRect">
            <a:avLst>
              <a:gd fmla="val 4211" name="adj"/>
            </a:avLst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8001000" y="281635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u = d psi / d 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v = - d psi / d x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635240" y="3840480"/>
            <a:ext cx="3611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Enforces incompressibility by construction.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Removes the need for an extra divergence penalty term.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Produces smooth derivatives compatible with PDE residual evaluation.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Network Architecture, Training, and Loss Design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>
            <a:off x="548640" y="91440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20"/>
          <p:cNvSpPr/>
          <p:nvPr/>
        </p:nvSpPr>
        <p:spPr>
          <a:xfrm>
            <a:off x="640080" y="1325880"/>
            <a:ext cx="3794760" cy="4526280"/>
          </a:xfrm>
          <a:prstGeom prst="roundRect">
            <a:avLst>
              <a:gd fmla="val 192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04672" y="1435608"/>
            <a:ext cx="3465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 Architecture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914400" y="17830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(x, y, t)  --&gt;  MLP  --&gt;  (psi, p)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14400" y="233172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1097280" y="24414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Width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057400" y="244144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128 neurons/layer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914400" y="297180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EEF2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097280" y="308152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Depth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057400" y="308152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 hidden layers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914400" y="361188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1097280" y="372160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Activation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057400" y="372160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tanh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14400" y="4251960"/>
            <a:ext cx="3246120" cy="457200"/>
          </a:xfrm>
          <a:prstGeom prst="roundRect">
            <a:avLst>
              <a:gd fmla="val 6000" name="adj"/>
            </a:avLst>
          </a:prstGeom>
          <a:solidFill>
            <a:srgbClr val="EEF2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1097280" y="436168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057400" y="43616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Adam + L-BFGS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663440" y="1325880"/>
            <a:ext cx="3246120" cy="452628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4828032" y="143560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Loss Function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983480" y="1783080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L = L_pde + 10 L_bc + 10 L_ic + L_out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937760" y="2331720"/>
            <a:ext cx="2697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PDE loss: momentum residuals from Navier-Stokes.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Boundary loss: inlet, wall, and far-field conditions.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Initial loss: uniform initialization in the domain.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Outlet loss: pressure / gradient regularization downstream.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138160" y="1325880"/>
            <a:ext cx="3429000" cy="452628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8302752" y="1435608"/>
            <a:ext cx="3099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Sampling Strategy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8458200" y="17830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Physics-aware collocation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458200" y="2240280"/>
            <a:ext cx="1417320" cy="292608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9875520" y="2240280"/>
            <a:ext cx="868680" cy="2926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10744200" y="2240280"/>
            <a:ext cx="502920" cy="292608"/>
          </a:xfrm>
          <a:prstGeom prst="rect">
            <a:avLst/>
          </a:prstGeom>
          <a:solidFill>
            <a:srgbClr val="1E3A8A"/>
          </a:solidFill>
          <a:ln cap="flat" cmpd="sng" w="12700">
            <a:solidFill>
              <a:srgbClr val="1E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8641080" y="2578608"/>
            <a:ext cx="10515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994392" y="2578608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0808208" y="2578608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412480" y="29718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Refine points near the cylinder to capture boundary-layer behavior.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Bias sampling in the wake to resolve separation and shedding.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smoother activation and derivatives for stable AD-based training.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Reynolds Continuation Strategy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Warm-starting across Reynolds numbers to improve optimization stability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1"/>
          <p:cNvSpPr/>
          <p:nvPr/>
        </p:nvSpPr>
        <p:spPr>
          <a:xfrm>
            <a:off x="731520" y="1417320"/>
            <a:ext cx="1078992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896112" y="1527048"/>
            <a:ext cx="104607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Continuation Workflow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09728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EFF6FF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118872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5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23444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Initialize low-Re steady solution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13639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370332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DBEAF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379476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</a:t>
            </a:r>
            <a:r>
              <a:rPr b="1" lang="en-US" sz="1900">
                <a:solidFill>
                  <a:srgbClr val="0F172A"/>
                </a:solidFill>
              </a:rPr>
              <a:t>40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84048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Transfer weights and continue training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4243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630936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FEF2F2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640080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40-60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44652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Resolve transition region carefully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348472" y="2724912"/>
            <a:ext cx="329184" cy="384048"/>
          </a:xfrm>
          <a:prstGeom prst="chevron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8915400" y="2331720"/>
            <a:ext cx="1965960" cy="1234440"/>
          </a:xfrm>
          <a:prstGeom prst="roundRect">
            <a:avLst>
              <a:gd fmla="val 3704" name="adj"/>
            </a:avLst>
          </a:prstGeom>
          <a:solidFill>
            <a:srgbClr val="E0F2FE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900684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 = </a:t>
            </a:r>
            <a:r>
              <a:rPr b="1" lang="en-US" sz="1900">
                <a:solidFill>
                  <a:srgbClr val="0F172A"/>
                </a:solidFill>
              </a:rPr>
              <a:t>61</a:t>
            </a:r>
            <a:r>
              <a:rPr b="1" i="0" lang="en-US" sz="1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-100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05256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Track increasingly unsteady wake dynamics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37160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50876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More stable optimization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61772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75488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Fewer iterations at each new 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863840" y="4434840"/>
            <a:ext cx="2697480" cy="530352"/>
          </a:xfrm>
          <a:prstGeom prst="roundRect">
            <a:avLst>
              <a:gd fmla="val 5172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800100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Better continuity across the parameter sweep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Results Placeholder: Flow Reconstruction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Replace placeholder panels with your exported figures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22"/>
          <p:cNvSpPr/>
          <p:nvPr/>
        </p:nvSpPr>
        <p:spPr>
          <a:xfrm>
            <a:off x="640080" y="1325880"/>
            <a:ext cx="3703320" cy="461772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804672" y="1435608"/>
            <a:ext cx="33741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observations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68680" y="182880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Velocity magnitude should show stagnation at the front face and acceleration near the cylinder sides.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Downstream recovery and recirculation bubble length can be compared across Reynolds numbers.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the same colorbar range when comparing multiple Re values.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41680" y="4387885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Recommended figures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982975" y="4826560"/>
            <a:ext cx="2926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Velocity magnitude contour at representative times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Streamline plot showing wake topology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• Optional comparison: Re = 40, 60, 100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2" title="截屏2026-03-13 21.22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8645" y="1927849"/>
            <a:ext cx="2173807" cy="145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title="截屏2026-03-13 21.22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88645" y="3487320"/>
            <a:ext cx="2173808" cy="143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title="截屏2026-03-13 21.22.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0300" y="1371625"/>
            <a:ext cx="6300899" cy="41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title="截屏2026-03-13 21.22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109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title="截屏2026-03-13 21.22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59524" cy="613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title="截屏2026-03-13 21.27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8" cy="5786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title="截屏2026-03-13 21.27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052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7" title="截屏2026-03-13 21.27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07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Results Placeholder: Vorticity and Probe Signals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these for wake structure and time-series evidence of transition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2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28"/>
          <p:cNvSpPr/>
          <p:nvPr/>
        </p:nvSpPr>
        <p:spPr>
          <a:xfrm>
            <a:off x="1005840" y="5394960"/>
            <a:ext cx="4892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>
            <p:ph idx="4294967295" type="sldNum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28" title="截屏2026-03-13 21.30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38" y="1133875"/>
            <a:ext cx="11460474" cy="546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9" title="截屏2026-03-13 21.34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25400"/>
            <a:ext cx="11887200" cy="592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800">
                <a:solidFill>
                  <a:srgbClr val="212121"/>
                </a:solidFill>
                <a:latin typeface="Calibri"/>
              </a:rPr>
              <a:t>Run A — Sanity Configuration and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  <a:latin typeface="Calibri"/>
              </a:rPr>
              <a:t>Re=40 single-snapshot PINN, baseline domain and point counts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325880"/>
            <a:ext cx="667512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309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300">
                <a:solidFill>
                  <a:srgbClr val="212121"/>
                </a:solidFill>
                <a:latin typeface="Calibri"/>
              </a:rPr>
              <a:t>SLURM allocation + training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6309360" cy="4297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# 1) interactive GPU node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salloc -p gpu --gres=gpu:1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   --mem=128G -t 12:00:00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# 2) Run A baseline training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python -u cfp40.py --vtk-path Re40.vtk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--save-dir checkpoints_sanity_A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--viz-dir  viz_sanity_A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--width 96 --depth 5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--epochs-adam 1500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--maxiter-bfgs 500 --iters-per-batch 100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--n-f 20000 --n-data 8000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--n-cfd-pde 4000 --lambda-pde-cfd 2.0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--cfd-pde-wall-buffer 0.5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--cfd-pde-edge-buffer 0.5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--x-min -3 --x-max 12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--y-min -4 --y-max  4 \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--method-bfgs SSBroyden1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325880"/>
            <a:ext cx="452628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417320"/>
            <a:ext cx="4160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300">
                <a:solidFill>
                  <a:srgbClr val="212121"/>
                </a:solidFill>
                <a:latin typeface="Calibri"/>
              </a:rPr>
              <a:t>Why these knobs (vs. previous run)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28800"/>
            <a:ext cx="4160520" cy="4297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Custom BFGS path fixed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Now actually invokes SSBroyden1 from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_optimize._minimize_bfgs.  Old code passed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method_bfgs=… into scipy stock BFGS where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it was silently dropped → standard BFGS.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Frozen colloc + full data in BFGS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BFGS gets a deterministic objective; data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MSE can monotonically decrease.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CFD-PDE buffer = 0.5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Skips boundary-layer / far-field CFD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points where the CFD itself violates NS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(see CFD-PDE residual slide).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Memory budget check enabled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Aborts before Adam if H0 (NxN float64)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won't fit. 96/5: H0 ≈ 11 GB.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800">
                <a:solidFill>
                  <a:srgbClr val="212121"/>
                </a:solidFill>
                <a:latin typeface="Calibri"/>
              </a:rPr>
              <a:t>Run A — Loss Trajectory and Achieved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  <a:latin typeface="Calibri"/>
              </a:rPr>
              <a:t>Adam (1500 ep) → SSBroyden1 BFGS (500 calls), data MSE drops 2 orders, then plateaus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unA_l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863840" cy="3538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325880"/>
            <a:ext cx="34747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417320"/>
            <a:ext cx="31089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300">
                <a:solidFill>
                  <a:srgbClr val="212121"/>
                </a:solidFill>
                <a:latin typeface="Calibri"/>
              </a:rPr>
              <a:t>Final-state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3108960" cy="4206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data MSE (BFGS plateau)</a:t>
            </a:r>
          </a:p>
          <a:p>
            <a:pPr algn="l"/>
            <a:r>
              <a:rPr sz="1150" b="0">
                <a:solidFill>
                  <a:srgbClr val="1E2761"/>
                </a:solidFill>
                <a:latin typeface="Calibri"/>
              </a:rPr>
              <a:t>≈ 2.4 · 10⁻⁴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→ data MAE (per component)</a:t>
            </a:r>
          </a:p>
          <a:p>
            <a:pPr algn="l"/>
            <a:r>
              <a:rPr sz="1150" b="0">
                <a:solidFill>
                  <a:srgbClr val="1E2761"/>
                </a:solidFill>
                <a:latin typeface="Calibri"/>
              </a:rPr>
              <a:t>≈ 1.5 · 10⁻²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Improvement vs. previous</a:t>
            </a:r>
          </a:p>
          <a:p>
            <a:pPr algn="l"/>
            <a:r>
              <a:rPr sz="1150" b="0">
                <a:solidFill>
                  <a:srgbClr val="7A1B1B"/>
                </a:solidFill>
                <a:latin typeface="Calibri"/>
              </a:rPr>
              <a:t>MAE 6.3·10⁻² → 1.5·10⁻² (4×)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PDE colloc residual</a:t>
            </a:r>
          </a:p>
          <a:p>
            <a:pPr algn="l"/>
            <a:r>
              <a:rPr sz="1150" b="0">
                <a:solidFill>
                  <a:srgbClr val="1C7293"/>
                </a:solidFill>
                <a:latin typeface="Calibri"/>
              </a:rPr>
              <a:t>MSE ≈ 4.3 · 10⁻⁴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L_wall_uv</a:t>
            </a:r>
          </a:p>
          <a:p>
            <a:pPr algn="l"/>
            <a:r>
              <a:rPr sz="1150" b="0">
                <a:solidFill>
                  <a:srgbClr val="7A1B1B"/>
                </a:solidFill>
                <a:latin typeface="Calibri"/>
              </a:rPr>
              <a:t>≈ 3 · 10⁻¹⁵  (machine ε²)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4A4A4A"/>
                </a:solidFill>
                <a:latin typeface="Calibri"/>
              </a:rPr>
              <a:t>Plateau cause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Calibri"/>
              </a:rPr>
              <a:t>data and PDE balanced;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Calibri"/>
              </a:rPr>
              <a:t>CFD itself has NS residual</a:t>
            </a:r>
          </a:p>
          <a:p>
            <a:pPr algn="l"/>
            <a:r>
              <a:rPr sz="1150" b="0">
                <a:solidFill>
                  <a:srgbClr val="212121"/>
                </a:solidFill>
                <a:latin typeface="Calibri"/>
              </a:rPr>
              <a:t>≈ 1·10⁻³ (next slide)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669280"/>
            <a:ext cx="7863840" cy="594360"/>
          </a:xfrm>
          <a:prstGeom prst="roundRect">
            <a:avLst>
              <a:gd name="adj" fmla="val 6000"/>
            </a:avLst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733288"/>
            <a:ext cx="7680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7A1B1B"/>
                </a:solidFill>
                <a:latin typeface="Calibri"/>
              </a:rPr>
              <a:t>DATA: 8.2·10⁻³ (Adam end)  →  7.0·10⁻⁴ (BFGS batch 1)  →  2.4·10⁻⁴ (BFGS batch 2, then plateau)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800">
                <a:solidFill>
                  <a:srgbClr val="212121"/>
                </a:solidFill>
                <a:latin typeface="Calibri"/>
              </a:rPr>
              <a:t>Hard No-Slip via Stream-Function Lifting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  <a:latin typeface="Calibri"/>
              </a:rPr>
              <a:t>Why L_wall_uv saturates at machine ε² ≈ 10⁻¹⁵ instead of being optimised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wall_lift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4074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93776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107899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300">
                <a:solidFill>
                  <a:srgbClr val="212121"/>
                </a:solidFill>
                <a:latin typeface="Calibri"/>
              </a:rPr>
              <a:t>From the lift conditions to ⟨u² + v²⟩ ≈ ε²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10789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Define r(x,y) = √((x−x_c)² + (y−y_c)²),   ψ = lift(r) · ψ_raw    →   ∇ψ = lift′(r)·r̂·ψ_raw + lift(r)·∇ψ_raw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lift(R) = tanh²(0) = 0,    lift′(R) = 2 tanh(0) sech²(0) / δ = 0    ⇒   ∇ψ|_{r=R} = 0   ⇒   u = ∂_y ψ ≡ 0,  v = −∂_x ψ ≡ 0   on the wall.</a:t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Numerically:  fp32 unit round-off ε ≈ 6·10⁻⁸ on each velocity   ⇒   L_wall_uv = ⟨u² + v²⟩ ~ ε² ≈ 4·10⁻¹⁵.   Run-A measured ≈ 3·10⁻¹⁵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800">
                <a:solidFill>
                  <a:srgbClr val="212121"/>
                </a:solidFill>
                <a:latin typeface="Calibri"/>
              </a:rPr>
              <a:t>Is the CFD itself a solution of the PDE?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  <a:latin typeface="Calibri"/>
              </a:rPr>
              <a:t>Steady vorticity-transport residual on the Re40 mesh — sets the achievable PINN floor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325880"/>
            <a:ext cx="41148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7490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300">
                <a:solidFill>
                  <a:srgbClr val="212121"/>
                </a:solidFill>
                <a:latin typeface="Calibri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749040" cy="4206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On every interior CFD point: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(1) k-nearest neighbours,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(2) local quadratic fit to u and v,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(3) read u_x, u_y, ..., v_xy at center,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(4) ω = v_x − u_y,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(5) second fit for ω → ω_x, ω_y, ω_xx, ω_yy,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(6) compute  r_ω = u·ω_x + v·ω_y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          − (1/Re)(ω_xx + ω_yy).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Curl of momentum eliminates pressure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→ no need to know p from the VTK.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Three configurations tested: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k=24, buf=0.15  (default)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k=12, buf=0.15  (tighter neighbour fit)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k=24, buf=0.5   (exclude BL + edge band)</a:t>
            </a:r>
          </a:p>
        </p:txBody>
      </p:sp>
      <p:pic>
        <p:nvPicPr>
          <p:cNvPr id="10" name="Picture 9" descr="cfd_pde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7132320" cy="31010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669280"/>
            <a:ext cx="11430000" cy="594360"/>
          </a:xfrm>
          <a:prstGeom prst="roundRect">
            <a:avLst>
              <a:gd name="adj" fmla="val 6000"/>
            </a:avLst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33288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7A1B1B"/>
                </a:solidFill>
                <a:latin typeface="Calibri"/>
              </a:rPr>
              <a:t>Take-away:  bulk CFD median NS residual ≈ 1·10⁻³  →  1e-4 ~ 1e-5 absolute MAE is NOT achievable while also satisfying the PDE on this mesh.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800">
                <a:solidFill>
                  <a:srgbClr val="212121"/>
                </a:solidFill>
              </a:rPr>
              <a:t>Run A — Velocity Agreement on CFD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Per-component scatter and absolute error map (from run_analysis_re40.py)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325880"/>
            <a:ext cx="7040880" cy="320040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6675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01_velocity_scatter.png  here after running
  run_analysis_re40.py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17720"/>
            <a:ext cx="7040880" cy="178308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26380"/>
            <a:ext cx="6675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02_velocity_error_map.png  here after running
  run_analysis_re40.py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325880"/>
            <a:ext cx="416052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59" y="1417320"/>
            <a:ext cx="37947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300">
                <a:solidFill>
                  <a:srgbClr val="212121"/>
                </a:solidFill>
              </a:rPr>
              <a:t>Numbers (filled by analysis run)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28800"/>
            <a:ext cx="37947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mae_u, mae_v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summary.txt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rel_l2_u, rel_l2_v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summary.txt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Interpretation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Diagonal in scatter plot = perfect fit;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the error map highlights wake separation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and near-cylinder shear layer as the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regions PINN still struggles with.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Note: rel_l2_v looks large because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the true v field has small magnitude;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trust mae_v / max|ev| absolute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800">
                <a:solidFill>
                  <a:srgbClr val="212121"/>
                </a:solidFill>
              </a:rPr>
              <a:t>Run A — PDE Residual on Collocation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Where PINN still violates Navier–Stokes after training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325880"/>
            <a:ext cx="7589520" cy="365760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223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03_pde_residual_map.png  here after running
  run_analysis_re40.py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74920"/>
            <a:ext cx="7589520" cy="146304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7223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04_pde_residual_hist.png  here after running
  run_analysis_re40.py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611880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17320"/>
            <a:ext cx="32461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300">
                <a:solidFill>
                  <a:srgbClr val="212121"/>
                </a:solidFill>
              </a:rPr>
              <a:t>Compatibility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32461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pde_rmse_mag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summary.txt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near_cyl_pde_rmse_mag</a:t>
            </a: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vs   far_pde_rmse_mag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summary.txt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Reading the map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Bright spots inside r=1 indicate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under-resolved boundary layer.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Bright spots in 1&lt;x&lt;5 indicate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under-resolved shear layers.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Compare to CFD's own residual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(slide 11): both are concentrated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at the same locations.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800">
                <a:solidFill>
                  <a:srgbClr val="212121"/>
                </a:solidFill>
              </a:rPr>
              <a:t>Run A — Boundary-Condition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Wall no-slip (hard-enforced), inlet, top/bottom (soft penalties)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325880"/>
            <a:ext cx="11247120" cy="242316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4580"/>
            <a:ext cx="10881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05_wall_noslip.png  here after running
  run_analysis_re40.py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224028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77740"/>
            <a:ext cx="10881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06_inlet_topbottom.png  here after running
  run_analysis_re40.py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199632"/>
            <a:ext cx="11247120" cy="365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245352"/>
            <a:ext cx="11064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212121"/>
                </a:solidFill>
                <a:latin typeface="Calibri"/>
              </a:rPr>
              <a:t>Wall: max|u|, max|v| should be O(1e-7) — hard lift makes BC structural, not optimised (see slide 10).  Inlet/top/bottom: rmse should be &lt; 1e-2 after Adam→BFGS.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2800">
                <a:solidFill>
                  <a:srgbClr val="212121"/>
                </a:solidFill>
              </a:rPr>
              <a:t>Run A — Vorticity: PINN vs CFD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Derivative-level agreement: harder than velocity-level fit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" y="1325880"/>
            <a:ext cx="3840480" cy="224028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63140"/>
            <a:ext cx="3474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07_vorticity_cfd.png  here after running
  run_analysis_re40.py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840480" cy="224028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263140"/>
            <a:ext cx="3474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07_vorticity_pinn.png  here after running
  run_analysis_re40.py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840480" cy="224028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63140"/>
            <a:ext cx="3474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07_vorticity_diff.png  here after running
  run_analysis_re40.py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703320"/>
            <a:ext cx="7726679" cy="2606040"/>
          </a:xfrm>
          <a:prstGeom prst="roundRect">
            <a:avLst/>
          </a:prstGeom>
          <a:solidFill>
            <a:srgbClr val="F8F8F8"/>
          </a:solidFill>
          <a:ln>
            <a:solidFill>
              <a:srgbClr val="4A4A4A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23460"/>
            <a:ext cx="73609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[ insert  07b_vorticity_cfd_vtk.png  here after running
  run_analysis_re40.py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703320"/>
            <a:ext cx="370332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794760"/>
            <a:ext cx="3337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b="1" sz="1300">
                <a:solidFill>
                  <a:srgbClr val="212121"/>
                </a:solidFill>
              </a:rPr>
              <a:t>What to look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160520"/>
            <a:ext cx="33375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vort_rmse, vort_max_abs</a:t>
            </a: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→ summary.txt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Reading the panels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Top row: CFD (FD), PINN, error.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Bottom: VTK-derivative-based CFD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vorticity (more accurate, scattered).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Red/blue hot-spot pairs in error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→ small phase shift in the wake.</a:t>
            </a: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Acceptable; not a model-failure mode.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