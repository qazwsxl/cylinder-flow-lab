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  <p:sldMasterId id="2147483660" r:id="rId3"/>
  </p:sldMasterIdLst>
  <p:notesMasterIdLst>
    <p:notesMasterId r:id="rId5"/>
  </p:notesMasterIdLst>
  <p:sldIdLst>
    <p:sldId id="256" r:id="rId4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6"/>
    <p:sldId id="284" r:id="rId37"/>
    <p:sldId id="285" r:id="rId38"/>
    <p:sldId id="286" r:id="rId39"/>
  </p:sldIdLst>
  <p:sldSz cx="12192000" cy="6858000"/>
  <p:notesSz cx="6858000" cy="9144000"/>
  <p:embeddedFontLst>
    <p:embeddedFont>
      <p:font typeface="Play" panose="00000500000000000000"/>
      <p:regular r:id="rId3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000000"/>
          </p15:clr>
        </p15:guide>
        <p15:guide id="2" pos="2880" userDrawn="1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showComments="0">
  <p:normalViewPr>
    <p:restoredLeft sz="15620"/>
    <p:restoredTop sz="94660"/>
  </p:normalViewPr>
  <p:slideViewPr>
    <p:cSldViewPr snapToGrid="0" showGuides="1">
      <p:cViewPr varScale="1">
        <p:scale>
          <a:sx n="100" d="100"/>
          <a:sy n="100" d="100"/>
        </p:scale>
        <p:origin x="0" y="0"/>
      </p:cViewPr>
      <p:guideLst>
        <p:guide orient="horz" pos="2160"/>
        <p:guide pos="2880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ableStyles" Target="tableStyles.xml"/><Relationship Id="rId35" Type="http://schemas.openxmlformats.org/officeDocument/2006/relationships/font" Target="fonts/font1.fntdata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39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cfc5c171f2_4_9:notes"/>
          <p:cNvSpPr/>
          <p:nvPr>
            <p:ph type="sldImg" idx="2"/>
          </p:nvPr>
        </p:nvSpPr>
        <p:spPr>
          <a:xfrm>
            <a:off x="685800" y="857250"/>
            <a:ext cx="54864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g3cfc5c171f2_4_9:notes"/>
          <p:cNvSpPr txBox="1"/>
          <p:nvPr>
            <p:ph type="body" idx="1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2" name="Google Shape;92;g3cfc5c171f2_4_9:notes"/>
          <p:cNvSpPr txBox="1"/>
          <p:nvPr>
            <p:ph type="sldNum" idx="12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9aa1d1f1b2_0_0:notes"/>
          <p:cNvSpPr/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39aa1d1f1b2_0_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cfc5c171f2_4_24:notes"/>
          <p:cNvSpPr/>
          <p:nvPr>
            <p:ph type="sldImg" idx="2"/>
          </p:nvPr>
        </p:nvSpPr>
        <p:spPr>
          <a:xfrm>
            <a:off x="685800" y="857250"/>
            <a:ext cx="54864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8" name="Google Shape;108;g3cfc5c171f2_4_24:notes"/>
          <p:cNvSpPr txBox="1"/>
          <p:nvPr>
            <p:ph type="body" idx="1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09" name="Google Shape;109;g3cfc5c171f2_4_24:notes"/>
          <p:cNvSpPr txBox="1"/>
          <p:nvPr>
            <p:ph type="sldNum" idx="12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cfc5c171f2_4_50:notes"/>
          <p:cNvSpPr/>
          <p:nvPr>
            <p:ph type="sldImg" idx="2"/>
          </p:nvPr>
        </p:nvSpPr>
        <p:spPr>
          <a:xfrm>
            <a:off x="685800" y="857250"/>
            <a:ext cx="54864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2" name="Google Shape;132;g3cfc5c171f2_4_50:notes"/>
          <p:cNvSpPr txBox="1"/>
          <p:nvPr>
            <p:ph type="body" idx="1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33" name="Google Shape;133;g3cfc5c171f2_4_50:notes"/>
          <p:cNvSpPr txBox="1"/>
          <p:nvPr>
            <p:ph type="sldNum" idx="12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cfc5c171f2_4_68:notes"/>
          <p:cNvSpPr/>
          <p:nvPr>
            <p:ph type="sldImg" idx="2"/>
          </p:nvPr>
        </p:nvSpPr>
        <p:spPr>
          <a:xfrm>
            <a:off x="685800" y="857250"/>
            <a:ext cx="54864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1" name="Google Shape;151;g3cfc5c171f2_4_68:notes"/>
          <p:cNvSpPr txBox="1"/>
          <p:nvPr>
            <p:ph type="body" idx="1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52" name="Google Shape;152;g3cfc5c171f2_4_68:notes"/>
          <p:cNvSpPr txBox="1"/>
          <p:nvPr>
            <p:ph type="sldNum" idx="12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cfc5c171f2_4_104:notes"/>
          <p:cNvSpPr/>
          <p:nvPr>
            <p:ph type="sldImg" idx="2"/>
          </p:nvPr>
        </p:nvSpPr>
        <p:spPr>
          <a:xfrm>
            <a:off x="685800" y="857250"/>
            <a:ext cx="54864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8" name="Google Shape;188;g3cfc5c171f2_4_104:notes"/>
          <p:cNvSpPr txBox="1"/>
          <p:nvPr>
            <p:ph type="body" idx="1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89" name="Google Shape;189;g3cfc5c171f2_4_104:notes"/>
          <p:cNvSpPr txBox="1"/>
          <p:nvPr>
            <p:ph type="sldNum" idx="12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cfc5c171f2_4_135:notes"/>
          <p:cNvSpPr/>
          <p:nvPr>
            <p:ph type="sldImg" idx="2"/>
          </p:nvPr>
        </p:nvSpPr>
        <p:spPr>
          <a:xfrm>
            <a:off x="685800" y="857250"/>
            <a:ext cx="54864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0" name="Google Shape;220;g3cfc5c171f2_4_135:notes"/>
          <p:cNvSpPr txBox="1"/>
          <p:nvPr>
            <p:ph type="body" idx="1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21" name="Google Shape;221;g3cfc5c171f2_4_135:notes"/>
          <p:cNvSpPr txBox="1"/>
          <p:nvPr>
            <p:ph type="sldNum" idx="12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3cfc5c171f2_2_3:notes"/>
          <p:cNvSpPr/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7" name="Google Shape;237;g3cfc5c171f2_2_3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g3cfc5c171f2_2_8:notes"/>
          <p:cNvSpPr/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2" name="Google Shape;242;g3cfc5c171f2_2_8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g3cfc5c171f2_2_13:notes"/>
          <p:cNvSpPr/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7" name="Google Shape;247;g3cfc5c171f2_2_13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g3cfc5c171f2_2_16:notes"/>
          <p:cNvSpPr/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2" name="Google Shape;252;g3cfc5c171f2_2_16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cfc5c171f2_2_21:notes"/>
          <p:cNvSpPr/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7" name="Google Shape;257;g3cfc5c171f2_2_2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g3cfc5c171f2_4_154:notes"/>
          <p:cNvSpPr/>
          <p:nvPr>
            <p:ph type="sldImg" idx="2"/>
          </p:nvPr>
        </p:nvSpPr>
        <p:spPr>
          <a:xfrm>
            <a:off x="685800" y="857250"/>
            <a:ext cx="54864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2" name="Google Shape;262;g3cfc5c171f2_4_154:notes"/>
          <p:cNvSpPr txBox="1"/>
          <p:nvPr>
            <p:ph type="body" idx="1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63" name="Google Shape;263;g3cfc5c171f2_4_154:notes"/>
          <p:cNvSpPr txBox="1"/>
          <p:nvPr>
            <p:ph type="sldNum" idx="12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g3cfc5c171f2_2_26:notes"/>
          <p:cNvSpPr/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3" name="Google Shape;273;g3cfc5c171f2_2_26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Title Slid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Title and Content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Section Header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matchingName="Two Content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matchingName="Comparison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/>
        </p:txBody>
      </p:sp>
      <p:sp>
        <p:nvSpPr>
          <p:cNvPr id="43" name="Google Shape;43;p7"/>
          <p:cNvSpPr txBox="1"/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/>
        </p:txBody>
      </p:sp>
      <p:sp>
        <p:nvSpPr>
          <p:cNvPr id="45" name="Google Shape;45;p7"/>
          <p:cNvSpPr txBox="1"/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Title 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matchingName="Content with Caption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matchingName="Picture with Caption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matchingName="Title and Vertical Text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matchingName="Vertical Title and Text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STER">
  <p:cSld name="MASTER">
    <p:bg>
      <p:bgPr>
        <a:solidFill>
          <a:srgbClr val="F8FAFC"/>
        </a:solidFill>
        <a:effectLst/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A0019"/>
          </a:solidFill>
          <a:ln w="12700" cap="flat" cmpd="sng">
            <a:solidFill>
              <a:srgbClr val="7A001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4" name="Google Shape;84;p14"/>
          <p:cNvSpPr/>
          <p:nvPr/>
        </p:nvSpPr>
        <p:spPr>
          <a:xfrm>
            <a:off x="0" y="6556248"/>
            <a:ext cx="12191695" cy="301752"/>
          </a:xfrm>
          <a:prstGeom prst="rect">
            <a:avLst/>
          </a:prstGeom>
          <a:solidFill>
            <a:srgbClr val="E2E8F0"/>
          </a:solidFill>
          <a:ln w="12700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5" name="Google Shape;85;p14"/>
          <p:cNvSpPr/>
          <p:nvPr/>
        </p:nvSpPr>
        <p:spPr>
          <a:xfrm>
            <a:off x="411480" y="6592824"/>
            <a:ext cx="4297680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900"/>
              <a:buFont typeface="Arial" panose="020B0604020202090204"/>
              <a:buNone/>
            </a:pPr>
            <a:r>
              <a:rPr lang="en-US" sz="900" b="0" i="0" u="none" strike="noStrike" cap="none">
                <a:solidFill>
                  <a:srgbClr val="334155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rPr>
              <a:t>Junhe Chen  |  PINN Cylinder Flow Reconstruction</a:t>
            </a:r>
            <a:endParaRPr sz="900" b="0" i="0" u="none" strike="noStrike" cap="none">
              <a:solidFill>
                <a:schemeClr val="dk1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sp>
        <p:nvSpPr>
          <p:cNvPr id="86" name="Google Shape;86;p14"/>
          <p:cNvSpPr/>
          <p:nvPr/>
        </p:nvSpPr>
        <p:spPr>
          <a:xfrm>
            <a:off x="9829800" y="6592824"/>
            <a:ext cx="1783080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900"/>
              <a:buFont typeface="Arial" panose="020B0604020202090204"/>
              <a:buNone/>
            </a:pPr>
            <a:r>
              <a:rPr lang="en-US" sz="900" b="0" i="0" u="none" strike="noStrike" cap="none">
                <a:solidFill>
                  <a:srgbClr val="334155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rPr>
              <a:t>Brown University</a:t>
            </a:r>
            <a:endParaRPr sz="900" b="0" i="0" u="none" strike="noStrike" cap="none">
              <a:solidFill>
                <a:schemeClr val="dk1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sp>
        <p:nvSpPr>
          <p:cNvPr id="87" name="Google Shape;87;p14"/>
          <p:cNvSpPr txBox="1"/>
          <p:nvPr>
            <p:ph type="sldNum" idx="12"/>
          </p:nvPr>
        </p:nvSpPr>
        <p:spPr>
          <a:xfrm>
            <a:off x="11612880" y="6592824"/>
            <a:ext cx="274320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>
              <a:spcBef>
                <a:spcPts val="0"/>
              </a:spcBef>
              <a:buNone/>
              <a:defRPr sz="900" b="0" i="0" u="none" strike="noStrike" cap="none">
                <a:solidFill>
                  <a:srgbClr val="334155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1pPr>
            <a:lvl2pPr marL="0" marR="0" lvl="1" indent="0" algn="r">
              <a:spcBef>
                <a:spcPts val="0"/>
              </a:spcBef>
              <a:buNone/>
              <a:defRPr sz="900" b="0" i="0" u="none" strike="noStrike" cap="none">
                <a:solidFill>
                  <a:srgbClr val="334155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2pPr>
            <a:lvl3pPr marL="0" marR="0" lvl="2" indent="0" algn="r">
              <a:spcBef>
                <a:spcPts val="0"/>
              </a:spcBef>
              <a:buNone/>
              <a:defRPr sz="900" b="0" i="0" u="none" strike="noStrike" cap="none">
                <a:solidFill>
                  <a:srgbClr val="334155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3pPr>
            <a:lvl4pPr marL="0" marR="0" lvl="3" indent="0" algn="r">
              <a:spcBef>
                <a:spcPts val="0"/>
              </a:spcBef>
              <a:buNone/>
              <a:defRPr sz="900" b="0" i="0" u="none" strike="noStrike" cap="none">
                <a:solidFill>
                  <a:srgbClr val="334155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4pPr>
            <a:lvl5pPr marL="0" marR="0" lvl="4" indent="0" algn="r">
              <a:spcBef>
                <a:spcPts val="0"/>
              </a:spcBef>
              <a:buNone/>
              <a:defRPr sz="900" b="0" i="0" u="none" strike="noStrike" cap="none">
                <a:solidFill>
                  <a:srgbClr val="334155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5pPr>
            <a:lvl6pPr marL="0" marR="0" lvl="5" indent="0" algn="r">
              <a:spcBef>
                <a:spcPts val="0"/>
              </a:spcBef>
              <a:buNone/>
              <a:defRPr sz="900" b="0" i="0" u="none" strike="noStrike" cap="none">
                <a:solidFill>
                  <a:srgbClr val="334155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6pPr>
            <a:lvl7pPr marL="0" marR="0" lvl="6" indent="0" algn="r">
              <a:spcBef>
                <a:spcPts val="0"/>
              </a:spcBef>
              <a:buNone/>
              <a:defRPr sz="900" b="0" i="0" u="none" strike="noStrike" cap="none">
                <a:solidFill>
                  <a:srgbClr val="334155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7pPr>
            <a:lvl8pPr marL="0" marR="0" lvl="7" indent="0" algn="r">
              <a:spcBef>
                <a:spcPts val="0"/>
              </a:spcBef>
              <a:buNone/>
              <a:defRPr sz="900" b="0" i="0" u="none" strike="noStrike" cap="none">
                <a:solidFill>
                  <a:srgbClr val="334155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8pPr>
            <a:lvl9pPr marL="0" marR="0" lvl="8" indent="0" algn="r">
              <a:spcBef>
                <a:spcPts val="0"/>
              </a:spcBef>
              <a:buNone/>
              <a:defRPr sz="900" b="0" i="0" u="none" strike="noStrike" cap="none">
                <a:solidFill>
                  <a:srgbClr val="334155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 panose="020B0604020202090204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90204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90204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90204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90204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90204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90204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90204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90204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3"/>
          <p:cNvSpPr txBox="1"/>
          <p:nvPr>
            <p:ph type="sldNum" idx="12"/>
          </p:nvPr>
        </p:nvSpPr>
        <p:spPr>
          <a:xfrm>
            <a:off x="11612880" y="6592824"/>
            <a:ext cx="274320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334155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334155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334155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334155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334155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334155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334155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334155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334155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12.xml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2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2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2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2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2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2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2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13.png"/><Relationship Id="rId3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5.png"/><Relationship Id="rId3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17.png"/><Relationship Id="rId3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6"/>
          <p:cNvSpPr/>
          <p:nvPr/>
        </p:nvSpPr>
        <p:spPr>
          <a:xfrm>
            <a:off x="502920" y="594360"/>
            <a:ext cx="11155680" cy="5440680"/>
          </a:xfrm>
          <a:prstGeom prst="roundRect">
            <a:avLst>
              <a:gd name="adj" fmla="val 1345"/>
            </a:avLst>
          </a:prstGeom>
          <a:solidFill>
            <a:srgbClr val="0F172A"/>
          </a:solidFill>
          <a:ln w="12700" cap="flat" cmpd="sng">
            <a:solidFill>
              <a:srgbClr val="0F17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5" name="Google Shape;95;p16"/>
          <p:cNvSpPr/>
          <p:nvPr/>
        </p:nvSpPr>
        <p:spPr>
          <a:xfrm>
            <a:off x="502920" y="594360"/>
            <a:ext cx="11155680" cy="164592"/>
          </a:xfrm>
          <a:prstGeom prst="rect">
            <a:avLst/>
          </a:prstGeom>
          <a:solidFill>
            <a:srgbClr val="7A0019"/>
          </a:solidFill>
          <a:ln w="12700" cap="flat" cmpd="sng">
            <a:solidFill>
              <a:srgbClr val="7A001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6" name="Google Shape;96;p16"/>
          <p:cNvSpPr/>
          <p:nvPr/>
        </p:nvSpPr>
        <p:spPr>
          <a:xfrm>
            <a:off x="868680" y="1188720"/>
            <a:ext cx="7132320" cy="109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Play" panose="00000500000000000000"/>
              <a:buNone/>
            </a:pPr>
            <a:r>
              <a:rPr lang="en-US" sz="2600" b="1" i="0" u="none" strike="noStrike" cap="none">
                <a:solidFill>
                  <a:srgbClr val="FFFFFF"/>
                </a:solidFill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Physics-Informed Reconstruction of Cylinder Flow</a:t>
            </a:r>
            <a:r>
              <a:rPr lang="en-US" sz="2600">
                <a:solidFill>
                  <a:schemeClr val="dk1"/>
                </a:solidFill>
              </a:rPr>
              <a:t> </a:t>
            </a:r>
            <a:r>
              <a:rPr lang="en-US" sz="2600" b="1" i="0" u="none" strike="noStrike" cap="none">
                <a:solidFill>
                  <a:srgbClr val="FFFFFF"/>
                </a:solidFill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with Reynolds Continuation</a:t>
            </a:r>
            <a:endParaRPr sz="2600" b="0" i="0" u="none" strike="noStrike" cap="none">
              <a:solidFill>
                <a:schemeClr val="dk1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sp>
        <p:nvSpPr>
          <p:cNvPr id="97" name="Google Shape;97;p16"/>
          <p:cNvSpPr/>
          <p:nvPr/>
        </p:nvSpPr>
        <p:spPr>
          <a:xfrm>
            <a:off x="932688" y="2514600"/>
            <a:ext cx="73152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500"/>
              <a:buFont typeface="Arial" panose="020B0604020202090204"/>
              <a:buNone/>
            </a:pPr>
            <a:r>
              <a:rPr lang="en-US" sz="1500" b="0" i="1" u="none" strike="noStrike" cap="none">
                <a:solidFill>
                  <a:srgbClr val="CBD5E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rPr>
              <a:t>PINN-based reconstruction and transition analysis for 2D incompressible flow past a cylinder</a:t>
            </a:r>
            <a:endParaRPr sz="1500" b="0" i="0" u="none" strike="noStrike" cap="none">
              <a:solidFill>
                <a:schemeClr val="dk1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sp>
        <p:nvSpPr>
          <p:cNvPr id="98" name="Google Shape;98;p16"/>
          <p:cNvSpPr/>
          <p:nvPr/>
        </p:nvSpPr>
        <p:spPr>
          <a:xfrm>
            <a:off x="9006840" y="1682496"/>
            <a:ext cx="155448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 panose="020B0604020202090204"/>
              <a:buNone/>
            </a:pPr>
            <a:endParaRPr sz="1800" b="0" i="0" u="none" strike="noStrike" cap="none">
              <a:solidFill>
                <a:schemeClr val="dk1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sp>
        <p:nvSpPr>
          <p:cNvPr id="99" name="Google Shape;99;p16"/>
          <p:cNvSpPr/>
          <p:nvPr/>
        </p:nvSpPr>
        <p:spPr>
          <a:xfrm>
            <a:off x="1285100" y="4279272"/>
            <a:ext cx="3749100" cy="1097400"/>
          </a:xfrm>
          <a:prstGeom prst="roundRect">
            <a:avLst>
              <a:gd name="adj" fmla="val 4211"/>
            </a:avLst>
          </a:prstGeom>
          <a:solidFill>
            <a:srgbClr val="1E293B"/>
          </a:solidFill>
          <a:ln w="12700" cap="flat" cmpd="sng">
            <a:solidFill>
              <a:srgbClr val="33415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lt1"/>
                </a:solidFill>
              </a:rPr>
              <a:t>Junhe Chen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100" name="Google Shape;100;p16"/>
          <p:cNvSpPr/>
          <p:nvPr/>
        </p:nvSpPr>
        <p:spPr>
          <a:xfrm>
            <a:off x="9464040" y="5376672"/>
            <a:ext cx="118872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Arial" panose="020B0604020202090204"/>
              <a:buNone/>
            </a:pPr>
            <a:r>
              <a:rPr lang="en-US" sz="1000" b="0" i="0" u="none" strike="noStrike" cap="none">
                <a:solidFill>
                  <a:srgbClr val="94A3B8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rPr>
              <a:t>Spring 2026</a:t>
            </a:r>
            <a:endParaRPr sz="1000" b="0" i="0" u="none" strike="noStrike" cap="none">
              <a:solidFill>
                <a:schemeClr val="dk1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sp>
        <p:nvSpPr>
          <p:cNvPr id="101" name="Google Shape;101;p16"/>
          <p:cNvSpPr txBox="1"/>
          <p:nvPr>
            <p:ph type="sldNum" idx="4294967295"/>
          </p:nvPr>
        </p:nvSpPr>
        <p:spPr>
          <a:xfrm>
            <a:off x="11612880" y="6592824"/>
            <a:ext cx="274320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900" b="0" i="0" u="none" strike="noStrike" cap="none">
                <a:solidFill>
                  <a:srgbClr val="334155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rPr>
            </a:fld>
            <a:endParaRPr sz="900" b="0" i="0" u="none" strike="noStrike" cap="none">
              <a:solidFill>
                <a:srgbClr val="334155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8"/>
          <p:cNvSpPr/>
          <p:nvPr/>
        </p:nvSpPr>
        <p:spPr>
          <a:xfrm>
            <a:off x="548640" y="384048"/>
            <a:ext cx="896112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2600"/>
              <a:buFont typeface="Play" panose="00000500000000000000"/>
              <a:buNone/>
            </a:pPr>
            <a:r>
              <a:rPr lang="en-US" sz="2600" b="1" i="0" u="none" strike="noStrike" cap="none">
                <a:solidFill>
                  <a:srgbClr val="0F172A"/>
                </a:solidFill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Project Overview</a:t>
            </a:r>
            <a:endParaRPr sz="2600" b="0" i="0" u="none" strike="noStrike" cap="none">
              <a:solidFill>
                <a:schemeClr val="dk1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sp>
        <p:nvSpPr>
          <p:cNvPr id="112" name="Google Shape;112;p18"/>
          <p:cNvSpPr/>
          <p:nvPr/>
        </p:nvSpPr>
        <p:spPr>
          <a:xfrm>
            <a:off x="566928" y="822960"/>
            <a:ext cx="96012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50"/>
              <a:buFont typeface="Arial" panose="020B0604020202090204"/>
              <a:buNone/>
            </a:pPr>
            <a:r>
              <a:rPr lang="en-US" sz="1050" b="0" i="0" u="none" strike="noStrike" cap="none">
                <a:solidFill>
                  <a:srgbClr val="475569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rPr>
              <a:t>Physical problem, objectives, and expected transition behavior</a:t>
            </a:r>
            <a:endParaRPr sz="1050" b="0" i="0" u="none" strike="noStrike" cap="none">
              <a:solidFill>
                <a:schemeClr val="dk1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cxnSp>
        <p:nvCxnSpPr>
          <p:cNvPr id="113" name="Google Shape;113;p18"/>
          <p:cNvCxnSpPr/>
          <p:nvPr/>
        </p:nvCxnSpPr>
        <p:spPr>
          <a:xfrm>
            <a:off x="548640" y="1078992"/>
            <a:ext cx="11064240" cy="0"/>
          </a:xfrm>
          <a:prstGeom prst="straightConnector1">
            <a:avLst/>
          </a:prstGeom>
          <a:noFill/>
          <a:ln w="12700" cap="flat" cmpd="sng">
            <a:solidFill>
              <a:srgbClr val="94A3B8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14" name="Google Shape;114;p18"/>
          <p:cNvSpPr/>
          <p:nvPr/>
        </p:nvSpPr>
        <p:spPr>
          <a:xfrm>
            <a:off x="571505" y="1325880"/>
            <a:ext cx="5486400" cy="4526400"/>
          </a:xfrm>
          <a:prstGeom prst="roundRect">
            <a:avLst>
              <a:gd name="adj" fmla="val 1616"/>
            </a:avLst>
          </a:prstGeom>
          <a:solidFill>
            <a:srgbClr val="FFFFFF"/>
          </a:solidFill>
          <a:ln w="12700" cap="flat" cmpd="sng">
            <a:solidFill>
              <a:srgbClr val="CBD5E1"/>
            </a:solidFill>
            <a:prstDash val="solid"/>
            <a:round/>
            <a:headEnd type="none" w="sm" len="sm"/>
            <a:tailEnd type="none" w="sm" len="sm"/>
          </a:ln>
          <a:effectLst>
            <a:outerShdw blurRad="12700" dist="6350" dir="27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15" name="Google Shape;115;p18"/>
          <p:cNvSpPr/>
          <p:nvPr/>
        </p:nvSpPr>
        <p:spPr>
          <a:xfrm>
            <a:off x="804672" y="1435608"/>
            <a:ext cx="5157216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400"/>
              <a:buFont typeface="Arial" panose="020B0604020202090204"/>
              <a:buNone/>
            </a:pPr>
            <a:r>
              <a:rPr lang="en-US" sz="1400" b="1" i="0" u="none" strike="noStrike" cap="none">
                <a:solidFill>
                  <a:srgbClr val="0F172A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rPr>
              <a:t>Problem Statement</a:t>
            </a:r>
            <a:endParaRPr sz="1400" b="0" i="0" u="none" strike="noStrike" cap="none">
              <a:solidFill>
                <a:schemeClr val="dk1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sp>
        <p:nvSpPr>
          <p:cNvPr id="116" name="Google Shape;116;p18"/>
          <p:cNvSpPr/>
          <p:nvPr/>
        </p:nvSpPr>
        <p:spPr>
          <a:xfrm>
            <a:off x="868680" y="1783080"/>
            <a:ext cx="4892040" cy="1737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marR="0" lvl="0" indent="-17780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700"/>
              <a:buFont typeface="Arial" panose="020B0604020202090204"/>
              <a:buChar char="•"/>
            </a:pPr>
            <a:r>
              <a:rPr lang="en-US" sz="1700" b="0" i="0" u="none" strike="noStrike" cap="none">
                <a:solidFill>
                  <a:srgbClr val="1F2937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rPr>
              <a:t>2D incompressible flow past a circular cylinder is a canonical benchmark in fluid dynamics.</a:t>
            </a:r>
            <a:endParaRPr sz="1700" b="0" i="0" u="none" strike="noStrike" cap="none">
              <a:solidFill>
                <a:schemeClr val="dk1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  <a:p>
            <a:pPr marL="177800" marR="0" lvl="0" indent="-17780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700"/>
              <a:buFont typeface="Arial" panose="020B0604020202090204"/>
              <a:buChar char="•"/>
            </a:pPr>
            <a:r>
              <a:rPr lang="en-US" sz="1700" b="0" i="0" u="none" strike="noStrike" cap="none">
                <a:solidFill>
                  <a:srgbClr val="1F2937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rPr>
              <a:t>As Reynolds number increases, the wake evolves from steady symmetric recirculation to time-periodic vortex shedding.</a:t>
            </a:r>
            <a:endParaRPr sz="1700" b="0" i="0" u="none" strike="noStrike" cap="none">
              <a:solidFill>
                <a:schemeClr val="dk1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  <a:p>
            <a:pPr marL="177800" marR="0" lvl="0" indent="-17780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700"/>
              <a:buFont typeface="Arial" panose="020B0604020202090204"/>
              <a:buChar char="•"/>
            </a:pPr>
            <a:r>
              <a:rPr lang="en-US" sz="1700" b="0" i="0" u="none" strike="noStrike" cap="none">
                <a:solidFill>
                  <a:srgbClr val="1F2937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rPr>
              <a:t>This project uses a Physics-Informed Neural Network (PINN) to reconstruct the flow field and study the transition region.</a:t>
            </a:r>
            <a:endParaRPr sz="1700" b="0" i="0" u="none" strike="noStrike" cap="none">
              <a:solidFill>
                <a:schemeClr val="dk1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sp>
        <p:nvSpPr>
          <p:cNvPr id="117" name="Google Shape;117;p18"/>
          <p:cNvSpPr/>
          <p:nvPr/>
        </p:nvSpPr>
        <p:spPr>
          <a:xfrm>
            <a:off x="804675" y="4123950"/>
            <a:ext cx="4617600" cy="1417200"/>
          </a:xfrm>
          <a:prstGeom prst="roundRect">
            <a:avLst>
              <a:gd name="adj" fmla="val 3226"/>
            </a:avLst>
          </a:prstGeom>
          <a:solidFill>
            <a:srgbClr val="EFF6FF"/>
          </a:solidFill>
          <a:ln w="12700" cap="flat" cmpd="sng">
            <a:solidFill>
              <a:srgbClr val="93C5F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18" name="Google Shape;118;p18"/>
          <p:cNvSpPr/>
          <p:nvPr/>
        </p:nvSpPr>
        <p:spPr>
          <a:xfrm>
            <a:off x="1035505" y="4279398"/>
            <a:ext cx="18288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SzPts val="1400"/>
              <a:buFont typeface="Arial" panose="020B0604020202090204"/>
              <a:buNone/>
            </a:pPr>
            <a:r>
              <a:rPr lang="en-US" sz="1400" b="1" i="0" u="none" strike="noStrike" cap="none">
                <a:solidFill>
                  <a:srgbClr val="1D4ED8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rPr>
              <a:t>Geometry and setup</a:t>
            </a:r>
            <a:endParaRPr sz="1400" b="0" i="0" u="none" strike="noStrike" cap="none">
              <a:solidFill>
                <a:schemeClr val="dk1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sp>
        <p:nvSpPr>
          <p:cNvPr id="119" name="Google Shape;119;p18"/>
          <p:cNvSpPr/>
          <p:nvPr/>
        </p:nvSpPr>
        <p:spPr>
          <a:xfrm>
            <a:off x="1035505" y="4594230"/>
            <a:ext cx="38406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500"/>
              <a:buFont typeface="Arial" panose="020B0604020202090204"/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rPr>
              <a:t>Cylinder radius R = 0.5</a:t>
            </a:r>
            <a:endParaRPr sz="1500" b="0" i="0" u="none" strike="noStrike" cap="none">
              <a:solidFill>
                <a:schemeClr val="dk1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500"/>
              <a:buFont typeface="Arial" panose="020B0604020202090204"/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rPr>
              <a:t>Domain x in [-5, 25], y in [-10, 10]</a:t>
            </a:r>
            <a:endParaRPr sz="1500" b="0" i="0" u="none" strike="noStrike" cap="none">
              <a:solidFill>
                <a:schemeClr val="dk1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500"/>
              <a:buFont typeface="Arial" panose="020B0604020202090204"/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rPr>
              <a:t>Target Reynolds sweep: Re = 5 to 100</a:t>
            </a:r>
            <a:endParaRPr sz="1500" b="0" i="0" u="none" strike="noStrike" cap="none">
              <a:solidFill>
                <a:schemeClr val="dk1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sp>
        <p:nvSpPr>
          <p:cNvPr id="120" name="Google Shape;120;p18"/>
          <p:cNvSpPr/>
          <p:nvPr/>
        </p:nvSpPr>
        <p:spPr>
          <a:xfrm>
            <a:off x="6400800" y="1325880"/>
            <a:ext cx="5166360" cy="4526280"/>
          </a:xfrm>
          <a:prstGeom prst="roundRect">
            <a:avLst>
              <a:gd name="adj" fmla="val 1616"/>
            </a:avLst>
          </a:prstGeom>
          <a:solidFill>
            <a:srgbClr val="F8FAFC"/>
          </a:solidFill>
          <a:ln w="12700" cap="flat" cmpd="sng">
            <a:solidFill>
              <a:srgbClr val="CBD5E1"/>
            </a:solidFill>
            <a:prstDash val="solid"/>
            <a:round/>
            <a:headEnd type="none" w="sm" len="sm"/>
            <a:tailEnd type="none" w="sm" len="sm"/>
          </a:ln>
          <a:effectLst>
            <a:outerShdw blurRad="12700" dist="6350" dir="27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21" name="Google Shape;121;p18"/>
          <p:cNvSpPr/>
          <p:nvPr/>
        </p:nvSpPr>
        <p:spPr>
          <a:xfrm>
            <a:off x="6565392" y="1435608"/>
            <a:ext cx="4837176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400"/>
              <a:buFont typeface="Arial" panose="020B0604020202090204"/>
              <a:buNone/>
            </a:pPr>
            <a:r>
              <a:rPr lang="en-US" sz="1400" b="1" i="0" u="none" strike="noStrike" cap="none">
                <a:solidFill>
                  <a:srgbClr val="0F172A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rPr>
              <a:t>Main Deliverables</a:t>
            </a:r>
            <a:endParaRPr sz="1400" b="0" i="0" u="none" strike="noStrike" cap="none">
              <a:solidFill>
                <a:schemeClr val="dk1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sp>
        <p:nvSpPr>
          <p:cNvPr id="122" name="Google Shape;122;p18"/>
          <p:cNvSpPr/>
          <p:nvPr/>
        </p:nvSpPr>
        <p:spPr>
          <a:xfrm>
            <a:off x="6675120" y="1783080"/>
            <a:ext cx="4572000" cy="822960"/>
          </a:xfrm>
          <a:prstGeom prst="roundRect">
            <a:avLst>
              <a:gd name="adj" fmla="val 4444"/>
            </a:avLst>
          </a:prstGeom>
          <a:solidFill>
            <a:srgbClr val="F8FAFC"/>
          </a:solidFill>
          <a:ln w="12700" cap="flat" cmpd="sng">
            <a:solidFill>
              <a:srgbClr val="CBD5E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23" name="Google Shape;123;p18"/>
          <p:cNvSpPr/>
          <p:nvPr/>
        </p:nvSpPr>
        <p:spPr>
          <a:xfrm>
            <a:off x="6858000" y="1929384"/>
            <a:ext cx="173736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500"/>
              <a:buFont typeface="Arial" panose="020B0604020202090204"/>
              <a:buNone/>
            </a:pPr>
            <a:r>
              <a:rPr lang="en-US" sz="1500" b="1" i="0" u="none" strike="noStrike" cap="none">
                <a:solidFill>
                  <a:srgbClr val="0F172A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rPr>
              <a:t>Flow reconstruction</a:t>
            </a:r>
            <a:endParaRPr sz="1500" b="0" i="0" u="none" strike="noStrike" cap="none">
              <a:solidFill>
                <a:schemeClr val="dk1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sp>
        <p:nvSpPr>
          <p:cNvPr id="124" name="Google Shape;124;p18"/>
          <p:cNvSpPr/>
          <p:nvPr/>
        </p:nvSpPr>
        <p:spPr>
          <a:xfrm>
            <a:off x="8641080" y="1929384"/>
            <a:ext cx="23317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250"/>
              <a:buFont typeface="Arial" panose="020B0604020202090204"/>
              <a:buNone/>
            </a:pPr>
            <a:r>
              <a:rPr lang="en-US" sz="1250" b="0" i="0" u="none" strike="noStrike" cap="none">
                <a:solidFill>
                  <a:srgbClr val="475569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rPr>
              <a:t>Velocity, pressure, vorticity, and streamlines</a:t>
            </a:r>
            <a:endParaRPr sz="1250" b="0" i="0" u="none" strike="noStrike" cap="none">
              <a:solidFill>
                <a:schemeClr val="dk1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sp>
        <p:nvSpPr>
          <p:cNvPr id="125" name="Google Shape;125;p18"/>
          <p:cNvSpPr/>
          <p:nvPr/>
        </p:nvSpPr>
        <p:spPr>
          <a:xfrm>
            <a:off x="6675120" y="3977640"/>
            <a:ext cx="4572000" cy="822960"/>
          </a:xfrm>
          <a:prstGeom prst="roundRect">
            <a:avLst>
              <a:gd name="adj" fmla="val 4444"/>
            </a:avLst>
          </a:prstGeom>
          <a:solidFill>
            <a:srgbClr val="F8FAFC"/>
          </a:solidFill>
          <a:ln w="12700" cap="flat" cmpd="sng">
            <a:solidFill>
              <a:srgbClr val="CBD5E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26" name="Google Shape;126;p18"/>
          <p:cNvSpPr/>
          <p:nvPr/>
        </p:nvSpPr>
        <p:spPr>
          <a:xfrm>
            <a:off x="6858000" y="4123944"/>
            <a:ext cx="173736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500"/>
              <a:buFont typeface="Arial" panose="020B0604020202090204"/>
              <a:buNone/>
            </a:pPr>
            <a:r>
              <a:rPr lang="en-US" sz="1500" b="1" i="0" u="none" strike="noStrike" cap="none">
                <a:solidFill>
                  <a:srgbClr val="0F172A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rPr>
              <a:t>Reusable pipeline</a:t>
            </a:r>
            <a:endParaRPr sz="1500" b="0" i="0" u="none" strike="noStrike" cap="none">
              <a:solidFill>
                <a:schemeClr val="dk1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sp>
        <p:nvSpPr>
          <p:cNvPr id="127" name="Google Shape;127;p18"/>
          <p:cNvSpPr/>
          <p:nvPr/>
        </p:nvSpPr>
        <p:spPr>
          <a:xfrm>
            <a:off x="8641080" y="4123944"/>
            <a:ext cx="23317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250"/>
              <a:buFont typeface="Arial" panose="020B0604020202090204"/>
              <a:buNone/>
            </a:pPr>
            <a:r>
              <a:rPr lang="en-US" sz="1250" b="0" i="0" u="none" strike="noStrike" cap="none">
                <a:solidFill>
                  <a:srgbClr val="475569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rPr>
              <a:t>Continuation training across Reynolds numbers</a:t>
            </a:r>
            <a:endParaRPr sz="1250" b="0" i="0" u="none" strike="noStrike" cap="none">
              <a:solidFill>
                <a:schemeClr val="dk1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sp>
        <p:nvSpPr>
          <p:cNvPr id="128" name="Google Shape;128;p18"/>
          <p:cNvSpPr/>
          <p:nvPr/>
        </p:nvSpPr>
        <p:spPr>
          <a:xfrm>
            <a:off x="6675120" y="5074920"/>
            <a:ext cx="45720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B91C1C"/>
              </a:buClr>
              <a:buSzPts val="1400"/>
              <a:buFont typeface="Arial" panose="020B0604020202090204"/>
              <a:buNone/>
            </a:pPr>
            <a:endParaRPr sz="1400" b="0" i="0" u="none" strike="noStrike" cap="none">
              <a:solidFill>
                <a:schemeClr val="dk1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sp>
        <p:nvSpPr>
          <p:cNvPr id="129" name="Google Shape;129;p18"/>
          <p:cNvSpPr txBox="1"/>
          <p:nvPr>
            <p:ph type="sldNum" idx="4294967295"/>
          </p:nvPr>
        </p:nvSpPr>
        <p:spPr>
          <a:xfrm>
            <a:off x="11612880" y="6592824"/>
            <a:ext cx="274320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900" b="0" i="0" u="none" strike="noStrike" cap="none">
                <a:solidFill>
                  <a:srgbClr val="334155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rPr>
            </a:fld>
            <a:endParaRPr sz="900" b="0" i="0" u="none" strike="noStrike" cap="none">
              <a:solidFill>
                <a:srgbClr val="334155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19"/>
          <p:cNvSpPr/>
          <p:nvPr/>
        </p:nvSpPr>
        <p:spPr>
          <a:xfrm>
            <a:off x="548640" y="384048"/>
            <a:ext cx="896112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2600"/>
              <a:buFont typeface="Play" panose="00000500000000000000"/>
              <a:buNone/>
            </a:pPr>
            <a:r>
              <a:rPr lang="en-US" sz="2600" b="1" i="0" u="none" strike="noStrike" cap="none">
                <a:solidFill>
                  <a:srgbClr val="0F172A"/>
                </a:solidFill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Governing Equations and PINN Formulation</a:t>
            </a:r>
            <a:endParaRPr sz="2600" b="0" i="0" u="none" strike="noStrike" cap="none">
              <a:solidFill>
                <a:schemeClr val="dk1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sp>
        <p:nvSpPr>
          <p:cNvPr id="136" name="Google Shape;136;p19"/>
          <p:cNvSpPr/>
          <p:nvPr/>
        </p:nvSpPr>
        <p:spPr>
          <a:xfrm>
            <a:off x="566928" y="822960"/>
            <a:ext cx="96012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50"/>
              <a:buFont typeface="Arial" panose="020B0604020202090204"/>
              <a:buNone/>
            </a:pPr>
            <a:r>
              <a:rPr lang="en-US" sz="1050" b="0" i="0" u="none" strike="noStrike" cap="none">
                <a:solidFill>
                  <a:srgbClr val="475569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rPr>
              <a:t>2D incompressible Navier-Stokes with stream-function parameterization</a:t>
            </a:r>
            <a:endParaRPr sz="1050" b="0" i="0" u="none" strike="noStrike" cap="none">
              <a:solidFill>
                <a:schemeClr val="dk1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cxnSp>
        <p:nvCxnSpPr>
          <p:cNvPr id="137" name="Google Shape;137;p19"/>
          <p:cNvCxnSpPr/>
          <p:nvPr/>
        </p:nvCxnSpPr>
        <p:spPr>
          <a:xfrm>
            <a:off x="548640" y="1078992"/>
            <a:ext cx="11064240" cy="0"/>
          </a:xfrm>
          <a:prstGeom prst="straightConnector1">
            <a:avLst/>
          </a:prstGeom>
          <a:noFill/>
          <a:ln w="12700" cap="flat" cmpd="sng">
            <a:solidFill>
              <a:srgbClr val="94A3B8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38" name="Google Shape;138;p19"/>
          <p:cNvSpPr/>
          <p:nvPr/>
        </p:nvSpPr>
        <p:spPr>
          <a:xfrm>
            <a:off x="640080" y="1325880"/>
            <a:ext cx="6400800" cy="4480560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 w="12700" cap="flat" cmpd="sng">
            <a:solidFill>
              <a:srgbClr val="CBD5E1"/>
            </a:solidFill>
            <a:prstDash val="solid"/>
            <a:round/>
            <a:headEnd type="none" w="sm" len="sm"/>
            <a:tailEnd type="none" w="sm" len="sm"/>
          </a:ln>
          <a:effectLst>
            <a:outerShdw blurRad="12700" dist="6350" dir="27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39" name="Google Shape;139;p19"/>
          <p:cNvSpPr/>
          <p:nvPr/>
        </p:nvSpPr>
        <p:spPr>
          <a:xfrm>
            <a:off x="804672" y="1435608"/>
            <a:ext cx="6071616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400"/>
              <a:buFont typeface="Arial" panose="020B0604020202090204"/>
              <a:buNone/>
            </a:pPr>
            <a:r>
              <a:rPr lang="en-US" sz="1400" b="1" i="0" u="none" strike="noStrike" cap="none">
                <a:solidFill>
                  <a:srgbClr val="0F172A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rPr>
              <a:t>Navier-Stokes Equations</a:t>
            </a:r>
            <a:endParaRPr sz="1400" b="0" i="0" u="none" strike="noStrike" cap="none">
              <a:solidFill>
                <a:schemeClr val="dk1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sp>
        <p:nvSpPr>
          <p:cNvPr id="140" name="Google Shape;140;p19"/>
          <p:cNvSpPr/>
          <p:nvPr/>
        </p:nvSpPr>
        <p:spPr>
          <a:xfrm>
            <a:off x="1051560" y="1965960"/>
            <a:ext cx="557784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2000"/>
              <a:buFont typeface="Courier New" panose="02070409020205090404"/>
              <a:buNone/>
            </a:pPr>
            <a:r>
              <a:rPr lang="en-US" sz="2000" b="0" i="0" u="none" strike="noStrike" cap="none">
                <a:solidFill>
                  <a:srgbClr val="111827"/>
                </a:solidFill>
                <a:latin typeface="Courier New" panose="02070409020205090404"/>
                <a:ea typeface="Courier New" panose="02070409020205090404"/>
                <a:cs typeface="Courier New" panose="02070409020205090404"/>
                <a:sym typeface="Courier New" panose="02070409020205090404"/>
              </a:rPr>
              <a:t>u_t + u u_x + v u_y = -p_x + (1/Re)(u_xx + u_yy)</a:t>
            </a:r>
            <a:endParaRPr sz="2000" b="0" i="0" u="none" strike="noStrike" cap="none">
              <a:solidFill>
                <a:schemeClr val="dk1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2000"/>
              <a:buFont typeface="Courier New" panose="02070409020205090404"/>
              <a:buNone/>
            </a:pPr>
            <a:r>
              <a:rPr lang="en-US" sz="2000" b="0" i="0" u="none" strike="noStrike" cap="none">
                <a:solidFill>
                  <a:srgbClr val="111827"/>
                </a:solidFill>
                <a:latin typeface="Courier New" panose="02070409020205090404"/>
                <a:ea typeface="Courier New" panose="02070409020205090404"/>
                <a:cs typeface="Courier New" panose="02070409020205090404"/>
                <a:sym typeface="Courier New" panose="02070409020205090404"/>
              </a:rPr>
              <a:t>v_t + u v_x + v v_y = -p_y + (1/Re)(v_xx + v_yy)</a:t>
            </a:r>
            <a:endParaRPr sz="2000" b="0" i="0" u="none" strike="noStrike" cap="none">
              <a:solidFill>
                <a:schemeClr val="dk1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2000"/>
              <a:buFont typeface="Courier New" panose="02070409020205090404"/>
              <a:buNone/>
            </a:pPr>
            <a:r>
              <a:rPr lang="en-US" sz="2000" b="0" i="0" u="none" strike="noStrike" cap="none">
                <a:solidFill>
                  <a:srgbClr val="111827"/>
                </a:solidFill>
                <a:latin typeface="Courier New" panose="02070409020205090404"/>
                <a:ea typeface="Courier New" panose="02070409020205090404"/>
                <a:cs typeface="Courier New" panose="02070409020205090404"/>
                <a:sym typeface="Courier New" panose="02070409020205090404"/>
              </a:rPr>
              <a:t>u_x + v_y = 0</a:t>
            </a:r>
            <a:endParaRPr sz="2000" b="0" i="0" u="none" strike="noStrike" cap="none">
              <a:solidFill>
                <a:schemeClr val="dk1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sp>
        <p:nvSpPr>
          <p:cNvPr id="141" name="Google Shape;141;p19"/>
          <p:cNvSpPr/>
          <p:nvPr/>
        </p:nvSpPr>
        <p:spPr>
          <a:xfrm>
            <a:off x="914400" y="3886200"/>
            <a:ext cx="580644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500"/>
              <a:buFont typeface="Arial" panose="020B0604020202090204"/>
              <a:buNone/>
            </a:pPr>
            <a:r>
              <a:rPr lang="en-US" sz="1500" b="0" i="1" u="none" strike="noStrike" cap="none">
                <a:solidFill>
                  <a:srgbClr val="475569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rPr>
              <a:t>The PINN minimizes PDE residuals together with boundary, initial, and outlet constraints using automatic differentiation.</a:t>
            </a:r>
            <a:endParaRPr sz="1500" b="0" i="0" u="none" strike="noStrike" cap="none">
              <a:solidFill>
                <a:schemeClr val="dk1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sp>
        <p:nvSpPr>
          <p:cNvPr id="142" name="Google Shape;142;p19"/>
          <p:cNvSpPr/>
          <p:nvPr/>
        </p:nvSpPr>
        <p:spPr>
          <a:xfrm>
            <a:off x="7315200" y="1325880"/>
            <a:ext cx="4251960" cy="4480560"/>
          </a:xfrm>
          <a:prstGeom prst="roundRect">
            <a:avLst>
              <a:gd name="adj" fmla="val 1720"/>
            </a:avLst>
          </a:prstGeom>
          <a:solidFill>
            <a:srgbClr val="FFFFFF"/>
          </a:solidFill>
          <a:ln w="12700" cap="flat" cmpd="sng">
            <a:solidFill>
              <a:srgbClr val="CBD5E1"/>
            </a:solidFill>
            <a:prstDash val="solid"/>
            <a:round/>
            <a:headEnd type="none" w="sm" len="sm"/>
            <a:tailEnd type="none" w="sm" len="sm"/>
          </a:ln>
          <a:effectLst>
            <a:outerShdw blurRad="12700" dist="6350" dir="27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3" name="Google Shape;143;p19"/>
          <p:cNvSpPr/>
          <p:nvPr/>
        </p:nvSpPr>
        <p:spPr>
          <a:xfrm>
            <a:off x="7479792" y="1435608"/>
            <a:ext cx="3922776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400"/>
              <a:buFont typeface="Arial" panose="020B0604020202090204"/>
              <a:buNone/>
            </a:pPr>
            <a:r>
              <a:rPr lang="en-US" sz="1400" b="1" i="0" u="none" strike="noStrike" cap="none">
                <a:solidFill>
                  <a:srgbClr val="0F172A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rPr>
              <a:t>Stream Function Form</a:t>
            </a:r>
            <a:endParaRPr sz="1400" b="0" i="0" u="none" strike="noStrike" cap="none">
              <a:solidFill>
                <a:schemeClr val="dk1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sp>
        <p:nvSpPr>
          <p:cNvPr id="144" name="Google Shape;144;p19"/>
          <p:cNvSpPr/>
          <p:nvPr/>
        </p:nvSpPr>
        <p:spPr>
          <a:xfrm>
            <a:off x="7726680" y="1874520"/>
            <a:ext cx="34290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800"/>
              <a:buFont typeface="Arial" panose="020B0604020202090204"/>
              <a:buNone/>
            </a:pPr>
            <a:r>
              <a:rPr lang="en-US" sz="1800" b="1" i="0" u="none" strike="noStrike" cap="none">
                <a:solidFill>
                  <a:srgbClr val="0F172A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rPr>
              <a:t>Represent the solution as</a:t>
            </a:r>
            <a:endParaRPr sz="1800" b="0" i="0" u="none" strike="noStrike" cap="none">
              <a:solidFill>
                <a:schemeClr val="dk1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800"/>
              <a:buFont typeface="Arial" panose="020B0604020202090204"/>
              <a:buNone/>
            </a:pPr>
            <a:r>
              <a:rPr lang="en-US" sz="1800" b="1" i="0" u="none" strike="noStrike" cap="none">
                <a:solidFill>
                  <a:srgbClr val="0F172A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rPr>
              <a:t>psi(x, y, t), p(x, y, t)</a:t>
            </a:r>
            <a:endParaRPr sz="1800" b="0" i="0" u="none" strike="noStrike" cap="none">
              <a:solidFill>
                <a:schemeClr val="dk1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sp>
        <p:nvSpPr>
          <p:cNvPr id="145" name="Google Shape;145;p19"/>
          <p:cNvSpPr/>
          <p:nvPr/>
        </p:nvSpPr>
        <p:spPr>
          <a:xfrm>
            <a:off x="7818120" y="2606040"/>
            <a:ext cx="3246120" cy="868680"/>
          </a:xfrm>
          <a:prstGeom prst="roundRect">
            <a:avLst>
              <a:gd name="adj" fmla="val 4211"/>
            </a:avLst>
          </a:prstGeom>
          <a:solidFill>
            <a:srgbClr val="EFF6FF"/>
          </a:solidFill>
          <a:ln w="12700" cap="flat" cmpd="sng">
            <a:solidFill>
              <a:srgbClr val="93C5F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6" name="Google Shape;146;p19"/>
          <p:cNvSpPr/>
          <p:nvPr/>
        </p:nvSpPr>
        <p:spPr>
          <a:xfrm>
            <a:off x="8001000" y="2816352"/>
            <a:ext cx="28346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SzPts val="2000"/>
              <a:buFont typeface="Courier New" panose="02070409020205090404"/>
              <a:buNone/>
            </a:pPr>
            <a:r>
              <a:rPr lang="en-US" sz="2000" b="1" i="0" u="none" strike="noStrike" cap="none">
                <a:solidFill>
                  <a:srgbClr val="1D4ED8"/>
                </a:solidFill>
                <a:latin typeface="Courier New" panose="02070409020205090404"/>
                <a:ea typeface="Courier New" panose="02070409020205090404"/>
                <a:cs typeface="Courier New" panose="02070409020205090404"/>
                <a:sym typeface="Courier New" panose="02070409020205090404"/>
              </a:rPr>
              <a:t>u = d psi / d y</a:t>
            </a:r>
            <a:endParaRPr sz="2000" b="0" i="0" u="none" strike="noStrike" cap="none">
              <a:solidFill>
                <a:schemeClr val="dk1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SzPts val="2000"/>
              <a:buFont typeface="Courier New" panose="02070409020205090404"/>
              <a:buNone/>
            </a:pPr>
            <a:r>
              <a:rPr lang="en-US" sz="2000" b="1" i="0" u="none" strike="noStrike" cap="none">
                <a:solidFill>
                  <a:srgbClr val="1D4ED8"/>
                </a:solidFill>
                <a:latin typeface="Courier New" panose="02070409020205090404"/>
                <a:ea typeface="Courier New" panose="02070409020205090404"/>
                <a:cs typeface="Courier New" panose="02070409020205090404"/>
                <a:sym typeface="Courier New" panose="02070409020205090404"/>
              </a:rPr>
              <a:t>v = - d psi / d x</a:t>
            </a:r>
            <a:endParaRPr sz="2000" b="0" i="0" u="none" strike="noStrike" cap="none">
              <a:solidFill>
                <a:schemeClr val="dk1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sp>
        <p:nvSpPr>
          <p:cNvPr id="147" name="Google Shape;147;p19"/>
          <p:cNvSpPr/>
          <p:nvPr/>
        </p:nvSpPr>
        <p:spPr>
          <a:xfrm>
            <a:off x="7635240" y="3840480"/>
            <a:ext cx="3611880" cy="1554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marR="0" lvl="0" indent="-17780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Arial" panose="020B0604020202090204"/>
              <a:buChar char="•"/>
            </a:pPr>
            <a:r>
              <a:rPr lang="en-US" sz="1500" b="0" i="0" u="none" strike="noStrike" cap="none">
                <a:solidFill>
                  <a:srgbClr val="1F2937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rPr>
              <a:t>Enforces incompressibility by construction.</a:t>
            </a:r>
            <a:endParaRPr sz="1500" b="0" i="0" u="none" strike="noStrike" cap="none">
              <a:solidFill>
                <a:schemeClr val="dk1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  <a:p>
            <a:pPr marL="177800" marR="0" lvl="0" indent="-17780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Arial" panose="020B0604020202090204"/>
              <a:buChar char="•"/>
            </a:pPr>
            <a:r>
              <a:rPr lang="en-US" sz="1500" b="0" i="0" u="none" strike="noStrike" cap="none">
                <a:solidFill>
                  <a:srgbClr val="1F2937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rPr>
              <a:t>Removes the need for an extra divergence penalty term.</a:t>
            </a:r>
            <a:endParaRPr sz="1500" b="0" i="0" u="none" strike="noStrike" cap="none">
              <a:solidFill>
                <a:schemeClr val="dk1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  <a:p>
            <a:pPr marL="177800" marR="0" lvl="0" indent="-17780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Arial" panose="020B0604020202090204"/>
              <a:buChar char="•"/>
            </a:pPr>
            <a:r>
              <a:rPr lang="en-US" sz="1500" b="0" i="0" u="none" strike="noStrike" cap="none">
                <a:solidFill>
                  <a:srgbClr val="1F2937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rPr>
              <a:t>Produces smooth derivatives compatible with PDE residual evaluation.</a:t>
            </a:r>
            <a:endParaRPr sz="1500" b="0" i="0" u="none" strike="noStrike" cap="none">
              <a:solidFill>
                <a:schemeClr val="dk1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sp>
        <p:nvSpPr>
          <p:cNvPr id="148" name="Google Shape;148;p19"/>
          <p:cNvSpPr txBox="1"/>
          <p:nvPr>
            <p:ph type="sldNum" idx="4294967295"/>
          </p:nvPr>
        </p:nvSpPr>
        <p:spPr>
          <a:xfrm>
            <a:off x="11612880" y="6592824"/>
            <a:ext cx="274320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900" b="0" i="0" u="none" strike="noStrike" cap="none">
                <a:solidFill>
                  <a:srgbClr val="334155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rPr>
            </a:fld>
            <a:endParaRPr sz="900" b="0" i="0" u="none" strike="noStrike" cap="none">
              <a:solidFill>
                <a:srgbClr val="334155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0"/>
          <p:cNvSpPr/>
          <p:nvPr/>
        </p:nvSpPr>
        <p:spPr>
          <a:xfrm>
            <a:off x="548640" y="384048"/>
            <a:ext cx="896112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2600"/>
              <a:buFont typeface="Play" panose="00000500000000000000"/>
              <a:buNone/>
            </a:pPr>
            <a:r>
              <a:rPr lang="en-US" sz="2600" b="1" i="0" u="none" strike="noStrike" cap="none">
                <a:solidFill>
                  <a:srgbClr val="0F172A"/>
                </a:solidFill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Network Architecture, Training, and Loss Design</a:t>
            </a:r>
            <a:endParaRPr sz="2600" b="0" i="0" u="none" strike="noStrike" cap="none">
              <a:solidFill>
                <a:schemeClr val="dk1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cxnSp>
        <p:nvCxnSpPr>
          <p:cNvPr id="155" name="Google Shape;155;p20"/>
          <p:cNvCxnSpPr/>
          <p:nvPr/>
        </p:nvCxnSpPr>
        <p:spPr>
          <a:xfrm>
            <a:off x="548640" y="914400"/>
            <a:ext cx="11064240" cy="0"/>
          </a:xfrm>
          <a:prstGeom prst="straightConnector1">
            <a:avLst/>
          </a:prstGeom>
          <a:noFill/>
          <a:ln w="12700" cap="flat" cmpd="sng">
            <a:solidFill>
              <a:srgbClr val="94A3B8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56" name="Google Shape;156;p20"/>
          <p:cNvSpPr/>
          <p:nvPr/>
        </p:nvSpPr>
        <p:spPr>
          <a:xfrm>
            <a:off x="640080" y="1325880"/>
            <a:ext cx="3794760" cy="4526280"/>
          </a:xfrm>
          <a:prstGeom prst="roundRect">
            <a:avLst>
              <a:gd name="adj" fmla="val 1928"/>
            </a:avLst>
          </a:prstGeom>
          <a:solidFill>
            <a:srgbClr val="FFFFFF"/>
          </a:solidFill>
          <a:ln w="12700" cap="flat" cmpd="sng">
            <a:solidFill>
              <a:srgbClr val="CBD5E1"/>
            </a:solidFill>
            <a:prstDash val="solid"/>
            <a:round/>
            <a:headEnd type="none" w="sm" len="sm"/>
            <a:tailEnd type="none" w="sm" len="sm"/>
          </a:ln>
          <a:effectLst>
            <a:outerShdw blurRad="12700" dist="6350" dir="27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57" name="Google Shape;157;p20"/>
          <p:cNvSpPr/>
          <p:nvPr/>
        </p:nvSpPr>
        <p:spPr>
          <a:xfrm>
            <a:off x="804672" y="1435608"/>
            <a:ext cx="3465576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400"/>
              <a:buFont typeface="Arial" panose="020B0604020202090204"/>
              <a:buNone/>
            </a:pPr>
            <a:r>
              <a:rPr lang="en-US" sz="1400" b="1" i="0" u="none" strike="noStrike" cap="none">
                <a:solidFill>
                  <a:srgbClr val="0F172A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rPr>
              <a:t>Model Architecture</a:t>
            </a:r>
            <a:endParaRPr sz="1400" b="0" i="0" u="none" strike="noStrike" cap="none">
              <a:solidFill>
                <a:schemeClr val="dk1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sp>
        <p:nvSpPr>
          <p:cNvPr id="158" name="Google Shape;158;p20"/>
          <p:cNvSpPr/>
          <p:nvPr/>
        </p:nvSpPr>
        <p:spPr>
          <a:xfrm>
            <a:off x="914400" y="1783080"/>
            <a:ext cx="324612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800"/>
              <a:buFont typeface="Courier New" panose="02070409020205090404"/>
              <a:buNone/>
            </a:pPr>
            <a:r>
              <a:rPr lang="en-US" sz="1800" b="1" i="0" u="none" strike="noStrike" cap="none">
                <a:solidFill>
                  <a:srgbClr val="0F172A"/>
                </a:solidFill>
                <a:latin typeface="Courier New" panose="02070409020205090404"/>
                <a:ea typeface="Courier New" panose="02070409020205090404"/>
                <a:cs typeface="Courier New" panose="02070409020205090404"/>
                <a:sym typeface="Courier New" panose="02070409020205090404"/>
              </a:rPr>
              <a:t>(x, y, t)  --&gt;  MLP  --&gt;  (psi, p)</a:t>
            </a:r>
            <a:endParaRPr sz="1800" b="0" i="0" u="none" strike="noStrike" cap="none">
              <a:solidFill>
                <a:schemeClr val="dk1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sp>
        <p:nvSpPr>
          <p:cNvPr id="159" name="Google Shape;159;p20"/>
          <p:cNvSpPr/>
          <p:nvPr/>
        </p:nvSpPr>
        <p:spPr>
          <a:xfrm>
            <a:off x="914400" y="2331720"/>
            <a:ext cx="3246120" cy="4572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 cap="flat" cmpd="sng">
            <a:solidFill>
              <a:srgbClr val="CBD5E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60" name="Google Shape;160;p20"/>
          <p:cNvSpPr/>
          <p:nvPr/>
        </p:nvSpPr>
        <p:spPr>
          <a:xfrm>
            <a:off x="1097280" y="2441448"/>
            <a:ext cx="914400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300"/>
              <a:buFont typeface="Arial" panose="020B0604020202090204"/>
              <a:buNone/>
            </a:pPr>
            <a:r>
              <a:rPr lang="en-US" sz="1300" b="1" i="0" u="none" strike="noStrike" cap="none">
                <a:solidFill>
                  <a:srgbClr val="64748B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rPr>
              <a:t>Width</a:t>
            </a:r>
            <a:endParaRPr sz="1300" b="0" i="0" u="none" strike="noStrike" cap="none">
              <a:solidFill>
                <a:schemeClr val="dk1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sp>
        <p:nvSpPr>
          <p:cNvPr id="161" name="Google Shape;161;p20"/>
          <p:cNvSpPr/>
          <p:nvPr/>
        </p:nvSpPr>
        <p:spPr>
          <a:xfrm>
            <a:off x="2057400" y="2441448"/>
            <a:ext cx="1828800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350"/>
              <a:buFont typeface="Arial" panose="020B0604020202090204"/>
              <a:buNone/>
            </a:pPr>
            <a:r>
              <a:rPr lang="en-US" sz="1350" b="0" i="0" u="none" strike="noStrike" cap="none">
                <a:solidFill>
                  <a:srgbClr val="0F172A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rPr>
              <a:t>128 neurons/layer</a:t>
            </a:r>
            <a:endParaRPr sz="1350" b="0" i="0" u="none" strike="noStrike" cap="none">
              <a:solidFill>
                <a:schemeClr val="dk1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sp>
        <p:nvSpPr>
          <p:cNvPr id="162" name="Google Shape;162;p20"/>
          <p:cNvSpPr/>
          <p:nvPr/>
        </p:nvSpPr>
        <p:spPr>
          <a:xfrm>
            <a:off x="914400" y="2971800"/>
            <a:ext cx="3246120" cy="457200"/>
          </a:xfrm>
          <a:prstGeom prst="roundRect">
            <a:avLst>
              <a:gd name="adj" fmla="val 6000"/>
            </a:avLst>
          </a:prstGeom>
          <a:solidFill>
            <a:srgbClr val="EEF2FF"/>
          </a:solidFill>
          <a:ln w="12700" cap="flat" cmpd="sng">
            <a:solidFill>
              <a:srgbClr val="CBD5E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63" name="Google Shape;163;p20"/>
          <p:cNvSpPr/>
          <p:nvPr/>
        </p:nvSpPr>
        <p:spPr>
          <a:xfrm>
            <a:off x="1097280" y="3081528"/>
            <a:ext cx="914400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300"/>
              <a:buFont typeface="Arial" panose="020B0604020202090204"/>
              <a:buNone/>
            </a:pPr>
            <a:r>
              <a:rPr lang="en-US" sz="1300" b="1" i="0" u="none" strike="noStrike" cap="none">
                <a:solidFill>
                  <a:srgbClr val="64748B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rPr>
              <a:t>Depth</a:t>
            </a:r>
            <a:endParaRPr sz="1300" b="0" i="0" u="none" strike="noStrike" cap="none">
              <a:solidFill>
                <a:schemeClr val="dk1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sp>
        <p:nvSpPr>
          <p:cNvPr id="164" name="Google Shape;164;p20"/>
          <p:cNvSpPr/>
          <p:nvPr/>
        </p:nvSpPr>
        <p:spPr>
          <a:xfrm>
            <a:off x="2057400" y="3081528"/>
            <a:ext cx="1828800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350"/>
              <a:buFont typeface="Arial" panose="020B0604020202090204"/>
              <a:buNone/>
            </a:pPr>
            <a:r>
              <a:rPr lang="en-US" sz="1350" b="0" i="0" u="none" strike="noStrike" cap="none">
                <a:solidFill>
                  <a:srgbClr val="0F172A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rPr>
              <a:t>6 hidden layers</a:t>
            </a:r>
            <a:endParaRPr sz="1350" b="0" i="0" u="none" strike="noStrike" cap="none">
              <a:solidFill>
                <a:schemeClr val="dk1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sp>
        <p:nvSpPr>
          <p:cNvPr id="165" name="Google Shape;165;p20"/>
          <p:cNvSpPr/>
          <p:nvPr/>
        </p:nvSpPr>
        <p:spPr>
          <a:xfrm>
            <a:off x="914400" y="3611880"/>
            <a:ext cx="3246120" cy="4572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 cap="flat" cmpd="sng">
            <a:solidFill>
              <a:srgbClr val="CBD5E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66" name="Google Shape;166;p20"/>
          <p:cNvSpPr/>
          <p:nvPr/>
        </p:nvSpPr>
        <p:spPr>
          <a:xfrm>
            <a:off x="1097280" y="3721608"/>
            <a:ext cx="914400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300"/>
              <a:buFont typeface="Arial" panose="020B0604020202090204"/>
              <a:buNone/>
            </a:pPr>
            <a:r>
              <a:rPr lang="en-US" sz="1300" b="1" i="0" u="none" strike="noStrike" cap="none">
                <a:solidFill>
                  <a:srgbClr val="64748B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rPr>
              <a:t>Activation</a:t>
            </a:r>
            <a:endParaRPr sz="1300" b="0" i="0" u="none" strike="noStrike" cap="none">
              <a:solidFill>
                <a:schemeClr val="dk1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sp>
        <p:nvSpPr>
          <p:cNvPr id="167" name="Google Shape;167;p20"/>
          <p:cNvSpPr/>
          <p:nvPr/>
        </p:nvSpPr>
        <p:spPr>
          <a:xfrm>
            <a:off x="2057400" y="3721608"/>
            <a:ext cx="1828800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350"/>
              <a:buFont typeface="Arial" panose="020B0604020202090204"/>
              <a:buNone/>
            </a:pPr>
            <a:r>
              <a:rPr lang="en-US" sz="1350" b="0" i="0" u="none" strike="noStrike" cap="none">
                <a:solidFill>
                  <a:srgbClr val="0F172A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rPr>
              <a:t>tanh</a:t>
            </a:r>
            <a:endParaRPr sz="1350" b="0" i="0" u="none" strike="noStrike" cap="none">
              <a:solidFill>
                <a:schemeClr val="dk1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sp>
        <p:nvSpPr>
          <p:cNvPr id="168" name="Google Shape;168;p20"/>
          <p:cNvSpPr/>
          <p:nvPr/>
        </p:nvSpPr>
        <p:spPr>
          <a:xfrm>
            <a:off x="914400" y="4251960"/>
            <a:ext cx="3246120" cy="457200"/>
          </a:xfrm>
          <a:prstGeom prst="roundRect">
            <a:avLst>
              <a:gd name="adj" fmla="val 6000"/>
            </a:avLst>
          </a:prstGeom>
          <a:solidFill>
            <a:srgbClr val="EEF2FF"/>
          </a:solidFill>
          <a:ln w="12700" cap="flat" cmpd="sng">
            <a:solidFill>
              <a:srgbClr val="CBD5E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69" name="Google Shape;169;p20"/>
          <p:cNvSpPr/>
          <p:nvPr/>
        </p:nvSpPr>
        <p:spPr>
          <a:xfrm>
            <a:off x="1097280" y="4361688"/>
            <a:ext cx="914400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300"/>
              <a:buFont typeface="Arial" panose="020B0604020202090204"/>
              <a:buNone/>
            </a:pPr>
            <a:r>
              <a:rPr lang="en-US" sz="1300" b="1" i="0" u="none" strike="noStrike" cap="none">
                <a:solidFill>
                  <a:srgbClr val="64748B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rPr>
              <a:t>Optimizer</a:t>
            </a:r>
            <a:endParaRPr sz="1300" b="0" i="0" u="none" strike="noStrike" cap="none">
              <a:solidFill>
                <a:schemeClr val="dk1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sp>
        <p:nvSpPr>
          <p:cNvPr id="170" name="Google Shape;170;p20"/>
          <p:cNvSpPr/>
          <p:nvPr/>
        </p:nvSpPr>
        <p:spPr>
          <a:xfrm>
            <a:off x="2057400" y="4361688"/>
            <a:ext cx="1828800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350"/>
              <a:buFont typeface="Arial" panose="020B0604020202090204"/>
              <a:buNone/>
            </a:pPr>
            <a:r>
              <a:rPr lang="en-US" sz="1350" b="0" i="0" u="none" strike="noStrike" cap="none">
                <a:solidFill>
                  <a:srgbClr val="0F172A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rPr>
              <a:t>Adam + L-BFGS</a:t>
            </a:r>
            <a:endParaRPr sz="1350" b="0" i="0" u="none" strike="noStrike" cap="none">
              <a:solidFill>
                <a:schemeClr val="dk1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sp>
        <p:nvSpPr>
          <p:cNvPr id="171" name="Google Shape;171;p20"/>
          <p:cNvSpPr/>
          <p:nvPr/>
        </p:nvSpPr>
        <p:spPr>
          <a:xfrm>
            <a:off x="4663440" y="1325880"/>
            <a:ext cx="3246120" cy="452628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 cap="flat" cmpd="sng">
            <a:solidFill>
              <a:srgbClr val="CBD5E1"/>
            </a:solidFill>
            <a:prstDash val="solid"/>
            <a:round/>
            <a:headEnd type="none" w="sm" len="sm"/>
            <a:tailEnd type="none" w="sm" len="sm"/>
          </a:ln>
          <a:effectLst>
            <a:outerShdw blurRad="12700" dist="6350" dir="27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72" name="Google Shape;172;p20"/>
          <p:cNvSpPr/>
          <p:nvPr/>
        </p:nvSpPr>
        <p:spPr>
          <a:xfrm>
            <a:off x="4828032" y="1435608"/>
            <a:ext cx="2916936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400"/>
              <a:buFont typeface="Arial" panose="020B0604020202090204"/>
              <a:buNone/>
            </a:pPr>
            <a:r>
              <a:rPr lang="en-US" sz="1400" b="1" i="0" u="none" strike="noStrike" cap="none">
                <a:solidFill>
                  <a:srgbClr val="0F172A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rPr>
              <a:t>Loss Function</a:t>
            </a:r>
            <a:endParaRPr sz="1400" b="0" i="0" u="none" strike="noStrike" cap="none">
              <a:solidFill>
                <a:schemeClr val="dk1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sp>
        <p:nvSpPr>
          <p:cNvPr id="173" name="Google Shape;173;p20"/>
          <p:cNvSpPr/>
          <p:nvPr/>
        </p:nvSpPr>
        <p:spPr>
          <a:xfrm>
            <a:off x="4983480" y="1783080"/>
            <a:ext cx="26060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SzPts val="1800"/>
              <a:buFont typeface="Courier New" panose="02070409020205090404"/>
              <a:buNone/>
            </a:pPr>
            <a:r>
              <a:rPr lang="en-US" sz="1800" b="1" i="0" u="none" strike="noStrike" cap="none">
                <a:solidFill>
                  <a:srgbClr val="1D4ED8"/>
                </a:solidFill>
                <a:latin typeface="Courier New" panose="02070409020205090404"/>
                <a:ea typeface="Courier New" panose="02070409020205090404"/>
                <a:cs typeface="Courier New" panose="02070409020205090404"/>
                <a:sym typeface="Courier New" panose="02070409020205090404"/>
              </a:rPr>
              <a:t>L = L_pde + 10 L_bc + 10 L_ic + L_out</a:t>
            </a:r>
            <a:endParaRPr sz="1800" b="0" i="0" u="none" strike="noStrike" cap="none">
              <a:solidFill>
                <a:schemeClr val="dk1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sp>
        <p:nvSpPr>
          <p:cNvPr id="174" name="Google Shape;174;p20"/>
          <p:cNvSpPr/>
          <p:nvPr/>
        </p:nvSpPr>
        <p:spPr>
          <a:xfrm>
            <a:off x="4937760" y="2331720"/>
            <a:ext cx="2697480" cy="2377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marR="0" lvl="0" indent="-17780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50"/>
              <a:buFont typeface="Arial" panose="020B0604020202090204"/>
              <a:buChar char="•"/>
            </a:pPr>
            <a:r>
              <a:rPr lang="en-US" sz="1450" b="0" i="0" u="none" strike="noStrike" cap="none">
                <a:solidFill>
                  <a:srgbClr val="1F2937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rPr>
              <a:t>PDE loss: momentum residuals from Navier-Stokes.</a:t>
            </a:r>
            <a:endParaRPr sz="1450" b="0" i="0" u="none" strike="noStrike" cap="none">
              <a:solidFill>
                <a:schemeClr val="dk1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  <a:p>
            <a:pPr marL="177800" marR="0" lvl="0" indent="-17780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50"/>
              <a:buFont typeface="Arial" panose="020B0604020202090204"/>
              <a:buChar char="•"/>
            </a:pPr>
            <a:r>
              <a:rPr lang="en-US" sz="1450" b="0" i="0" u="none" strike="noStrike" cap="none">
                <a:solidFill>
                  <a:srgbClr val="1F2937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rPr>
              <a:t>Boundary loss: inlet, wall, and far-field conditions.</a:t>
            </a:r>
            <a:endParaRPr sz="1450" b="0" i="0" u="none" strike="noStrike" cap="none">
              <a:solidFill>
                <a:schemeClr val="dk1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  <a:p>
            <a:pPr marL="177800" marR="0" lvl="0" indent="-17780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50"/>
              <a:buFont typeface="Arial" panose="020B0604020202090204"/>
              <a:buChar char="•"/>
            </a:pPr>
            <a:r>
              <a:rPr lang="en-US" sz="1450" b="0" i="0" u="none" strike="noStrike" cap="none">
                <a:solidFill>
                  <a:srgbClr val="1F2937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rPr>
              <a:t>Initial loss: uniform initialization in the domain.</a:t>
            </a:r>
            <a:endParaRPr sz="1450" b="0" i="0" u="none" strike="noStrike" cap="none">
              <a:solidFill>
                <a:schemeClr val="dk1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  <a:p>
            <a:pPr marL="177800" marR="0" lvl="0" indent="-17780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50"/>
              <a:buFont typeface="Arial" panose="020B0604020202090204"/>
              <a:buChar char="•"/>
            </a:pPr>
            <a:r>
              <a:rPr lang="en-US" sz="1450" b="0" i="0" u="none" strike="noStrike" cap="none">
                <a:solidFill>
                  <a:srgbClr val="1F2937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rPr>
              <a:t>Outlet loss: pressure / gradient regularization downstream.</a:t>
            </a:r>
            <a:endParaRPr sz="1450" b="0" i="0" u="none" strike="noStrike" cap="none">
              <a:solidFill>
                <a:schemeClr val="dk1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sp>
        <p:nvSpPr>
          <p:cNvPr id="175" name="Google Shape;175;p20"/>
          <p:cNvSpPr/>
          <p:nvPr/>
        </p:nvSpPr>
        <p:spPr>
          <a:xfrm>
            <a:off x="8138160" y="1325880"/>
            <a:ext cx="3429000" cy="452628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12700" cap="flat" cmpd="sng">
            <a:solidFill>
              <a:srgbClr val="CBD5E1"/>
            </a:solidFill>
            <a:prstDash val="solid"/>
            <a:round/>
            <a:headEnd type="none" w="sm" len="sm"/>
            <a:tailEnd type="none" w="sm" len="sm"/>
          </a:ln>
          <a:effectLst>
            <a:outerShdw blurRad="12700" dist="6350" dir="27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76" name="Google Shape;176;p20"/>
          <p:cNvSpPr/>
          <p:nvPr/>
        </p:nvSpPr>
        <p:spPr>
          <a:xfrm>
            <a:off x="8302752" y="1435608"/>
            <a:ext cx="3099816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400"/>
              <a:buFont typeface="Arial" panose="020B0604020202090204"/>
              <a:buNone/>
            </a:pPr>
            <a:r>
              <a:rPr lang="en-US" sz="1400" b="1" i="0" u="none" strike="noStrike" cap="none">
                <a:solidFill>
                  <a:srgbClr val="0F172A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rPr>
              <a:t>Sampling Strategy</a:t>
            </a:r>
            <a:endParaRPr sz="1400" b="0" i="0" u="none" strike="noStrike" cap="none">
              <a:solidFill>
                <a:schemeClr val="dk1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sp>
        <p:nvSpPr>
          <p:cNvPr id="177" name="Google Shape;177;p20"/>
          <p:cNvSpPr/>
          <p:nvPr/>
        </p:nvSpPr>
        <p:spPr>
          <a:xfrm>
            <a:off x="8458200" y="1783080"/>
            <a:ext cx="27432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500"/>
              <a:buFont typeface="Arial" panose="020B0604020202090204"/>
              <a:buNone/>
            </a:pPr>
            <a:r>
              <a:rPr lang="en-US" sz="1500" b="1" i="0" u="none" strike="noStrike" cap="none">
                <a:solidFill>
                  <a:srgbClr val="0F766E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rPr>
              <a:t>Physics-aware collocation</a:t>
            </a:r>
            <a:endParaRPr sz="1500" b="0" i="0" u="none" strike="noStrike" cap="none">
              <a:solidFill>
                <a:schemeClr val="dk1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sp>
        <p:nvSpPr>
          <p:cNvPr id="178" name="Google Shape;178;p20"/>
          <p:cNvSpPr/>
          <p:nvPr/>
        </p:nvSpPr>
        <p:spPr>
          <a:xfrm>
            <a:off x="8458200" y="2240280"/>
            <a:ext cx="1417320" cy="292608"/>
          </a:xfrm>
          <a:prstGeom prst="rect">
            <a:avLst/>
          </a:prstGeom>
          <a:solidFill>
            <a:srgbClr val="93C5FD"/>
          </a:solidFill>
          <a:ln w="12700" cap="flat" cmpd="sng">
            <a:solidFill>
              <a:srgbClr val="93C5F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79" name="Google Shape;179;p20"/>
          <p:cNvSpPr/>
          <p:nvPr/>
        </p:nvSpPr>
        <p:spPr>
          <a:xfrm>
            <a:off x="9875520" y="2240280"/>
            <a:ext cx="868680" cy="292608"/>
          </a:xfrm>
          <a:prstGeom prst="rect">
            <a:avLst/>
          </a:prstGeom>
          <a:solidFill>
            <a:srgbClr val="2563EB"/>
          </a:solidFill>
          <a:ln w="12700" cap="flat" cmpd="sng">
            <a:solidFill>
              <a:srgbClr val="2563E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80" name="Google Shape;180;p20"/>
          <p:cNvSpPr/>
          <p:nvPr/>
        </p:nvSpPr>
        <p:spPr>
          <a:xfrm>
            <a:off x="10744200" y="2240280"/>
            <a:ext cx="502920" cy="292608"/>
          </a:xfrm>
          <a:prstGeom prst="rect">
            <a:avLst/>
          </a:prstGeom>
          <a:solidFill>
            <a:srgbClr val="1E3A8A"/>
          </a:solidFill>
          <a:ln w="12700" cap="flat" cmpd="sng">
            <a:solidFill>
              <a:srgbClr val="1E3A8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81" name="Google Shape;181;p20"/>
          <p:cNvSpPr/>
          <p:nvPr/>
        </p:nvSpPr>
        <p:spPr>
          <a:xfrm>
            <a:off x="8641080" y="2578608"/>
            <a:ext cx="1051560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Arial" panose="020B0604020202090204"/>
              <a:buNone/>
            </a:pPr>
            <a:r>
              <a:rPr lang="en-US" sz="1000" b="0" i="0" u="none" strike="noStrike" cap="none">
                <a:solidFill>
                  <a:srgbClr val="64748B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rPr>
              <a:t>50%</a:t>
            </a:r>
            <a:endParaRPr sz="1000" b="0" i="0" u="none" strike="noStrike" cap="none">
              <a:solidFill>
                <a:schemeClr val="dk1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sp>
        <p:nvSpPr>
          <p:cNvPr id="182" name="Google Shape;182;p20"/>
          <p:cNvSpPr/>
          <p:nvPr/>
        </p:nvSpPr>
        <p:spPr>
          <a:xfrm>
            <a:off x="9994392" y="2578608"/>
            <a:ext cx="594360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Arial" panose="020B0604020202090204"/>
              <a:buNone/>
            </a:pPr>
            <a:r>
              <a:rPr lang="en-US" sz="1000" b="0" i="0" u="none" strike="noStrike" cap="none">
                <a:solidFill>
                  <a:srgbClr val="64748B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rPr>
              <a:t>30%</a:t>
            </a:r>
            <a:endParaRPr sz="1000" b="0" i="0" u="none" strike="noStrike" cap="none">
              <a:solidFill>
                <a:schemeClr val="dk1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sp>
        <p:nvSpPr>
          <p:cNvPr id="183" name="Google Shape;183;p20"/>
          <p:cNvSpPr/>
          <p:nvPr/>
        </p:nvSpPr>
        <p:spPr>
          <a:xfrm>
            <a:off x="10808208" y="2578608"/>
            <a:ext cx="320040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Arial" panose="020B0604020202090204"/>
              <a:buNone/>
            </a:pPr>
            <a:r>
              <a:rPr lang="en-US" sz="1000" b="0" i="0" u="none" strike="noStrike" cap="none">
                <a:solidFill>
                  <a:srgbClr val="64748B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rPr>
              <a:t>20%</a:t>
            </a:r>
            <a:endParaRPr sz="1000" b="0" i="0" u="none" strike="noStrike" cap="none">
              <a:solidFill>
                <a:schemeClr val="dk1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sp>
        <p:nvSpPr>
          <p:cNvPr id="184" name="Google Shape;184;p20"/>
          <p:cNvSpPr/>
          <p:nvPr/>
        </p:nvSpPr>
        <p:spPr>
          <a:xfrm>
            <a:off x="8412480" y="2971800"/>
            <a:ext cx="27432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marR="0" lvl="0" indent="-17780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Arial" panose="020B0604020202090204"/>
              <a:buChar char="•"/>
            </a:pPr>
            <a:r>
              <a:rPr lang="en-US" sz="1400" b="0" i="0" u="none" strike="noStrike" cap="none">
                <a:solidFill>
                  <a:srgbClr val="1F2937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rPr>
              <a:t>Refine points near the cylinder to capture boundary-layer behavior.</a:t>
            </a:r>
            <a:endParaRPr sz="1400" b="0" i="0" u="none" strike="noStrike" cap="none">
              <a:solidFill>
                <a:schemeClr val="dk1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  <a:p>
            <a:pPr marL="177800" marR="0" lvl="0" indent="-17780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Arial" panose="020B0604020202090204"/>
              <a:buChar char="•"/>
            </a:pPr>
            <a:r>
              <a:rPr lang="en-US" sz="1400" b="0" i="0" u="none" strike="noStrike" cap="none">
                <a:solidFill>
                  <a:srgbClr val="1F2937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rPr>
              <a:t>Bias sampling in the wake to resolve separation and shedding.</a:t>
            </a:r>
            <a:endParaRPr sz="1400" b="0" i="0" u="none" strike="noStrike" cap="none">
              <a:solidFill>
                <a:schemeClr val="dk1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  <a:p>
            <a:pPr marL="177800" marR="0" lvl="0" indent="-17780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Arial" panose="020B0604020202090204"/>
              <a:buChar char="•"/>
            </a:pPr>
            <a:r>
              <a:rPr lang="en-US" sz="1400" b="0" i="0" u="none" strike="noStrike" cap="none">
                <a:solidFill>
                  <a:srgbClr val="1F2937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rPr>
              <a:t>Use smoother activation and derivatives for stable AD-based training.</a:t>
            </a:r>
            <a:endParaRPr sz="1400" b="0" i="0" u="none" strike="noStrike" cap="none">
              <a:solidFill>
                <a:schemeClr val="dk1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sp>
        <p:nvSpPr>
          <p:cNvPr id="185" name="Google Shape;185;p20"/>
          <p:cNvSpPr txBox="1"/>
          <p:nvPr>
            <p:ph type="sldNum" idx="4294967295"/>
          </p:nvPr>
        </p:nvSpPr>
        <p:spPr>
          <a:xfrm>
            <a:off x="11612880" y="6592824"/>
            <a:ext cx="274320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900" b="0" i="0" u="none" strike="noStrike" cap="none">
                <a:solidFill>
                  <a:srgbClr val="334155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rPr>
            </a:fld>
            <a:endParaRPr sz="900" b="0" i="0" u="none" strike="noStrike" cap="none">
              <a:solidFill>
                <a:srgbClr val="334155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1"/>
          <p:cNvSpPr/>
          <p:nvPr/>
        </p:nvSpPr>
        <p:spPr>
          <a:xfrm>
            <a:off x="548640" y="384048"/>
            <a:ext cx="896112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2600"/>
              <a:buFont typeface="Play" panose="00000500000000000000"/>
              <a:buNone/>
            </a:pPr>
            <a:r>
              <a:rPr lang="en-US" sz="2600" b="1" i="0" u="none" strike="noStrike" cap="none">
                <a:solidFill>
                  <a:srgbClr val="0F172A"/>
                </a:solidFill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Reynolds Continuation Strategy</a:t>
            </a:r>
            <a:endParaRPr sz="2600" b="0" i="0" u="none" strike="noStrike" cap="none">
              <a:solidFill>
                <a:schemeClr val="dk1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sp>
        <p:nvSpPr>
          <p:cNvPr id="192" name="Google Shape;192;p21"/>
          <p:cNvSpPr/>
          <p:nvPr/>
        </p:nvSpPr>
        <p:spPr>
          <a:xfrm>
            <a:off x="566928" y="822960"/>
            <a:ext cx="96012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50"/>
              <a:buFont typeface="Arial" panose="020B0604020202090204"/>
              <a:buNone/>
            </a:pPr>
            <a:r>
              <a:rPr lang="en-US" sz="1050" b="0" i="0" u="none" strike="noStrike" cap="none">
                <a:solidFill>
                  <a:srgbClr val="475569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rPr>
              <a:t>Warm-starting across Reynolds numbers to improve optimization stability</a:t>
            </a:r>
            <a:endParaRPr sz="1050" b="0" i="0" u="none" strike="noStrike" cap="none">
              <a:solidFill>
                <a:schemeClr val="dk1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cxnSp>
        <p:nvCxnSpPr>
          <p:cNvPr id="193" name="Google Shape;193;p21"/>
          <p:cNvCxnSpPr/>
          <p:nvPr/>
        </p:nvCxnSpPr>
        <p:spPr>
          <a:xfrm>
            <a:off x="548640" y="1078992"/>
            <a:ext cx="11064240" cy="0"/>
          </a:xfrm>
          <a:prstGeom prst="straightConnector1">
            <a:avLst/>
          </a:prstGeom>
          <a:noFill/>
          <a:ln w="12700" cap="flat" cmpd="sng">
            <a:solidFill>
              <a:srgbClr val="94A3B8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94" name="Google Shape;194;p21"/>
          <p:cNvSpPr/>
          <p:nvPr/>
        </p:nvSpPr>
        <p:spPr>
          <a:xfrm>
            <a:off x="731520" y="1417320"/>
            <a:ext cx="1078992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 cap="flat" cmpd="sng">
            <a:solidFill>
              <a:srgbClr val="CBD5E1"/>
            </a:solidFill>
            <a:prstDash val="solid"/>
            <a:round/>
            <a:headEnd type="none" w="sm" len="sm"/>
            <a:tailEnd type="none" w="sm" len="sm"/>
          </a:ln>
          <a:effectLst>
            <a:outerShdw blurRad="12700" dist="6350" dir="27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95" name="Google Shape;195;p21"/>
          <p:cNvSpPr/>
          <p:nvPr/>
        </p:nvSpPr>
        <p:spPr>
          <a:xfrm>
            <a:off x="896112" y="1527048"/>
            <a:ext cx="10460736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400"/>
              <a:buFont typeface="Arial" panose="020B0604020202090204"/>
              <a:buNone/>
            </a:pPr>
            <a:r>
              <a:rPr lang="en-US" sz="1400" b="1" i="0" u="none" strike="noStrike" cap="none">
                <a:solidFill>
                  <a:srgbClr val="0F172A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rPr>
              <a:t>Continuation Workflow</a:t>
            </a:r>
            <a:endParaRPr sz="1400" b="0" i="0" u="none" strike="noStrike" cap="none">
              <a:solidFill>
                <a:schemeClr val="dk1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sp>
        <p:nvSpPr>
          <p:cNvPr id="196" name="Google Shape;196;p21"/>
          <p:cNvSpPr/>
          <p:nvPr/>
        </p:nvSpPr>
        <p:spPr>
          <a:xfrm>
            <a:off x="1097280" y="2331720"/>
            <a:ext cx="1965960" cy="1234440"/>
          </a:xfrm>
          <a:prstGeom prst="roundRect">
            <a:avLst>
              <a:gd name="adj" fmla="val 3704"/>
            </a:avLst>
          </a:prstGeom>
          <a:solidFill>
            <a:srgbClr val="EFF6FF"/>
          </a:solidFill>
          <a:ln w="12700" cap="flat" cmpd="sng">
            <a:solidFill>
              <a:srgbClr val="60A5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97" name="Google Shape;197;p21"/>
          <p:cNvSpPr/>
          <p:nvPr/>
        </p:nvSpPr>
        <p:spPr>
          <a:xfrm>
            <a:off x="1188720" y="2560320"/>
            <a:ext cx="178308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00"/>
              <a:buFont typeface="Arial" panose="020B0604020202090204"/>
              <a:buNone/>
            </a:pPr>
            <a:r>
              <a:rPr lang="en-US" sz="1900" b="1" i="0" u="none" strike="noStrike" cap="none">
                <a:solidFill>
                  <a:srgbClr val="0F172A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rPr>
              <a:t>Re = 5</a:t>
            </a:r>
            <a:endParaRPr sz="1900" b="0" i="0" u="none" strike="noStrike" cap="none">
              <a:solidFill>
                <a:schemeClr val="dk1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sp>
        <p:nvSpPr>
          <p:cNvPr id="198" name="Google Shape;198;p21"/>
          <p:cNvSpPr/>
          <p:nvPr/>
        </p:nvSpPr>
        <p:spPr>
          <a:xfrm>
            <a:off x="1234440" y="2852928"/>
            <a:ext cx="1691640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150"/>
              <a:buFont typeface="Arial" panose="020B0604020202090204"/>
              <a:buNone/>
            </a:pPr>
            <a:r>
              <a:rPr lang="en-US" sz="1150" b="0" i="0" u="none" strike="noStrike" cap="none">
                <a:solidFill>
                  <a:srgbClr val="475569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rPr>
              <a:t>Initialize low-Re steady solution</a:t>
            </a:r>
            <a:endParaRPr sz="1150" b="0" i="0" u="none" strike="noStrike" cap="none">
              <a:solidFill>
                <a:schemeClr val="dk1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sp>
        <p:nvSpPr>
          <p:cNvPr id="199" name="Google Shape;199;p21"/>
          <p:cNvSpPr/>
          <p:nvPr/>
        </p:nvSpPr>
        <p:spPr>
          <a:xfrm>
            <a:off x="3136392" y="2724912"/>
            <a:ext cx="329184" cy="384048"/>
          </a:xfrm>
          <a:prstGeom prst="chevron">
            <a:avLst>
              <a:gd name="adj" fmla="val 50000"/>
            </a:avLst>
          </a:prstGeom>
          <a:solidFill>
            <a:srgbClr val="64748B"/>
          </a:solidFill>
          <a:ln w="12700" cap="flat" cmpd="sng">
            <a:solidFill>
              <a:srgbClr val="64748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0" name="Google Shape;200;p21"/>
          <p:cNvSpPr/>
          <p:nvPr/>
        </p:nvSpPr>
        <p:spPr>
          <a:xfrm>
            <a:off x="3703320" y="2331720"/>
            <a:ext cx="1965960" cy="1234440"/>
          </a:xfrm>
          <a:prstGeom prst="roundRect">
            <a:avLst>
              <a:gd name="adj" fmla="val 3704"/>
            </a:avLst>
          </a:prstGeom>
          <a:solidFill>
            <a:srgbClr val="DBEAFE"/>
          </a:solidFill>
          <a:ln w="12700" cap="flat" cmpd="sng">
            <a:solidFill>
              <a:srgbClr val="3B82F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1" name="Google Shape;201;p21"/>
          <p:cNvSpPr/>
          <p:nvPr/>
        </p:nvSpPr>
        <p:spPr>
          <a:xfrm>
            <a:off x="3794760" y="2560320"/>
            <a:ext cx="178308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00"/>
              <a:buFont typeface="Arial" panose="020B0604020202090204"/>
              <a:buNone/>
            </a:pPr>
            <a:r>
              <a:rPr lang="en-US" sz="1900" b="1" i="0" u="none" strike="noStrike" cap="none">
                <a:solidFill>
                  <a:srgbClr val="0F172A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rPr>
              <a:t>Re = </a:t>
            </a:r>
            <a:r>
              <a:rPr lang="en-US" sz="1900" b="1">
                <a:solidFill>
                  <a:srgbClr val="0F172A"/>
                </a:solidFill>
              </a:rPr>
              <a:t>40</a:t>
            </a:r>
            <a:endParaRPr sz="1900" b="0" i="0" u="none" strike="noStrike" cap="none">
              <a:solidFill>
                <a:schemeClr val="dk1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sp>
        <p:nvSpPr>
          <p:cNvPr id="202" name="Google Shape;202;p21"/>
          <p:cNvSpPr/>
          <p:nvPr/>
        </p:nvSpPr>
        <p:spPr>
          <a:xfrm>
            <a:off x="3840480" y="2852928"/>
            <a:ext cx="1691640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150"/>
              <a:buFont typeface="Arial" panose="020B0604020202090204"/>
              <a:buNone/>
            </a:pPr>
            <a:r>
              <a:rPr lang="en-US" sz="1150" b="0" i="0" u="none" strike="noStrike" cap="none">
                <a:solidFill>
                  <a:srgbClr val="475569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rPr>
              <a:t>Transfer weights and continue training</a:t>
            </a:r>
            <a:endParaRPr sz="1150" b="0" i="0" u="none" strike="noStrike" cap="none">
              <a:solidFill>
                <a:schemeClr val="dk1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sp>
        <p:nvSpPr>
          <p:cNvPr id="203" name="Google Shape;203;p21"/>
          <p:cNvSpPr/>
          <p:nvPr/>
        </p:nvSpPr>
        <p:spPr>
          <a:xfrm>
            <a:off x="5742432" y="2724912"/>
            <a:ext cx="329184" cy="384048"/>
          </a:xfrm>
          <a:prstGeom prst="chevron">
            <a:avLst>
              <a:gd name="adj" fmla="val 50000"/>
            </a:avLst>
          </a:prstGeom>
          <a:solidFill>
            <a:srgbClr val="64748B"/>
          </a:solidFill>
          <a:ln w="12700" cap="flat" cmpd="sng">
            <a:solidFill>
              <a:srgbClr val="64748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4" name="Google Shape;204;p21"/>
          <p:cNvSpPr/>
          <p:nvPr/>
        </p:nvSpPr>
        <p:spPr>
          <a:xfrm>
            <a:off x="6309360" y="2331720"/>
            <a:ext cx="1965960" cy="1234440"/>
          </a:xfrm>
          <a:prstGeom prst="roundRect">
            <a:avLst>
              <a:gd name="adj" fmla="val 3704"/>
            </a:avLst>
          </a:prstGeom>
          <a:solidFill>
            <a:srgbClr val="FEF2F2"/>
          </a:solidFill>
          <a:ln w="12700" cap="flat" cmpd="sng">
            <a:solidFill>
              <a:srgbClr val="F8717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5" name="Google Shape;205;p21"/>
          <p:cNvSpPr/>
          <p:nvPr/>
        </p:nvSpPr>
        <p:spPr>
          <a:xfrm>
            <a:off x="6400800" y="2560320"/>
            <a:ext cx="178308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00"/>
              <a:buFont typeface="Arial" panose="020B0604020202090204"/>
              <a:buNone/>
            </a:pPr>
            <a:r>
              <a:rPr lang="en-US" sz="1900" b="1" i="0" u="none" strike="noStrike" cap="none">
                <a:solidFill>
                  <a:srgbClr val="0F172A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rPr>
              <a:t>Re = 40-60</a:t>
            </a:r>
            <a:endParaRPr sz="1900" b="0" i="0" u="none" strike="noStrike" cap="none">
              <a:solidFill>
                <a:schemeClr val="dk1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sp>
        <p:nvSpPr>
          <p:cNvPr id="206" name="Google Shape;206;p21"/>
          <p:cNvSpPr/>
          <p:nvPr/>
        </p:nvSpPr>
        <p:spPr>
          <a:xfrm>
            <a:off x="6446520" y="2852928"/>
            <a:ext cx="1691640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150"/>
              <a:buFont typeface="Arial" panose="020B0604020202090204"/>
              <a:buNone/>
            </a:pPr>
            <a:r>
              <a:rPr lang="en-US" sz="1150" b="0" i="0" u="none" strike="noStrike" cap="none">
                <a:solidFill>
                  <a:srgbClr val="475569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rPr>
              <a:t>Resolve transition region carefully</a:t>
            </a:r>
            <a:endParaRPr sz="1150" b="0" i="0" u="none" strike="noStrike" cap="none">
              <a:solidFill>
                <a:schemeClr val="dk1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sp>
        <p:nvSpPr>
          <p:cNvPr id="207" name="Google Shape;207;p21"/>
          <p:cNvSpPr/>
          <p:nvPr/>
        </p:nvSpPr>
        <p:spPr>
          <a:xfrm>
            <a:off x="8348472" y="2724912"/>
            <a:ext cx="329184" cy="384048"/>
          </a:xfrm>
          <a:prstGeom prst="chevron">
            <a:avLst>
              <a:gd name="adj" fmla="val 50000"/>
            </a:avLst>
          </a:prstGeom>
          <a:solidFill>
            <a:srgbClr val="64748B"/>
          </a:solidFill>
          <a:ln w="12700" cap="flat" cmpd="sng">
            <a:solidFill>
              <a:srgbClr val="64748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8" name="Google Shape;208;p21"/>
          <p:cNvSpPr/>
          <p:nvPr/>
        </p:nvSpPr>
        <p:spPr>
          <a:xfrm>
            <a:off x="8915400" y="2331720"/>
            <a:ext cx="1965960" cy="1234440"/>
          </a:xfrm>
          <a:prstGeom prst="roundRect">
            <a:avLst>
              <a:gd name="adj" fmla="val 3704"/>
            </a:avLst>
          </a:prstGeom>
          <a:solidFill>
            <a:srgbClr val="E0F2FE"/>
          </a:solidFill>
          <a:ln w="12700" cap="flat" cmpd="sng">
            <a:solidFill>
              <a:srgbClr val="38BDF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9" name="Google Shape;209;p21"/>
          <p:cNvSpPr/>
          <p:nvPr/>
        </p:nvSpPr>
        <p:spPr>
          <a:xfrm>
            <a:off x="9006840" y="2560320"/>
            <a:ext cx="178308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00"/>
              <a:buFont typeface="Arial" panose="020B0604020202090204"/>
              <a:buNone/>
            </a:pPr>
            <a:r>
              <a:rPr lang="en-US" sz="1900" b="1" i="0" u="none" strike="noStrike" cap="none">
                <a:solidFill>
                  <a:srgbClr val="0F172A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rPr>
              <a:t>Re = </a:t>
            </a:r>
            <a:r>
              <a:rPr lang="en-US" sz="1900" b="1">
                <a:solidFill>
                  <a:srgbClr val="0F172A"/>
                </a:solidFill>
              </a:rPr>
              <a:t>61</a:t>
            </a:r>
            <a:r>
              <a:rPr lang="en-US" sz="1900" b="1" i="0" u="none" strike="noStrike" cap="none">
                <a:solidFill>
                  <a:srgbClr val="0F172A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rPr>
              <a:t>-100</a:t>
            </a:r>
            <a:endParaRPr sz="1900" b="0" i="0" u="none" strike="noStrike" cap="none">
              <a:solidFill>
                <a:schemeClr val="dk1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sp>
        <p:nvSpPr>
          <p:cNvPr id="210" name="Google Shape;210;p21"/>
          <p:cNvSpPr/>
          <p:nvPr/>
        </p:nvSpPr>
        <p:spPr>
          <a:xfrm>
            <a:off x="9052560" y="2852928"/>
            <a:ext cx="1691640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150"/>
              <a:buFont typeface="Arial" panose="020B0604020202090204"/>
              <a:buNone/>
            </a:pPr>
            <a:r>
              <a:rPr lang="en-US" sz="1150" b="0" i="0" u="none" strike="noStrike" cap="none">
                <a:solidFill>
                  <a:srgbClr val="475569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rPr>
              <a:t>Track increasingly unsteady wake dynamics</a:t>
            </a:r>
            <a:endParaRPr sz="1150" b="0" i="0" u="none" strike="noStrike" cap="none">
              <a:solidFill>
                <a:schemeClr val="dk1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sp>
        <p:nvSpPr>
          <p:cNvPr id="211" name="Google Shape;211;p21"/>
          <p:cNvSpPr/>
          <p:nvPr/>
        </p:nvSpPr>
        <p:spPr>
          <a:xfrm>
            <a:off x="1371600" y="4434840"/>
            <a:ext cx="2697480" cy="530352"/>
          </a:xfrm>
          <a:prstGeom prst="roundRect">
            <a:avLst>
              <a:gd name="adj" fmla="val 5172"/>
            </a:avLst>
          </a:prstGeom>
          <a:solidFill>
            <a:srgbClr val="F0FDF4"/>
          </a:solidFill>
          <a:ln w="12700" cap="flat" cmpd="sng">
            <a:solidFill>
              <a:srgbClr val="86EFA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2" name="Google Shape;212;p21"/>
          <p:cNvSpPr/>
          <p:nvPr/>
        </p:nvSpPr>
        <p:spPr>
          <a:xfrm>
            <a:off x="1508760" y="4599432"/>
            <a:ext cx="2423160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5803D"/>
              </a:buClr>
              <a:buSzPts val="1250"/>
              <a:buFont typeface="Arial" panose="020B0604020202090204"/>
              <a:buNone/>
            </a:pPr>
            <a:r>
              <a:rPr lang="en-US" sz="1250" b="1" i="0" u="none" strike="noStrike" cap="none">
                <a:solidFill>
                  <a:srgbClr val="15803D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rPr>
              <a:t>More stable optimization</a:t>
            </a:r>
            <a:endParaRPr sz="1250" b="0" i="0" u="none" strike="noStrike" cap="none">
              <a:solidFill>
                <a:schemeClr val="dk1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sp>
        <p:nvSpPr>
          <p:cNvPr id="213" name="Google Shape;213;p21"/>
          <p:cNvSpPr/>
          <p:nvPr/>
        </p:nvSpPr>
        <p:spPr>
          <a:xfrm>
            <a:off x="4617720" y="4434840"/>
            <a:ext cx="2697480" cy="530352"/>
          </a:xfrm>
          <a:prstGeom prst="roundRect">
            <a:avLst>
              <a:gd name="adj" fmla="val 5172"/>
            </a:avLst>
          </a:prstGeom>
          <a:solidFill>
            <a:srgbClr val="F0FDF4"/>
          </a:solidFill>
          <a:ln w="12700" cap="flat" cmpd="sng">
            <a:solidFill>
              <a:srgbClr val="86EFA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4" name="Google Shape;214;p21"/>
          <p:cNvSpPr/>
          <p:nvPr/>
        </p:nvSpPr>
        <p:spPr>
          <a:xfrm>
            <a:off x="4754880" y="4599432"/>
            <a:ext cx="2423160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5803D"/>
              </a:buClr>
              <a:buSzPts val="1250"/>
              <a:buFont typeface="Arial" panose="020B0604020202090204"/>
              <a:buNone/>
            </a:pPr>
            <a:r>
              <a:rPr lang="en-US" sz="1250" b="1" i="0" u="none" strike="noStrike" cap="none">
                <a:solidFill>
                  <a:srgbClr val="15803D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rPr>
              <a:t>Fewer iterations at each new Re</a:t>
            </a:r>
            <a:endParaRPr sz="1250" b="0" i="0" u="none" strike="noStrike" cap="none">
              <a:solidFill>
                <a:schemeClr val="dk1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sp>
        <p:nvSpPr>
          <p:cNvPr id="215" name="Google Shape;215;p21"/>
          <p:cNvSpPr/>
          <p:nvPr/>
        </p:nvSpPr>
        <p:spPr>
          <a:xfrm>
            <a:off x="7863840" y="4434840"/>
            <a:ext cx="2697480" cy="530352"/>
          </a:xfrm>
          <a:prstGeom prst="roundRect">
            <a:avLst>
              <a:gd name="adj" fmla="val 5172"/>
            </a:avLst>
          </a:prstGeom>
          <a:solidFill>
            <a:srgbClr val="F0FDF4"/>
          </a:solidFill>
          <a:ln w="12700" cap="flat" cmpd="sng">
            <a:solidFill>
              <a:srgbClr val="86EFA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6" name="Google Shape;216;p21"/>
          <p:cNvSpPr/>
          <p:nvPr/>
        </p:nvSpPr>
        <p:spPr>
          <a:xfrm>
            <a:off x="8001000" y="4599432"/>
            <a:ext cx="2423160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5803D"/>
              </a:buClr>
              <a:buSzPts val="1250"/>
              <a:buFont typeface="Arial" panose="020B0604020202090204"/>
              <a:buNone/>
            </a:pPr>
            <a:r>
              <a:rPr lang="en-US" sz="1250" b="1" i="0" u="none" strike="noStrike" cap="none">
                <a:solidFill>
                  <a:srgbClr val="15803D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rPr>
              <a:t>Better continuity across the parameter sweep</a:t>
            </a:r>
            <a:endParaRPr sz="1250" b="0" i="0" u="none" strike="noStrike" cap="none">
              <a:solidFill>
                <a:schemeClr val="dk1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sp>
        <p:nvSpPr>
          <p:cNvPr id="217" name="Google Shape;217;p21"/>
          <p:cNvSpPr txBox="1"/>
          <p:nvPr>
            <p:ph type="sldNum" idx="4294967295"/>
          </p:nvPr>
        </p:nvSpPr>
        <p:spPr>
          <a:xfrm>
            <a:off x="11612880" y="6592824"/>
            <a:ext cx="274320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900" b="0" i="0" u="none" strike="noStrike" cap="none">
                <a:solidFill>
                  <a:srgbClr val="334155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rPr>
            </a:fld>
            <a:endParaRPr sz="900" b="0" i="0" u="none" strike="noStrike" cap="none">
              <a:solidFill>
                <a:srgbClr val="334155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2"/>
          <p:cNvSpPr/>
          <p:nvPr/>
        </p:nvSpPr>
        <p:spPr>
          <a:xfrm>
            <a:off x="548640" y="384048"/>
            <a:ext cx="896112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2600"/>
              <a:buFont typeface="Play" panose="00000500000000000000"/>
              <a:buNone/>
            </a:pPr>
            <a:r>
              <a:rPr lang="en-US" sz="2600" b="1" i="0" u="none" strike="noStrike" cap="none">
                <a:solidFill>
                  <a:srgbClr val="0F172A"/>
                </a:solidFill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Results Placeholder: Flow Reconstruction</a:t>
            </a:r>
            <a:endParaRPr sz="2600" b="0" i="0" u="none" strike="noStrike" cap="none">
              <a:solidFill>
                <a:schemeClr val="dk1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sp>
        <p:nvSpPr>
          <p:cNvPr id="224" name="Google Shape;224;p22"/>
          <p:cNvSpPr/>
          <p:nvPr/>
        </p:nvSpPr>
        <p:spPr>
          <a:xfrm>
            <a:off x="566928" y="822960"/>
            <a:ext cx="96012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50"/>
              <a:buFont typeface="Arial" panose="020B0604020202090204"/>
              <a:buNone/>
            </a:pPr>
            <a:r>
              <a:rPr lang="en-US" sz="1050" b="0" i="0" u="none" strike="noStrike" cap="none">
                <a:solidFill>
                  <a:srgbClr val="475569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rPr>
              <a:t>Replace placeholder panels with your exported figures</a:t>
            </a:r>
            <a:endParaRPr sz="1050" b="0" i="0" u="none" strike="noStrike" cap="none">
              <a:solidFill>
                <a:schemeClr val="dk1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cxnSp>
        <p:nvCxnSpPr>
          <p:cNvPr id="225" name="Google Shape;225;p22"/>
          <p:cNvCxnSpPr/>
          <p:nvPr/>
        </p:nvCxnSpPr>
        <p:spPr>
          <a:xfrm>
            <a:off x="548640" y="1078992"/>
            <a:ext cx="11064240" cy="0"/>
          </a:xfrm>
          <a:prstGeom prst="straightConnector1">
            <a:avLst/>
          </a:prstGeom>
          <a:noFill/>
          <a:ln w="12700" cap="flat" cmpd="sng">
            <a:solidFill>
              <a:srgbClr val="94A3B8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26" name="Google Shape;226;p22"/>
          <p:cNvSpPr/>
          <p:nvPr/>
        </p:nvSpPr>
        <p:spPr>
          <a:xfrm>
            <a:off x="640080" y="1325880"/>
            <a:ext cx="3703320" cy="4617720"/>
          </a:xfrm>
          <a:prstGeom prst="roundRect">
            <a:avLst>
              <a:gd name="adj" fmla="val 1975"/>
            </a:avLst>
          </a:prstGeom>
          <a:solidFill>
            <a:srgbClr val="FFFFFF"/>
          </a:solidFill>
          <a:ln w="12700" cap="flat" cmpd="sng">
            <a:solidFill>
              <a:srgbClr val="CBD5E1"/>
            </a:solidFill>
            <a:prstDash val="solid"/>
            <a:round/>
            <a:headEnd type="none" w="sm" len="sm"/>
            <a:tailEnd type="none" w="sm" len="sm"/>
          </a:ln>
          <a:effectLst>
            <a:outerShdw blurRad="12700" dist="6350" dir="27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27" name="Google Shape;227;p22"/>
          <p:cNvSpPr/>
          <p:nvPr/>
        </p:nvSpPr>
        <p:spPr>
          <a:xfrm>
            <a:off x="804672" y="1435608"/>
            <a:ext cx="3374136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400"/>
              <a:buFont typeface="Arial" panose="020B0604020202090204"/>
              <a:buNone/>
            </a:pPr>
            <a:r>
              <a:rPr lang="en-US" sz="1400" b="1" i="0" u="none" strike="noStrike" cap="none">
                <a:solidFill>
                  <a:srgbClr val="0F172A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rPr>
              <a:t>Key observations</a:t>
            </a:r>
            <a:endParaRPr sz="1400" b="0" i="0" u="none" strike="noStrike" cap="none">
              <a:solidFill>
                <a:schemeClr val="dk1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sp>
        <p:nvSpPr>
          <p:cNvPr id="228" name="Google Shape;228;p22"/>
          <p:cNvSpPr/>
          <p:nvPr/>
        </p:nvSpPr>
        <p:spPr>
          <a:xfrm>
            <a:off x="868680" y="1828800"/>
            <a:ext cx="3154680" cy="2103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marR="0" lvl="0" indent="-17780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50"/>
              <a:buFont typeface="Arial" panose="020B0604020202090204"/>
              <a:buChar char="•"/>
            </a:pPr>
            <a:r>
              <a:rPr lang="en-US" sz="1550" b="0" i="0" u="none" strike="noStrike" cap="none">
                <a:solidFill>
                  <a:srgbClr val="1F2937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rPr>
              <a:t>Velocity magnitude should show stagnation at the front face and acceleration near the cylinder sides.</a:t>
            </a:r>
            <a:endParaRPr sz="1550" b="0" i="0" u="none" strike="noStrike" cap="none">
              <a:solidFill>
                <a:schemeClr val="dk1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  <a:p>
            <a:pPr marL="177800" marR="0" lvl="0" indent="-17780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50"/>
              <a:buFont typeface="Arial" panose="020B0604020202090204"/>
              <a:buChar char="•"/>
            </a:pPr>
            <a:r>
              <a:rPr lang="en-US" sz="1550" b="0" i="0" u="none" strike="noStrike" cap="none">
                <a:solidFill>
                  <a:srgbClr val="1F2937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rPr>
              <a:t>Downstream recovery and recirculation bubble length can be compared across Reynolds numbers.</a:t>
            </a:r>
            <a:endParaRPr sz="1550" b="0" i="0" u="none" strike="noStrike" cap="none">
              <a:solidFill>
                <a:schemeClr val="dk1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  <a:p>
            <a:pPr marL="177800" marR="0" lvl="0" indent="-17780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50"/>
              <a:buFont typeface="Arial" panose="020B0604020202090204"/>
              <a:buChar char="•"/>
            </a:pPr>
            <a:r>
              <a:rPr lang="en-US" sz="1550" b="0" i="0" u="none" strike="noStrike" cap="none">
                <a:solidFill>
                  <a:srgbClr val="1F2937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rPr>
              <a:t>Use the same colorbar range when comparing multiple Re values.</a:t>
            </a:r>
            <a:endParaRPr sz="1550" b="0" i="0" u="none" strike="noStrike" cap="none">
              <a:solidFill>
                <a:schemeClr val="dk1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sp>
        <p:nvSpPr>
          <p:cNvPr id="229" name="Google Shape;229;p22"/>
          <p:cNvSpPr/>
          <p:nvPr/>
        </p:nvSpPr>
        <p:spPr>
          <a:xfrm>
            <a:off x="1041680" y="4387885"/>
            <a:ext cx="2194500" cy="16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SzPts val="1350"/>
              <a:buFont typeface="Arial" panose="020B0604020202090204"/>
              <a:buNone/>
            </a:pPr>
            <a:r>
              <a:rPr lang="en-US" sz="1350" b="1" i="0" u="none" strike="noStrike" cap="none">
                <a:solidFill>
                  <a:srgbClr val="1D4ED8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rPr>
              <a:t>Recommended figures</a:t>
            </a:r>
            <a:endParaRPr sz="1350" b="0" i="0" u="none" strike="noStrike" cap="none">
              <a:solidFill>
                <a:schemeClr val="dk1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sp>
        <p:nvSpPr>
          <p:cNvPr id="230" name="Google Shape;230;p22"/>
          <p:cNvSpPr/>
          <p:nvPr/>
        </p:nvSpPr>
        <p:spPr>
          <a:xfrm>
            <a:off x="982975" y="4826560"/>
            <a:ext cx="2926200" cy="71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350"/>
              <a:buFont typeface="Arial" panose="020B0604020202090204"/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rPr>
              <a:t>• Velocity magnitude contour at representative times</a:t>
            </a:r>
            <a:endParaRPr sz="1350" b="0" i="0" u="none" strike="noStrike" cap="none">
              <a:solidFill>
                <a:schemeClr val="dk1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350"/>
              <a:buFont typeface="Arial" panose="020B0604020202090204"/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rPr>
              <a:t>• Streamline plot showing wake topology</a:t>
            </a:r>
            <a:endParaRPr sz="1350" b="0" i="0" u="none" strike="noStrike" cap="none">
              <a:solidFill>
                <a:schemeClr val="dk1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350"/>
              <a:buFont typeface="Arial" panose="020B0604020202090204"/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rPr>
              <a:t>• Optional comparison: Re = 40, 60, 100</a:t>
            </a:r>
            <a:endParaRPr sz="1350" b="0" i="0" u="none" strike="noStrike" cap="none">
              <a:solidFill>
                <a:schemeClr val="dk1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sp>
        <p:nvSpPr>
          <p:cNvPr id="231" name="Google Shape;231;p22"/>
          <p:cNvSpPr txBox="1"/>
          <p:nvPr>
            <p:ph type="sldNum" idx="4294967295"/>
          </p:nvPr>
        </p:nvSpPr>
        <p:spPr>
          <a:xfrm>
            <a:off x="11612880" y="6592824"/>
            <a:ext cx="274320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900" b="0" i="0" u="none" strike="noStrike" cap="none">
                <a:solidFill>
                  <a:srgbClr val="334155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rPr>
            </a:fld>
            <a:endParaRPr sz="900" b="0" i="0" u="none" strike="noStrike" cap="none">
              <a:solidFill>
                <a:srgbClr val="334155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pic>
        <p:nvPicPr>
          <p:cNvPr id="232" name="Google Shape;232;p22" title="截屏2026-03-13 21.22.48.png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9288645" y="1927849"/>
            <a:ext cx="2173807" cy="1458261"/>
          </a:xfrm>
          <a:prstGeom prst="rect">
            <a:avLst/>
          </a:prstGeom>
          <a:noFill/>
          <a:ln>
            <a:noFill/>
          </a:ln>
        </p:spPr>
      </p:pic>
      <p:pic>
        <p:nvPicPr>
          <p:cNvPr id="233" name="Google Shape;233;p22" title="截屏2026-03-13 21.22.41.png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9288645" y="3487320"/>
            <a:ext cx="2173808" cy="1435614"/>
          </a:xfrm>
          <a:prstGeom prst="rect">
            <a:avLst/>
          </a:prstGeom>
          <a:noFill/>
          <a:ln>
            <a:noFill/>
          </a:ln>
        </p:spPr>
      </p:pic>
      <p:pic>
        <p:nvPicPr>
          <p:cNvPr id="234" name="Google Shape;234;p22" title="截屏2026-03-13 21.22.34.png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5240300" y="1371625"/>
            <a:ext cx="6300899" cy="4104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9" name="Google Shape;239;p23" title="截屏2026-03-13 21.22.41.png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152400" y="152400"/>
            <a:ext cx="11887201" cy="61095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4" name="Google Shape;244;p24" title="截屏2026-03-13 21.22.48.png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152400" y="152400"/>
            <a:ext cx="11759524" cy="61392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25" title="截屏2026-03-13 21.27.20.png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152400" y="152400"/>
            <a:ext cx="11887198" cy="57860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4" name="Google Shape;254;p26" title="截屏2026-03-13 21.27.27.png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152400" y="152400"/>
            <a:ext cx="11887199" cy="605299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9" name="Google Shape;259;p27" title="截屏2026-03-13 21.27.33.png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152400" y="152400"/>
            <a:ext cx="11887200" cy="60756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28"/>
          <p:cNvSpPr/>
          <p:nvPr/>
        </p:nvSpPr>
        <p:spPr>
          <a:xfrm>
            <a:off x="548640" y="384048"/>
            <a:ext cx="896112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2600"/>
              <a:buFont typeface="Play" panose="00000500000000000000"/>
              <a:buNone/>
            </a:pPr>
            <a:r>
              <a:rPr lang="en-US" sz="2600" b="1" i="0" u="none" strike="noStrike" cap="none">
                <a:solidFill>
                  <a:srgbClr val="0F172A"/>
                </a:solidFill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Results Placeholder: Vorticity and Probe Signals</a:t>
            </a:r>
            <a:endParaRPr sz="2600" b="0" i="0" u="none" strike="noStrike" cap="none">
              <a:solidFill>
                <a:schemeClr val="dk1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sp>
        <p:nvSpPr>
          <p:cNvPr id="266" name="Google Shape;266;p28"/>
          <p:cNvSpPr/>
          <p:nvPr/>
        </p:nvSpPr>
        <p:spPr>
          <a:xfrm>
            <a:off x="566928" y="822960"/>
            <a:ext cx="96012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50"/>
              <a:buFont typeface="Arial" panose="020B0604020202090204"/>
              <a:buNone/>
            </a:pPr>
            <a:r>
              <a:rPr lang="en-US" sz="1050" b="0" i="0" u="none" strike="noStrike" cap="none">
                <a:solidFill>
                  <a:srgbClr val="475569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rPr>
              <a:t>Use these for wake structure and time-series evidence of transition</a:t>
            </a:r>
            <a:endParaRPr sz="1050" b="0" i="0" u="none" strike="noStrike" cap="none">
              <a:solidFill>
                <a:schemeClr val="dk1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cxnSp>
        <p:nvCxnSpPr>
          <p:cNvPr id="267" name="Google Shape;267;p28"/>
          <p:cNvCxnSpPr/>
          <p:nvPr/>
        </p:nvCxnSpPr>
        <p:spPr>
          <a:xfrm>
            <a:off x="548640" y="1078992"/>
            <a:ext cx="11064240" cy="0"/>
          </a:xfrm>
          <a:prstGeom prst="straightConnector1">
            <a:avLst/>
          </a:prstGeom>
          <a:noFill/>
          <a:ln w="12700" cap="flat" cmpd="sng">
            <a:solidFill>
              <a:srgbClr val="94A3B8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68" name="Google Shape;268;p28"/>
          <p:cNvSpPr/>
          <p:nvPr/>
        </p:nvSpPr>
        <p:spPr>
          <a:xfrm>
            <a:off x="1005840" y="5394960"/>
            <a:ext cx="4892040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B91C1C"/>
              </a:buClr>
              <a:buSzPts val="1250"/>
              <a:buFont typeface="Arial" panose="020B0604020202090204"/>
              <a:buNone/>
            </a:pPr>
            <a:endParaRPr sz="1250" b="0" i="0" u="none" strike="noStrike" cap="none">
              <a:solidFill>
                <a:schemeClr val="dk1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sp>
        <p:nvSpPr>
          <p:cNvPr id="269" name="Google Shape;269;p28"/>
          <p:cNvSpPr txBox="1"/>
          <p:nvPr>
            <p:ph type="sldNum" idx="4294967295"/>
          </p:nvPr>
        </p:nvSpPr>
        <p:spPr>
          <a:xfrm>
            <a:off x="11612880" y="6592824"/>
            <a:ext cx="274320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900" b="0" i="0" u="none" strike="noStrike" cap="none">
                <a:solidFill>
                  <a:srgbClr val="334155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rPr>
            </a:fld>
            <a:endParaRPr sz="900" b="0" i="0" u="none" strike="noStrike" cap="none">
              <a:solidFill>
                <a:srgbClr val="334155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pic>
        <p:nvPicPr>
          <p:cNvPr id="270" name="Google Shape;270;p28" title="截屏2026-03-13 21.30.33.png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426738" y="1133875"/>
            <a:ext cx="11460474" cy="546749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5" name="Google Shape;275;p29" title="截屏2026-03-13 21.34.24.png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304800" y="325400"/>
            <a:ext cx="11887200" cy="59242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64592"/>
          </a:xfrm>
          <a:prstGeom prst="rect">
            <a:avLst/>
          </a:prstGeom>
          <a:solidFill>
            <a:srgbClr val="7A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972800" cy="4572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800" b="1">
                <a:solidFill>
                  <a:srgbClr val="212121"/>
                </a:solidFill>
              </a:rPr>
              <a:t>Run A — Sanity Configuration and Commands</a:t>
            </a:r>
            <a:endParaRPr sz="2800" b="1">
              <a:solidFill>
                <a:srgbClr val="212121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0972800" cy="2743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1200">
                <a:solidFill>
                  <a:srgbClr val="4A4A4A"/>
                </a:solidFill>
              </a:rPr>
              <a:t>Re=40 single-snapshot PINN, baseline domain and point counts</a:t>
            </a:r>
            <a:endParaRPr sz="1200">
              <a:solidFill>
                <a:srgbClr val="4A4A4A"/>
              </a:solidFill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48640" y="1188720"/>
            <a:ext cx="11064240" cy="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48640" y="1325880"/>
            <a:ext cx="6675120" cy="4937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6309360" cy="2743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1300" b="1">
                <a:solidFill>
                  <a:srgbClr val="212121"/>
                </a:solidFill>
              </a:rPr>
              <a:t>SLURM allocation + training command</a:t>
            </a:r>
            <a:endParaRPr sz="1300" b="1">
              <a:solidFill>
                <a:srgbClr val="21212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31520" y="1828800"/>
            <a:ext cx="6309360" cy="4297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1E2761"/>
                </a:solidFill>
                <a:latin typeface="Consolas"/>
              </a:rPr>
              <a:t># 1) interactive GPU node</a:t>
            </a:r>
            <a:endParaRPr sz="1100" b="0">
              <a:solidFill>
                <a:srgbClr val="1E2761"/>
              </a:solidFill>
              <a:latin typeface="Consolas"/>
            </a:endParaRPr>
          </a:p>
          <a:p>
            <a:pPr algn="l"/>
            <a:r>
              <a:rPr sz="1100" b="0">
                <a:solidFill>
                  <a:srgbClr val="1E2761"/>
                </a:solidFill>
                <a:latin typeface="Consolas"/>
              </a:rPr>
              <a:t>salloc -p gpu --gres=gpu:1 \</a:t>
            </a:r>
            <a:endParaRPr sz="1100" b="0">
              <a:solidFill>
                <a:srgbClr val="1E2761"/>
              </a:solidFill>
              <a:latin typeface="Consolas"/>
            </a:endParaRPr>
          </a:p>
          <a:p>
            <a:pPr algn="l"/>
            <a:r>
              <a:rPr sz="1100" b="0">
                <a:solidFill>
                  <a:srgbClr val="1E2761"/>
                </a:solidFill>
                <a:latin typeface="Consolas"/>
              </a:rPr>
              <a:t>       --mem=128G -t 12:00:00</a:t>
            </a:r>
            <a:endParaRPr sz="1100" b="0">
              <a:solidFill>
                <a:srgbClr val="1E2761"/>
              </a:solidFill>
              <a:latin typeface="Consolas"/>
            </a:endParaRPr>
          </a:p>
          <a:p>
            <a:pPr algn="l"/>
          </a:p>
          <a:p>
            <a:pPr algn="l"/>
            <a:r>
              <a:rPr sz="1100" b="0">
                <a:solidFill>
                  <a:srgbClr val="1E2761"/>
                </a:solidFill>
                <a:latin typeface="Consolas"/>
              </a:rPr>
              <a:t># 2) Run A baseline training</a:t>
            </a:r>
            <a:endParaRPr sz="1100" b="0">
              <a:solidFill>
                <a:srgbClr val="1E2761"/>
              </a:solidFill>
              <a:latin typeface="Consolas"/>
            </a:endParaRPr>
          </a:p>
          <a:p>
            <a:pPr algn="l"/>
            <a:r>
              <a:rPr sz="1100" b="0">
                <a:solidFill>
                  <a:srgbClr val="1E2761"/>
                </a:solidFill>
                <a:latin typeface="Consolas"/>
              </a:rPr>
              <a:t>python -u cfp40.py --vtk-path Re40.vtk \</a:t>
            </a:r>
            <a:endParaRPr sz="1100" b="0">
              <a:solidFill>
                <a:srgbClr val="1E2761"/>
              </a:solidFill>
              <a:latin typeface="Consolas"/>
            </a:endParaRPr>
          </a:p>
          <a:p>
            <a:pPr algn="l"/>
            <a:r>
              <a:rPr sz="1100" b="0">
                <a:solidFill>
                  <a:srgbClr val="1E2761"/>
                </a:solidFill>
                <a:latin typeface="Consolas"/>
              </a:rPr>
              <a:t>    --save-dir checkpoints_sanity_A \</a:t>
            </a:r>
            <a:endParaRPr sz="1100" b="0">
              <a:solidFill>
                <a:srgbClr val="1E2761"/>
              </a:solidFill>
              <a:latin typeface="Consolas"/>
            </a:endParaRPr>
          </a:p>
          <a:p>
            <a:pPr algn="l"/>
            <a:r>
              <a:rPr sz="1100" b="0">
                <a:solidFill>
                  <a:srgbClr val="1E2761"/>
                </a:solidFill>
                <a:latin typeface="Consolas"/>
              </a:rPr>
              <a:t>    --viz-dir  viz_sanity_A \</a:t>
            </a:r>
            <a:endParaRPr sz="1100" b="0">
              <a:solidFill>
                <a:srgbClr val="1E2761"/>
              </a:solidFill>
              <a:latin typeface="Consolas"/>
            </a:endParaRPr>
          </a:p>
          <a:p>
            <a:pPr algn="l"/>
            <a:r>
              <a:rPr sz="1100" b="0">
                <a:solidFill>
                  <a:srgbClr val="1E2761"/>
                </a:solidFill>
                <a:latin typeface="Consolas"/>
              </a:rPr>
              <a:t>    --width 96 --depth 5 \</a:t>
            </a:r>
            <a:endParaRPr sz="1100" b="0">
              <a:solidFill>
                <a:srgbClr val="1E2761"/>
              </a:solidFill>
              <a:latin typeface="Consolas"/>
            </a:endParaRPr>
          </a:p>
          <a:p>
            <a:pPr algn="l"/>
            <a:r>
              <a:rPr sz="1100" b="0">
                <a:solidFill>
                  <a:srgbClr val="1E2761"/>
                </a:solidFill>
                <a:latin typeface="Consolas"/>
              </a:rPr>
              <a:t>    --epochs-adam 1500 \</a:t>
            </a:r>
            <a:endParaRPr sz="1100" b="0">
              <a:solidFill>
                <a:srgbClr val="1E2761"/>
              </a:solidFill>
              <a:latin typeface="Consolas"/>
            </a:endParaRPr>
          </a:p>
          <a:p>
            <a:pPr algn="l"/>
            <a:r>
              <a:rPr sz="1100" b="0">
                <a:solidFill>
                  <a:srgbClr val="1E2761"/>
                </a:solidFill>
                <a:latin typeface="Consolas"/>
              </a:rPr>
              <a:t>    --maxiter-bfgs 500 --iters-per-batch 100 \</a:t>
            </a:r>
            <a:endParaRPr sz="1100" b="0">
              <a:solidFill>
                <a:srgbClr val="1E2761"/>
              </a:solidFill>
              <a:latin typeface="Consolas"/>
            </a:endParaRPr>
          </a:p>
          <a:p>
            <a:pPr algn="l"/>
            <a:r>
              <a:rPr sz="1100" b="0">
                <a:solidFill>
                  <a:srgbClr val="1E2761"/>
                </a:solidFill>
                <a:latin typeface="Consolas"/>
              </a:rPr>
              <a:t>    --n-f 20000 --n-data 8000 \</a:t>
            </a:r>
            <a:endParaRPr sz="1100" b="0">
              <a:solidFill>
                <a:srgbClr val="1E2761"/>
              </a:solidFill>
              <a:latin typeface="Consolas"/>
            </a:endParaRPr>
          </a:p>
          <a:p>
            <a:pPr algn="l"/>
            <a:r>
              <a:rPr sz="1100" b="0">
                <a:solidFill>
                  <a:srgbClr val="1E2761"/>
                </a:solidFill>
                <a:latin typeface="Consolas"/>
              </a:rPr>
              <a:t>    --n-cfd-pde 4000 --lambda-pde-cfd 2.0 \</a:t>
            </a:r>
            <a:endParaRPr sz="1100" b="0">
              <a:solidFill>
                <a:srgbClr val="1E2761"/>
              </a:solidFill>
              <a:latin typeface="Consolas"/>
            </a:endParaRPr>
          </a:p>
          <a:p>
            <a:pPr algn="l"/>
            <a:r>
              <a:rPr sz="1100" b="0">
                <a:solidFill>
                  <a:srgbClr val="1E2761"/>
                </a:solidFill>
                <a:latin typeface="Consolas"/>
              </a:rPr>
              <a:t>    --cfd-pde-wall-buffer 0.5 \</a:t>
            </a:r>
            <a:endParaRPr sz="1100" b="0">
              <a:solidFill>
                <a:srgbClr val="1E2761"/>
              </a:solidFill>
              <a:latin typeface="Consolas"/>
            </a:endParaRPr>
          </a:p>
          <a:p>
            <a:pPr algn="l"/>
            <a:r>
              <a:rPr sz="1100" b="0">
                <a:solidFill>
                  <a:srgbClr val="1E2761"/>
                </a:solidFill>
                <a:latin typeface="Consolas"/>
              </a:rPr>
              <a:t>    --cfd-pde-edge-buffer 0.5 \</a:t>
            </a:r>
            <a:endParaRPr sz="1100" b="0">
              <a:solidFill>
                <a:srgbClr val="1E2761"/>
              </a:solidFill>
              <a:latin typeface="Consolas"/>
            </a:endParaRPr>
          </a:p>
          <a:p>
            <a:pPr algn="l"/>
            <a:r>
              <a:rPr sz="1100" b="0">
                <a:solidFill>
                  <a:srgbClr val="1E2761"/>
                </a:solidFill>
                <a:latin typeface="Consolas"/>
              </a:rPr>
              <a:t>    --x-min -3 --x-max 12 \</a:t>
            </a:r>
            <a:endParaRPr sz="1100" b="0">
              <a:solidFill>
                <a:srgbClr val="1E2761"/>
              </a:solidFill>
              <a:latin typeface="Consolas"/>
            </a:endParaRPr>
          </a:p>
          <a:p>
            <a:pPr algn="l"/>
            <a:r>
              <a:rPr sz="1100" b="0">
                <a:solidFill>
                  <a:srgbClr val="1E2761"/>
                </a:solidFill>
                <a:latin typeface="Consolas"/>
              </a:rPr>
              <a:t>    --y-min -4 --y-max  4 \</a:t>
            </a:r>
            <a:endParaRPr sz="1100" b="0">
              <a:solidFill>
                <a:srgbClr val="1E2761"/>
              </a:solidFill>
              <a:latin typeface="Consolas"/>
            </a:endParaRPr>
          </a:p>
          <a:p>
            <a:pPr algn="l"/>
            <a:r>
              <a:rPr sz="1100" b="0">
                <a:solidFill>
                  <a:srgbClr val="1E2761"/>
                </a:solidFill>
                <a:latin typeface="Consolas"/>
              </a:rPr>
              <a:t>    --method-bfgs SSBroyden1</a:t>
            </a:r>
            <a:endParaRPr sz="1100" b="0">
              <a:solidFill>
                <a:srgbClr val="1E2761"/>
              </a:solidFill>
              <a:latin typeface="Consolas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7360920" y="1325880"/>
            <a:ext cx="4526280" cy="4937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43800" y="1417320"/>
            <a:ext cx="4160520" cy="2743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1300" b="1">
                <a:solidFill>
                  <a:srgbClr val="212121"/>
                </a:solidFill>
              </a:rPr>
              <a:t>Why these knobs (vs. previous run)</a:t>
            </a:r>
            <a:endParaRPr sz="1300" b="1">
              <a:solidFill>
                <a:srgbClr val="212121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543800" y="1828800"/>
            <a:ext cx="4160520" cy="4297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7A1B1B"/>
                </a:solidFill>
                <a:latin typeface="Calibri"/>
              </a:rPr>
              <a:t>Custom BFGS path fixed</a:t>
            </a:r>
            <a:endParaRPr sz="1100" b="0">
              <a:solidFill>
                <a:srgbClr val="7A1B1B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Now actually invokes SSBroyden1 from</a:t>
            </a:r>
            <a:endParaRPr sz="1100" b="0">
              <a:solidFill>
                <a:srgbClr val="4A4A4A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_optimize._minimize_bfgs.  Old code passed</a:t>
            </a:r>
            <a:endParaRPr sz="1100" b="0">
              <a:solidFill>
                <a:srgbClr val="4A4A4A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method_bfgs=… into scipy stock BFGS where</a:t>
            </a:r>
            <a:endParaRPr sz="1100" b="0">
              <a:solidFill>
                <a:srgbClr val="4A4A4A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it was silently dropped → standard BFGS.</a:t>
            </a:r>
            <a:endParaRPr sz="1100" b="0">
              <a:solidFill>
                <a:srgbClr val="4A4A4A"/>
              </a:solidFill>
              <a:latin typeface="Calibri"/>
            </a:endParaRPr>
          </a:p>
          <a:p>
            <a:pPr algn="l"/>
          </a:p>
          <a:p>
            <a:pPr algn="l"/>
            <a:r>
              <a:rPr sz="1100" b="0">
                <a:solidFill>
                  <a:srgbClr val="7A1B1B"/>
                </a:solidFill>
                <a:latin typeface="Calibri"/>
              </a:rPr>
              <a:t>Frozen colloc + full data in BFGS</a:t>
            </a:r>
            <a:endParaRPr sz="1100" b="0">
              <a:solidFill>
                <a:srgbClr val="7A1B1B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BFGS gets a deterministic objective; data</a:t>
            </a:r>
            <a:endParaRPr sz="1100" b="0">
              <a:solidFill>
                <a:srgbClr val="4A4A4A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MSE can monotonically decrease.</a:t>
            </a:r>
            <a:endParaRPr sz="1100" b="0">
              <a:solidFill>
                <a:srgbClr val="4A4A4A"/>
              </a:solidFill>
              <a:latin typeface="Calibri"/>
            </a:endParaRPr>
          </a:p>
          <a:p>
            <a:pPr algn="l"/>
          </a:p>
          <a:p>
            <a:pPr algn="l"/>
            <a:r>
              <a:rPr sz="1100" b="0">
                <a:solidFill>
                  <a:srgbClr val="7A1B1B"/>
                </a:solidFill>
                <a:latin typeface="Calibri"/>
              </a:rPr>
              <a:t>CFD-PDE buffer = 0.5</a:t>
            </a:r>
            <a:endParaRPr sz="1100" b="0">
              <a:solidFill>
                <a:srgbClr val="7A1B1B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Skips boundary-layer / far-field CFD</a:t>
            </a:r>
            <a:endParaRPr sz="1100" b="0">
              <a:solidFill>
                <a:srgbClr val="4A4A4A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points where the CFD itself violates NS</a:t>
            </a:r>
            <a:endParaRPr sz="1100" b="0">
              <a:solidFill>
                <a:srgbClr val="4A4A4A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(see CFD-PDE residual slide).</a:t>
            </a:r>
            <a:endParaRPr sz="1100" b="0">
              <a:solidFill>
                <a:srgbClr val="4A4A4A"/>
              </a:solidFill>
              <a:latin typeface="Calibri"/>
            </a:endParaRPr>
          </a:p>
          <a:p>
            <a:pPr algn="l"/>
          </a:p>
          <a:p>
            <a:pPr algn="l"/>
            <a:r>
              <a:rPr sz="1100" b="0">
                <a:solidFill>
                  <a:srgbClr val="7A1B1B"/>
                </a:solidFill>
                <a:latin typeface="Calibri"/>
              </a:rPr>
              <a:t>Memory budget check enabled</a:t>
            </a:r>
            <a:endParaRPr sz="1100" b="0">
              <a:solidFill>
                <a:srgbClr val="7A1B1B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Aborts before Adam if H0 (NxN float64)</a:t>
            </a:r>
            <a:endParaRPr sz="1100" b="0">
              <a:solidFill>
                <a:srgbClr val="4A4A4A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won't fit. 96/5: H0 ≈ 11 GB.</a:t>
            </a:r>
            <a:endParaRPr sz="1100" b="0">
              <a:solidFill>
                <a:srgbClr val="4A4A4A"/>
              </a:solidFill>
              <a:latin typeface="Calibr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731520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l"/>
            <a:r>
              <a:rPr sz="900">
                <a:solidFill>
                  <a:srgbClr val="4A4A4A"/>
                </a:solidFill>
              </a:rPr>
              <a:t>Junhe Chen  |  PINN Cylinder Flow Reconstruction</a:t>
            </a:r>
            <a:endParaRPr sz="900">
              <a:solidFill>
                <a:srgbClr val="4A4A4A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9692640" y="640080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/>
            <a:r>
              <a:rPr sz="900">
                <a:solidFill>
                  <a:srgbClr val="4A4A4A"/>
                </a:solidFill>
              </a:rPr>
              <a:t>Brown University</a:t>
            </a:r>
            <a:endParaRPr sz="900">
              <a:solidFill>
                <a:srgbClr val="4A4A4A"/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1430000" y="6400800"/>
            <a:ext cx="6400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/>
            <a:r>
              <a:rPr sz="900">
                <a:solidFill>
                  <a:srgbClr val="4A4A4A"/>
                </a:solidFill>
              </a:rPr>
              <a:t>8</a:t>
            </a:r>
            <a:endParaRPr sz="900">
              <a:solidFill>
                <a:srgbClr val="4A4A4A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64592"/>
          </a:xfrm>
          <a:prstGeom prst="rect">
            <a:avLst/>
          </a:prstGeom>
          <a:solidFill>
            <a:srgbClr val="7A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972800" cy="4572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800" b="1">
                <a:solidFill>
                  <a:srgbClr val="212121"/>
                </a:solidFill>
              </a:rPr>
              <a:t>Run A — Loss Trajectory and Achieved Error</a:t>
            </a:r>
            <a:endParaRPr sz="2800" b="1">
              <a:solidFill>
                <a:srgbClr val="212121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0972800" cy="2743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1200">
                <a:solidFill>
                  <a:srgbClr val="4A4A4A"/>
                </a:solidFill>
              </a:rPr>
              <a:t>Adam (1500 ep) → SSBroyden1 (500 calls); training-DATA dropped 30×, but full-mesh MAE much higher</a:t>
            </a:r>
            <a:endParaRPr sz="1200">
              <a:solidFill>
                <a:srgbClr val="4A4A4A"/>
              </a:solidFill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48640" y="1188720"/>
            <a:ext cx="11064240" cy="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runA_losse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325880"/>
            <a:ext cx="7863840" cy="353872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412480" y="1325880"/>
            <a:ext cx="3474720" cy="4846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0" y="1417320"/>
            <a:ext cx="3108960" cy="2743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1300" b="1">
                <a:solidFill>
                  <a:srgbClr val="212121"/>
                </a:solidFill>
              </a:rPr>
              <a:t>Numbers (analysis_runA/summary.txt)</a:t>
            </a:r>
            <a:endParaRPr sz="1300" b="1">
              <a:solidFill>
                <a:srgbClr val="212121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595360" y="1828800"/>
            <a:ext cx="3108960" cy="4206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Training-time data MSE</a:t>
            </a:r>
            <a:endParaRPr sz="1100" b="0">
              <a:solidFill>
                <a:srgbClr val="4A4A4A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1E2761"/>
                </a:solidFill>
                <a:latin typeface="Calibri"/>
              </a:rPr>
              <a:t>plateau ≈ 2.4·10⁻⁴</a:t>
            </a:r>
            <a:endParaRPr sz="1100" b="0">
              <a:solidFill>
                <a:srgbClr val="1E2761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(sampled, wake-biased)</a:t>
            </a:r>
            <a:endParaRPr sz="1100" b="0">
              <a:solidFill>
                <a:srgbClr val="4A4A4A"/>
              </a:solidFill>
              <a:latin typeface="Calibri"/>
            </a:endParaRPr>
          </a:p>
          <a:p>
            <a:pPr algn="l"/>
          </a:p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Full-mesh MAE (4869 pts)</a:t>
            </a:r>
            <a:endParaRPr sz="1100" b="0">
              <a:solidFill>
                <a:srgbClr val="4A4A4A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7A1B1B"/>
                </a:solidFill>
                <a:latin typeface="Calibri"/>
              </a:rPr>
              <a:t>mae_u = 1.247·10⁻¹</a:t>
            </a:r>
            <a:endParaRPr sz="1100" b="0">
              <a:solidFill>
                <a:srgbClr val="7A1B1B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7A1B1B"/>
                </a:solidFill>
                <a:latin typeface="Calibri"/>
              </a:rPr>
              <a:t>mae_v = 6.77·10⁻²</a:t>
            </a:r>
            <a:endParaRPr sz="1100" b="0">
              <a:solidFill>
                <a:srgbClr val="7A1B1B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7A1B1B"/>
                </a:solidFill>
                <a:latin typeface="Calibri"/>
              </a:rPr>
              <a:t>rel_l2_uv = 0.238</a:t>
            </a:r>
            <a:endParaRPr sz="1100" b="0">
              <a:solidFill>
                <a:srgbClr val="7A1B1B"/>
              </a:solidFill>
              <a:latin typeface="Calibri"/>
            </a:endParaRPr>
          </a:p>
          <a:p>
            <a:pPr algn="l"/>
          </a:p>
          <a:p>
            <a:pPr algn="l"/>
            <a:r>
              <a:rPr sz="1100" b="0">
                <a:solidFill>
                  <a:srgbClr val="7A1B1B"/>
                </a:solidFill>
                <a:latin typeface="Calibri"/>
              </a:rPr>
              <a:t>Surprise:</a:t>
            </a:r>
            <a:endParaRPr sz="1100" b="0">
              <a:solidFill>
                <a:srgbClr val="7A1B1B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212121"/>
                </a:solidFill>
                <a:latin typeface="Calibri"/>
              </a:rPr>
              <a:t>training-DATA suggested</a:t>
            </a:r>
            <a:endParaRPr sz="1100" b="0">
              <a:solidFill>
                <a:srgbClr val="212121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212121"/>
                </a:solidFill>
                <a:latin typeface="Calibri"/>
              </a:rPr>
              <a:t>MAE ~ 1.5·10⁻²;  actual</a:t>
            </a:r>
            <a:endParaRPr sz="1100" b="0">
              <a:solidFill>
                <a:srgbClr val="212121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212121"/>
                </a:solidFill>
                <a:latin typeface="Calibri"/>
              </a:rPr>
              <a:t>MAE is ~10× larger.  Wake-</a:t>
            </a:r>
            <a:endParaRPr sz="1100" b="0">
              <a:solidFill>
                <a:srgbClr val="212121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212121"/>
                </a:solidFill>
                <a:latin typeface="Calibri"/>
              </a:rPr>
              <a:t>biased sampling masked</a:t>
            </a:r>
            <a:endParaRPr sz="1100" b="0">
              <a:solidFill>
                <a:srgbClr val="212121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212121"/>
                </a:solidFill>
                <a:latin typeface="Calibri"/>
              </a:rPr>
              <a:t>inlet/far-field error.</a:t>
            </a:r>
            <a:endParaRPr sz="1100" b="0">
              <a:solidFill>
                <a:srgbClr val="212121"/>
              </a:solidFill>
              <a:latin typeface="Calibri"/>
            </a:endParaRPr>
          </a:p>
          <a:p>
            <a:pPr algn="l"/>
          </a:p>
          <a:p>
            <a:pPr algn="l"/>
            <a:r>
              <a:rPr sz="1100" b="0">
                <a:solidFill>
                  <a:srgbClr val="1C7293"/>
                </a:solidFill>
                <a:latin typeface="Calibri"/>
              </a:rPr>
              <a:t>L_wall_uv  ≈ 3·10⁻¹⁵</a:t>
            </a:r>
            <a:endParaRPr sz="1100" b="0">
              <a:solidFill>
                <a:srgbClr val="1C7293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(machine ε² — see slide 10)</a:t>
            </a:r>
            <a:endParaRPr sz="1100" b="0">
              <a:solidFill>
                <a:srgbClr val="4A4A4A"/>
              </a:solidFill>
              <a:latin typeface="Calibri"/>
            </a:endParaRPr>
          </a:p>
          <a:p>
            <a:pPr algn="l"/>
          </a:p>
          <a:p>
            <a:pPr algn="l"/>
            <a:r>
              <a:rPr sz="1100" b="0">
                <a:solidFill>
                  <a:srgbClr val="1E2761"/>
                </a:solidFill>
                <a:latin typeface="Calibri"/>
              </a:rPr>
              <a:t>PDE rmse mag = 0.366</a:t>
            </a:r>
            <a:endParaRPr sz="1100" b="0">
              <a:solidFill>
                <a:srgbClr val="1E2761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near_cyl ÷ far ≈ 15×</a:t>
            </a:r>
            <a:endParaRPr sz="1100" b="0">
              <a:solidFill>
                <a:srgbClr val="4A4A4A"/>
              </a:solidFill>
              <a:latin typeface="Calibri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11480" y="5669280"/>
            <a:ext cx="7863840" cy="594360"/>
          </a:xfrm>
          <a:prstGeom prst="roundRect">
            <a:avLst/>
          </a:prstGeom>
          <a:solidFill>
            <a:srgbClr val="FFF6F2"/>
          </a:solidFill>
          <a:ln w="9525">
            <a:solidFill>
              <a:srgbClr val="7A1B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733288"/>
            <a:ext cx="76809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050" b="1">
                <a:solidFill>
                  <a:srgbClr val="7A1B1B"/>
                </a:solidFill>
                <a:latin typeface="Calibri"/>
              </a:rPr>
              <a:t>Lesson: judge progress by full-mesh MAE, not training-DATA. Random training samples are biased toward the wake (wake_frac=0.8).</a:t>
            </a:r>
            <a:endParaRPr sz="1050" b="1">
              <a:solidFill>
                <a:srgbClr val="7A1B1B"/>
              </a:solidFill>
              <a:latin typeface="Calibr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731520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l"/>
            <a:r>
              <a:rPr sz="900">
                <a:solidFill>
                  <a:srgbClr val="4A4A4A"/>
                </a:solidFill>
              </a:rPr>
              <a:t>Junhe Chen  |  PINN Cylinder Flow Reconstruction</a:t>
            </a:r>
            <a:endParaRPr sz="900">
              <a:solidFill>
                <a:srgbClr val="4A4A4A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9692640" y="640080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/>
            <a:r>
              <a:rPr sz="900">
                <a:solidFill>
                  <a:srgbClr val="4A4A4A"/>
                </a:solidFill>
              </a:rPr>
              <a:t>Brown University</a:t>
            </a:r>
            <a:endParaRPr sz="900">
              <a:solidFill>
                <a:srgbClr val="4A4A4A"/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1430000" y="6400800"/>
            <a:ext cx="6400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/>
            <a:r>
              <a:rPr sz="900">
                <a:solidFill>
                  <a:srgbClr val="4A4A4A"/>
                </a:solidFill>
              </a:rPr>
              <a:t>9</a:t>
            </a:r>
            <a:endParaRPr sz="900">
              <a:solidFill>
                <a:srgbClr val="4A4A4A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64592"/>
          </a:xfrm>
          <a:prstGeom prst="rect">
            <a:avLst/>
          </a:prstGeom>
          <a:solidFill>
            <a:srgbClr val="7A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972800" cy="4572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800" b="1">
                <a:solidFill>
                  <a:srgbClr val="212121"/>
                </a:solidFill>
              </a:rPr>
              <a:t>Hard No-Slip via Stream-Function Lifting</a:t>
            </a:r>
            <a:endParaRPr sz="2800" b="1">
              <a:solidFill>
                <a:srgbClr val="212121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0972800" cy="2743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1200">
                <a:solidFill>
                  <a:srgbClr val="4A4A4A"/>
                </a:solidFill>
              </a:rPr>
              <a:t>Why L_wall_uv saturates at machine ε² ≈ 10⁻¹⁵ instead of being optimised</a:t>
            </a:r>
            <a:endParaRPr sz="1200">
              <a:solidFill>
                <a:srgbClr val="4A4A4A"/>
              </a:solidFill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48640" y="1188720"/>
            <a:ext cx="11064240" cy="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wall_lift_math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25880"/>
            <a:ext cx="11155680" cy="407424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2920" y="4937760"/>
            <a:ext cx="111556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5029200"/>
            <a:ext cx="10789920" cy="2743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1300" b="1">
                <a:solidFill>
                  <a:srgbClr val="212121"/>
                </a:solidFill>
              </a:rPr>
              <a:t>From the lift conditions to ⟨u² + v²⟩ ≈ ε²</a:t>
            </a:r>
            <a:endParaRPr sz="1300" b="1">
              <a:solidFill>
                <a:srgbClr val="212121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85800" y="5349240"/>
            <a:ext cx="10789920" cy="914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212121"/>
                </a:solidFill>
                <a:latin typeface="Calibri"/>
              </a:rPr>
              <a:t>Define r(x,y) = √((x−x_c)² + (y−y_c)²),   ψ = lift(r) · ψ_raw    →   ∇ψ = lift′(r)·r̂·ψ_raw + lift(r)·∇ψ_raw</a:t>
            </a:r>
            <a:endParaRPr sz="1100" b="0">
              <a:solidFill>
                <a:srgbClr val="212121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1E2761"/>
                </a:solidFill>
                <a:latin typeface="Calibri"/>
              </a:rPr>
              <a:t>lift(R) = tanh²(0) = 0,    lift′(R) = 2 tanh(0) sech²(0) / δ = 0    ⇒   ∇ψ|_{r=R} = 0   ⇒   u = ∂_y ψ ≡ 0,  v = −∂_x ψ ≡ 0   on the wall.</a:t>
            </a:r>
            <a:endParaRPr sz="1100" b="0">
              <a:solidFill>
                <a:srgbClr val="1E2761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7A1B1B"/>
                </a:solidFill>
                <a:latin typeface="Calibri"/>
              </a:rPr>
              <a:t>Numerically:  fp32 unit round-off ε ≈ 6·10⁻⁸ on each velocity   ⇒   L_wall_uv = ⟨u² + v²⟩ ~ ε² ≈ 4·10⁻¹⁵.   Run-A measured max|u|=2.0·10⁻⁷ ✓</a:t>
            </a:r>
            <a:endParaRPr sz="1100" b="0">
              <a:solidFill>
                <a:srgbClr val="7A1B1B"/>
              </a:solidFill>
              <a:latin typeface="Calibr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57200" y="6400800"/>
            <a:ext cx="731520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l"/>
            <a:r>
              <a:rPr sz="900">
                <a:solidFill>
                  <a:srgbClr val="4A4A4A"/>
                </a:solidFill>
              </a:rPr>
              <a:t>Junhe Chen  |  PINN Cylinder Flow Reconstruction</a:t>
            </a:r>
            <a:endParaRPr sz="900">
              <a:solidFill>
                <a:srgbClr val="4A4A4A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692640" y="640080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/>
            <a:r>
              <a:rPr sz="900">
                <a:solidFill>
                  <a:srgbClr val="4A4A4A"/>
                </a:solidFill>
              </a:rPr>
              <a:t>Brown University</a:t>
            </a:r>
            <a:endParaRPr sz="900">
              <a:solidFill>
                <a:srgbClr val="4A4A4A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1430000" y="6400800"/>
            <a:ext cx="6400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/>
            <a:r>
              <a:rPr sz="900">
                <a:solidFill>
                  <a:srgbClr val="4A4A4A"/>
                </a:solidFill>
              </a:rPr>
              <a:t>10</a:t>
            </a:r>
            <a:endParaRPr sz="900">
              <a:solidFill>
                <a:srgbClr val="4A4A4A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64592"/>
          </a:xfrm>
          <a:prstGeom prst="rect">
            <a:avLst/>
          </a:prstGeom>
          <a:solidFill>
            <a:srgbClr val="7A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972800" cy="4572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800" b="1">
                <a:solidFill>
                  <a:srgbClr val="212121"/>
                </a:solidFill>
              </a:rPr>
              <a:t>Is the CFD itself a solution of the PDE?</a:t>
            </a:r>
            <a:endParaRPr sz="2800" b="1">
              <a:solidFill>
                <a:srgbClr val="212121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0972800" cy="2743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1200">
                <a:solidFill>
                  <a:srgbClr val="4A4A4A"/>
                </a:solidFill>
              </a:rPr>
              <a:t>Steady vorticity-transport residual on the Re40 mesh — sets the achievable PINN floor</a:t>
            </a:r>
            <a:endParaRPr sz="1200">
              <a:solidFill>
                <a:srgbClr val="4A4A4A"/>
              </a:solidFill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48640" y="1188720"/>
            <a:ext cx="11064240" cy="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48640" y="1325880"/>
            <a:ext cx="4114800" cy="4846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3749040" cy="2743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1300" b="1">
                <a:solidFill>
                  <a:srgbClr val="212121"/>
                </a:solidFill>
              </a:rPr>
              <a:t>Method</a:t>
            </a:r>
            <a:endParaRPr sz="1300" b="1">
              <a:solidFill>
                <a:srgbClr val="21212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31520" y="1828800"/>
            <a:ext cx="3749040" cy="4206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On every interior CFD point:</a:t>
            </a:r>
            <a:endParaRPr sz="1100" b="0">
              <a:solidFill>
                <a:srgbClr val="4A4A4A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212121"/>
                </a:solidFill>
                <a:latin typeface="Calibri"/>
              </a:rPr>
              <a:t>(1) k-nearest neighbours,</a:t>
            </a:r>
            <a:endParaRPr sz="1100" b="0">
              <a:solidFill>
                <a:srgbClr val="212121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212121"/>
                </a:solidFill>
                <a:latin typeface="Calibri"/>
              </a:rPr>
              <a:t>(2) local quadratic fit to u and v,</a:t>
            </a:r>
            <a:endParaRPr sz="1100" b="0">
              <a:solidFill>
                <a:srgbClr val="212121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212121"/>
                </a:solidFill>
                <a:latin typeface="Calibri"/>
              </a:rPr>
              <a:t>(3) read u_x, u_y, ..., v_xy at center,</a:t>
            </a:r>
            <a:endParaRPr sz="1100" b="0">
              <a:solidFill>
                <a:srgbClr val="212121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212121"/>
                </a:solidFill>
                <a:latin typeface="Calibri"/>
              </a:rPr>
              <a:t>(4) ω = v_x − u_y,</a:t>
            </a:r>
            <a:endParaRPr sz="1100" b="0">
              <a:solidFill>
                <a:srgbClr val="212121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212121"/>
                </a:solidFill>
                <a:latin typeface="Calibri"/>
              </a:rPr>
              <a:t>(5) second fit for ω → ω_x, ω_y, ω_xx, ω_yy,</a:t>
            </a:r>
            <a:endParaRPr sz="1100" b="0">
              <a:solidFill>
                <a:srgbClr val="212121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212121"/>
                </a:solidFill>
                <a:latin typeface="Calibri"/>
              </a:rPr>
              <a:t>(6) compute  r_ω = u·ω_x + v·ω_y</a:t>
            </a:r>
            <a:endParaRPr sz="1100" b="0">
              <a:solidFill>
                <a:srgbClr val="212121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212121"/>
                </a:solidFill>
                <a:latin typeface="Calibri"/>
              </a:rPr>
              <a:t>           − (1/Re)(ω_xx + ω_yy).</a:t>
            </a:r>
            <a:endParaRPr sz="1100" b="0">
              <a:solidFill>
                <a:srgbClr val="212121"/>
              </a:solidFill>
              <a:latin typeface="Calibri"/>
            </a:endParaRPr>
          </a:p>
          <a:p>
            <a:pPr algn="l"/>
          </a:p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Curl of momentum eliminates pressure</a:t>
            </a:r>
            <a:endParaRPr sz="1100" b="0">
              <a:solidFill>
                <a:srgbClr val="4A4A4A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→ no need to know p from the VTK.</a:t>
            </a:r>
            <a:endParaRPr sz="1100" b="0">
              <a:solidFill>
                <a:srgbClr val="4A4A4A"/>
              </a:solidFill>
              <a:latin typeface="Calibri"/>
            </a:endParaRPr>
          </a:p>
          <a:p>
            <a:pPr algn="l"/>
          </a:p>
          <a:p>
            <a:pPr algn="l"/>
            <a:r>
              <a:rPr sz="1100" b="0">
                <a:solidFill>
                  <a:srgbClr val="7A1B1B"/>
                </a:solidFill>
                <a:latin typeface="Calibri"/>
              </a:rPr>
              <a:t>Three configurations tested:</a:t>
            </a:r>
            <a:endParaRPr sz="1100" b="0">
              <a:solidFill>
                <a:srgbClr val="7A1B1B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212121"/>
                </a:solidFill>
                <a:latin typeface="Calibri"/>
              </a:rPr>
              <a:t> • k=24, buf=0.15  (default)</a:t>
            </a:r>
            <a:endParaRPr sz="1100" b="0">
              <a:solidFill>
                <a:srgbClr val="212121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212121"/>
                </a:solidFill>
                <a:latin typeface="Calibri"/>
              </a:rPr>
              <a:t> • k=12, buf=0.15  (tighter neighbour fit)</a:t>
            </a:r>
            <a:endParaRPr sz="1100" b="0">
              <a:solidFill>
                <a:srgbClr val="212121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212121"/>
                </a:solidFill>
                <a:latin typeface="Calibri"/>
              </a:rPr>
              <a:t> • k=24, buf=0.5   (exclude BL + edge band)</a:t>
            </a:r>
            <a:endParaRPr sz="1100" b="0">
              <a:solidFill>
                <a:srgbClr val="212121"/>
              </a:solidFill>
              <a:latin typeface="Calibri"/>
            </a:endParaRPr>
          </a:p>
        </p:txBody>
      </p:sp>
      <p:pic>
        <p:nvPicPr>
          <p:cNvPr id="10" name="Picture 9" descr="cfd_pde_residu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0" y="1325880"/>
            <a:ext cx="7132320" cy="3101009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48640" y="5669280"/>
            <a:ext cx="11430000" cy="594360"/>
          </a:xfrm>
          <a:prstGeom prst="roundRect">
            <a:avLst/>
          </a:prstGeom>
          <a:solidFill>
            <a:srgbClr val="FFF6F2"/>
          </a:solidFill>
          <a:ln w="9525">
            <a:solidFill>
              <a:srgbClr val="7A1B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733288"/>
            <a:ext cx="1124712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1">
                <a:solidFill>
                  <a:srgbClr val="7A1B1B"/>
                </a:solidFill>
                <a:latin typeface="Calibri"/>
              </a:rPr>
              <a:t>Take-away:  bulk CFD median NS residual ≈ 1·10⁻³  →  1e-4 ~ 1e-5 absolute MAE is NOT achievable while also satisfying the PDE on this mesh.</a:t>
            </a:r>
            <a:endParaRPr sz="1200" b="1">
              <a:solidFill>
                <a:srgbClr val="7A1B1B"/>
              </a:solidFill>
              <a:latin typeface="Calibr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731520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l"/>
            <a:r>
              <a:rPr sz="900">
                <a:solidFill>
                  <a:srgbClr val="4A4A4A"/>
                </a:solidFill>
              </a:rPr>
              <a:t>Junhe Chen  |  PINN Cylinder Flow Reconstruction</a:t>
            </a:r>
            <a:endParaRPr sz="900">
              <a:solidFill>
                <a:srgbClr val="4A4A4A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9692640" y="640080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/>
            <a:r>
              <a:rPr sz="900">
                <a:solidFill>
                  <a:srgbClr val="4A4A4A"/>
                </a:solidFill>
              </a:rPr>
              <a:t>Brown University</a:t>
            </a:r>
            <a:endParaRPr sz="900">
              <a:solidFill>
                <a:srgbClr val="4A4A4A"/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1430000" y="6400800"/>
            <a:ext cx="6400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/>
            <a:r>
              <a:rPr sz="900">
                <a:solidFill>
                  <a:srgbClr val="4A4A4A"/>
                </a:solidFill>
              </a:rPr>
              <a:t>11</a:t>
            </a:r>
            <a:endParaRPr sz="900">
              <a:solidFill>
                <a:srgbClr val="4A4A4A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64592"/>
          </a:xfrm>
          <a:prstGeom prst="rect">
            <a:avLst/>
          </a:prstGeom>
          <a:solidFill>
            <a:srgbClr val="7A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972800" cy="4572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800" b="1">
                <a:solidFill>
                  <a:srgbClr val="212121"/>
                </a:solidFill>
              </a:rPr>
              <a:t>Run A — Velocity Agreement on CFD Points</a:t>
            </a:r>
            <a:endParaRPr sz="2800" b="1">
              <a:solidFill>
                <a:srgbClr val="212121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0972800" cy="2743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1200">
                <a:solidFill>
                  <a:srgbClr val="4A4A4A"/>
                </a:solidFill>
              </a:rPr>
              <a:t>Per-component scatter and absolute error map  (4869 points, full PDE box)</a:t>
            </a:r>
            <a:endParaRPr sz="1200">
              <a:solidFill>
                <a:srgbClr val="4A4A4A"/>
              </a:solidFill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48640" y="1188720"/>
            <a:ext cx="11064240" cy="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01_velocity_scatter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325880"/>
            <a:ext cx="7680960" cy="2697480"/>
          </a:xfrm>
          <a:prstGeom prst="rect">
            <a:avLst/>
          </a:prstGeom>
        </p:spPr>
      </p:pic>
      <p:pic>
        <p:nvPicPr>
          <p:cNvPr id="8" name="Picture 7" descr="02_velocity_error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160520"/>
            <a:ext cx="7680960" cy="21945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183879" y="1325880"/>
            <a:ext cx="3749039" cy="5074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66759" y="1417320"/>
            <a:ext cx="3383279" cy="2743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1300" b="1">
                <a:solidFill>
                  <a:srgbClr val="212121"/>
                </a:solidFill>
              </a:rPr>
              <a:t>Measured numbers</a:t>
            </a:r>
            <a:endParaRPr sz="1300" b="1">
              <a:solidFill>
                <a:srgbClr val="212121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366760" y="1828800"/>
            <a:ext cx="338328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mae_u</a:t>
            </a:r>
            <a:endParaRPr sz="1100" b="0">
              <a:solidFill>
                <a:srgbClr val="4A4A4A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7A1B1B"/>
                </a:solidFill>
                <a:latin typeface="Calibri"/>
              </a:rPr>
              <a:t>1.247·10⁻¹</a:t>
            </a:r>
            <a:endParaRPr sz="1100" b="0">
              <a:solidFill>
                <a:srgbClr val="7A1B1B"/>
              </a:solidFill>
              <a:latin typeface="Calibri"/>
            </a:endParaRPr>
          </a:p>
          <a:p>
            <a:pPr algn="l"/>
          </a:p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mae_v</a:t>
            </a:r>
            <a:endParaRPr sz="1100" b="0">
              <a:solidFill>
                <a:srgbClr val="4A4A4A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7A1B1B"/>
                </a:solidFill>
                <a:latin typeface="Calibri"/>
              </a:rPr>
              <a:t>6.77·10⁻²</a:t>
            </a:r>
            <a:endParaRPr sz="1100" b="0">
              <a:solidFill>
                <a:srgbClr val="7A1B1B"/>
              </a:solidFill>
              <a:latin typeface="Calibri"/>
            </a:endParaRPr>
          </a:p>
          <a:p>
            <a:pPr algn="l"/>
          </a:p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rel_l2_uv</a:t>
            </a:r>
            <a:endParaRPr sz="1100" b="0">
              <a:solidFill>
                <a:srgbClr val="4A4A4A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1E2761"/>
                </a:solidFill>
                <a:latin typeface="Calibri"/>
              </a:rPr>
              <a:t>0.238</a:t>
            </a:r>
            <a:endParaRPr sz="1100" b="0">
              <a:solidFill>
                <a:srgbClr val="1E2761"/>
              </a:solidFill>
              <a:latin typeface="Calibri"/>
            </a:endParaRPr>
          </a:p>
          <a:p>
            <a:pPr algn="l"/>
          </a:p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rel_l2_v large because</a:t>
            </a:r>
            <a:endParaRPr sz="1100" b="0">
              <a:solidFill>
                <a:srgbClr val="4A4A4A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|v_true| is small here;</a:t>
            </a:r>
            <a:endParaRPr sz="1100" b="0">
              <a:solidFill>
                <a:srgbClr val="4A4A4A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look at mae_v not rel.</a:t>
            </a:r>
            <a:endParaRPr sz="1100" b="0">
              <a:solidFill>
                <a:srgbClr val="4A4A4A"/>
              </a:solidFill>
              <a:latin typeface="Calibri"/>
            </a:endParaRPr>
          </a:p>
          <a:p>
            <a:pPr algn="l"/>
          </a:p>
          <a:p>
            <a:pPr algn="l"/>
            <a:r>
              <a:rPr sz="1100" b="0">
                <a:solidFill>
                  <a:srgbClr val="7A1B1B"/>
                </a:solidFill>
                <a:latin typeface="Calibri"/>
              </a:rPr>
              <a:t>Spatial pattern:</a:t>
            </a:r>
            <a:endParaRPr sz="1100" b="0">
              <a:solidFill>
                <a:srgbClr val="7A1B1B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212121"/>
                </a:solidFill>
                <a:latin typeface="Calibri"/>
              </a:rPr>
              <a:t>error concentrates</a:t>
            </a:r>
            <a:endParaRPr sz="1100" b="0">
              <a:solidFill>
                <a:srgbClr val="212121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212121"/>
                </a:solidFill>
                <a:latin typeface="Calibri"/>
              </a:rPr>
              <a:t>near cylinder + wake</a:t>
            </a:r>
            <a:endParaRPr sz="1100" b="0">
              <a:solidFill>
                <a:srgbClr val="212121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212121"/>
                </a:solidFill>
                <a:latin typeface="Calibri"/>
              </a:rPr>
              <a:t>shear layer; smooth</a:t>
            </a:r>
            <a:endParaRPr sz="1100" b="0">
              <a:solidFill>
                <a:srgbClr val="212121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212121"/>
                </a:solidFill>
                <a:latin typeface="Calibri"/>
              </a:rPr>
              <a:t>decay in far field.</a:t>
            </a:r>
            <a:endParaRPr sz="1100" b="0">
              <a:solidFill>
                <a:srgbClr val="212121"/>
              </a:solidFill>
              <a:latin typeface="Calibr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57200" y="6400800"/>
            <a:ext cx="731520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l"/>
            <a:r>
              <a:rPr sz="900">
                <a:solidFill>
                  <a:srgbClr val="4A4A4A"/>
                </a:solidFill>
              </a:rPr>
              <a:t>Junhe Chen  |  PINN Cylinder Flow Reconstruction</a:t>
            </a:r>
            <a:endParaRPr sz="900">
              <a:solidFill>
                <a:srgbClr val="4A4A4A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9692640" y="640080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/>
            <a:r>
              <a:rPr sz="900">
                <a:solidFill>
                  <a:srgbClr val="4A4A4A"/>
                </a:solidFill>
              </a:rPr>
              <a:t>Brown University</a:t>
            </a:r>
            <a:endParaRPr sz="900">
              <a:solidFill>
                <a:srgbClr val="4A4A4A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1430000" y="6400800"/>
            <a:ext cx="6400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/>
            <a:r>
              <a:rPr sz="900">
                <a:solidFill>
                  <a:srgbClr val="4A4A4A"/>
                </a:solidFill>
              </a:rPr>
              <a:t>12</a:t>
            </a:r>
            <a:endParaRPr sz="900">
              <a:solidFill>
                <a:srgbClr val="4A4A4A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64592"/>
          </a:xfrm>
          <a:prstGeom prst="rect">
            <a:avLst/>
          </a:prstGeom>
          <a:solidFill>
            <a:srgbClr val="7A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972800" cy="4572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800" b="1">
                <a:solidFill>
                  <a:srgbClr val="212121"/>
                </a:solidFill>
              </a:rPr>
              <a:t>Run A — PDE Residual on Collocation Points</a:t>
            </a:r>
            <a:endParaRPr sz="2800" b="1">
              <a:solidFill>
                <a:srgbClr val="212121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0972800" cy="2743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1200">
                <a:solidFill>
                  <a:srgbClr val="4A4A4A"/>
                </a:solidFill>
              </a:rPr>
              <a:t>Where the trained PINN still violates Navier–Stokes</a:t>
            </a:r>
            <a:endParaRPr sz="1200">
              <a:solidFill>
                <a:srgbClr val="4A4A4A"/>
              </a:solidFill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48640" y="1188720"/>
            <a:ext cx="11064240" cy="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03_pde_residual_map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325880"/>
            <a:ext cx="7680960" cy="2606040"/>
          </a:xfrm>
          <a:prstGeom prst="rect">
            <a:avLst/>
          </a:prstGeom>
        </p:spPr>
      </p:pic>
      <p:pic>
        <p:nvPicPr>
          <p:cNvPr id="8" name="Picture 7" descr="04_pde_residual_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160520"/>
            <a:ext cx="7680960" cy="21945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183879" y="1325880"/>
            <a:ext cx="3749039" cy="5074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66759" y="1417320"/>
            <a:ext cx="3383279" cy="2743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1300" b="1">
                <a:solidFill>
                  <a:srgbClr val="212121"/>
                </a:solidFill>
              </a:rPr>
              <a:t>Compatibility</a:t>
            </a:r>
            <a:endParaRPr sz="1300" b="1">
              <a:solidFill>
                <a:srgbClr val="212121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366760" y="1828800"/>
            <a:ext cx="338328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pde_rmse_mag</a:t>
            </a:r>
            <a:endParaRPr sz="1100" b="0">
              <a:solidFill>
                <a:srgbClr val="4A4A4A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7A1B1B"/>
                </a:solidFill>
                <a:latin typeface="Calibri"/>
              </a:rPr>
              <a:t>3.66·10⁻¹</a:t>
            </a:r>
            <a:endParaRPr sz="1100" b="0">
              <a:solidFill>
                <a:srgbClr val="7A1B1B"/>
              </a:solidFill>
              <a:latin typeface="Calibri"/>
            </a:endParaRPr>
          </a:p>
          <a:p>
            <a:pPr algn="l"/>
          </a:p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near_cyl_pde_rmse_mag</a:t>
            </a:r>
            <a:endParaRPr sz="1100" b="0">
              <a:solidFill>
                <a:srgbClr val="4A4A4A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7A1B1B"/>
                </a:solidFill>
                <a:latin typeface="Calibri"/>
              </a:rPr>
              <a:t>8.53·10⁻¹    (×15 of far)</a:t>
            </a:r>
            <a:endParaRPr sz="1100" b="0">
              <a:solidFill>
                <a:srgbClr val="7A1B1B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far_pde_rmse_mag</a:t>
            </a:r>
            <a:endParaRPr sz="1100" b="0">
              <a:solidFill>
                <a:srgbClr val="4A4A4A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7A1B1B"/>
                </a:solidFill>
                <a:latin typeface="Calibri"/>
              </a:rPr>
              <a:t>5.75·10⁻²</a:t>
            </a:r>
            <a:endParaRPr sz="1100" b="0">
              <a:solidFill>
                <a:srgbClr val="7A1B1B"/>
              </a:solidFill>
              <a:latin typeface="Calibri"/>
            </a:endParaRPr>
          </a:p>
          <a:p>
            <a:pPr algn="l"/>
          </a:p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pde_p99_mag</a:t>
            </a:r>
            <a:endParaRPr sz="1100" b="0">
              <a:solidFill>
                <a:srgbClr val="4A4A4A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7A1B1B"/>
                </a:solidFill>
                <a:latin typeface="Calibri"/>
              </a:rPr>
              <a:t>2.00·10⁰</a:t>
            </a:r>
            <a:endParaRPr sz="1100" b="0">
              <a:solidFill>
                <a:srgbClr val="7A1B1B"/>
              </a:solidFill>
              <a:latin typeface="Calibri"/>
            </a:endParaRPr>
          </a:p>
          <a:p>
            <a:pPr algn="l"/>
          </a:p>
          <a:p>
            <a:pPr algn="l"/>
            <a:r>
              <a:rPr sz="1100" b="0">
                <a:solidFill>
                  <a:srgbClr val="7A1B1B"/>
                </a:solidFill>
                <a:latin typeface="Calibri"/>
              </a:rPr>
              <a:t>Reading the map:</a:t>
            </a:r>
            <a:endParaRPr sz="1100" b="0">
              <a:solidFill>
                <a:srgbClr val="7A1B1B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212121"/>
                </a:solidFill>
                <a:latin typeface="Calibri"/>
              </a:rPr>
              <a:t>bright ring at r≈0.5–1.5</a:t>
            </a:r>
            <a:endParaRPr sz="1100" b="0">
              <a:solidFill>
                <a:srgbClr val="212121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212121"/>
                </a:solidFill>
                <a:latin typeface="Calibri"/>
              </a:rPr>
              <a:t>⇒ unresolved boundary</a:t>
            </a:r>
            <a:endParaRPr sz="1100" b="0">
              <a:solidFill>
                <a:srgbClr val="212121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212121"/>
                </a:solidFill>
                <a:latin typeface="Calibri"/>
              </a:rPr>
              <a:t>layer; same place where</a:t>
            </a:r>
            <a:endParaRPr sz="1100" b="0">
              <a:solidFill>
                <a:srgbClr val="212121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212121"/>
                </a:solidFill>
                <a:latin typeface="Calibri"/>
              </a:rPr>
              <a:t>CFD also fails NS</a:t>
            </a:r>
            <a:endParaRPr sz="1100" b="0">
              <a:solidFill>
                <a:srgbClr val="212121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212121"/>
                </a:solidFill>
                <a:latin typeface="Calibri"/>
              </a:rPr>
              <a:t>(slide 11 / diagnostic).</a:t>
            </a:r>
            <a:endParaRPr sz="1100" b="0">
              <a:solidFill>
                <a:srgbClr val="212121"/>
              </a:solidFill>
              <a:latin typeface="Calibr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57200" y="6400800"/>
            <a:ext cx="731520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l"/>
            <a:r>
              <a:rPr sz="900">
                <a:solidFill>
                  <a:srgbClr val="4A4A4A"/>
                </a:solidFill>
              </a:rPr>
              <a:t>Junhe Chen  |  PINN Cylinder Flow Reconstruction</a:t>
            </a:r>
            <a:endParaRPr sz="900">
              <a:solidFill>
                <a:srgbClr val="4A4A4A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9692640" y="640080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/>
            <a:r>
              <a:rPr sz="900">
                <a:solidFill>
                  <a:srgbClr val="4A4A4A"/>
                </a:solidFill>
              </a:rPr>
              <a:t>Brown University</a:t>
            </a:r>
            <a:endParaRPr sz="900">
              <a:solidFill>
                <a:srgbClr val="4A4A4A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1430000" y="6400800"/>
            <a:ext cx="6400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/>
            <a:r>
              <a:rPr sz="900">
                <a:solidFill>
                  <a:srgbClr val="4A4A4A"/>
                </a:solidFill>
              </a:rPr>
              <a:t>13</a:t>
            </a:r>
            <a:endParaRPr sz="900">
              <a:solidFill>
                <a:srgbClr val="4A4A4A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64592"/>
          </a:xfrm>
          <a:prstGeom prst="rect">
            <a:avLst/>
          </a:prstGeom>
          <a:solidFill>
            <a:srgbClr val="7A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972800" cy="4572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800" b="1">
                <a:solidFill>
                  <a:srgbClr val="212121"/>
                </a:solidFill>
              </a:rPr>
              <a:t>Run A — Boundary-Condition Diagnostics</a:t>
            </a:r>
            <a:endParaRPr sz="2800" b="1">
              <a:solidFill>
                <a:srgbClr val="212121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0972800" cy="2743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1200">
                <a:solidFill>
                  <a:srgbClr val="4A4A4A"/>
                </a:solidFill>
              </a:rPr>
              <a:t>Wall (hard-enforced) vs inlet / top / bottom (soft penalties)</a:t>
            </a:r>
            <a:endParaRPr sz="1200">
              <a:solidFill>
                <a:srgbClr val="4A4A4A"/>
              </a:solidFill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48640" y="1188720"/>
            <a:ext cx="11064240" cy="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05_wall_noslip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325880"/>
            <a:ext cx="11338560" cy="2697480"/>
          </a:xfrm>
          <a:prstGeom prst="rect">
            <a:avLst/>
          </a:prstGeom>
        </p:spPr>
      </p:pic>
      <p:pic>
        <p:nvPicPr>
          <p:cNvPr id="8" name="Picture 7" descr="06_inlet_topbott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114800"/>
            <a:ext cx="11338560" cy="20116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11480" y="6199632"/>
            <a:ext cx="11338560" cy="384048"/>
          </a:xfrm>
          <a:prstGeom prst="roundRect">
            <a:avLst/>
          </a:prstGeom>
          <a:solidFill>
            <a:srgbClr val="FFF6F2"/>
          </a:solidFill>
          <a:ln w="9525">
            <a:solidFill>
              <a:srgbClr val="7A1B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245352"/>
            <a:ext cx="11155680" cy="2926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050" b="1">
                <a:solidFill>
                  <a:srgbClr val="7A1B1B"/>
                </a:solidFill>
                <a:latin typeface="Calibri"/>
              </a:rPr>
              <a:t>Wall:  max|u|=2.0·10⁻⁷, max|v|=1.4·10⁻⁷  (fp32 ε ≈ 6·10⁻⁸ → matches lift-derivation, slide 10).   Inlet rmse(u−1)=0.20, top/bottom 0.17/0.15  ← soft BC weights too low; PINN traded them off vs data.</a:t>
            </a:r>
            <a:endParaRPr sz="1050" b="1">
              <a:solidFill>
                <a:srgbClr val="7A1B1B"/>
              </a:solidFill>
              <a:latin typeface="Calibr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57200" y="6400800"/>
            <a:ext cx="731520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l"/>
            <a:r>
              <a:rPr sz="900">
                <a:solidFill>
                  <a:srgbClr val="4A4A4A"/>
                </a:solidFill>
              </a:rPr>
              <a:t>Junhe Chen  |  PINN Cylinder Flow Reconstruction</a:t>
            </a:r>
            <a:endParaRPr sz="900">
              <a:solidFill>
                <a:srgbClr val="4A4A4A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692640" y="640080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/>
            <a:r>
              <a:rPr sz="900">
                <a:solidFill>
                  <a:srgbClr val="4A4A4A"/>
                </a:solidFill>
              </a:rPr>
              <a:t>Brown University</a:t>
            </a:r>
            <a:endParaRPr sz="900">
              <a:solidFill>
                <a:srgbClr val="4A4A4A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1430000" y="6400800"/>
            <a:ext cx="6400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/>
            <a:r>
              <a:rPr sz="900">
                <a:solidFill>
                  <a:srgbClr val="4A4A4A"/>
                </a:solidFill>
              </a:rPr>
              <a:t>14</a:t>
            </a:r>
            <a:endParaRPr sz="900">
              <a:solidFill>
                <a:srgbClr val="4A4A4A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64592"/>
          </a:xfrm>
          <a:prstGeom prst="rect">
            <a:avLst/>
          </a:prstGeom>
          <a:solidFill>
            <a:srgbClr val="7A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972800" cy="4572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800" b="1">
                <a:solidFill>
                  <a:srgbClr val="212121"/>
                </a:solidFill>
              </a:rPr>
              <a:t>Run A — Vorticity: PINN vs CFD</a:t>
            </a:r>
            <a:endParaRPr sz="2800" b="1">
              <a:solidFill>
                <a:srgbClr val="212121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0972800" cy="2743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1200">
                <a:solidFill>
                  <a:srgbClr val="4A4A4A"/>
                </a:solidFill>
              </a:rPr>
              <a:t>Derivative-level comparison (harder than velocity-level fit)</a:t>
            </a:r>
            <a:endParaRPr sz="1200">
              <a:solidFill>
                <a:srgbClr val="4A4A4A"/>
              </a:solidFill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48640" y="1188720"/>
            <a:ext cx="11064240" cy="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07_vorticity_cf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325880"/>
            <a:ext cx="3840480" cy="2194560"/>
          </a:xfrm>
          <a:prstGeom prst="rect">
            <a:avLst/>
          </a:prstGeom>
        </p:spPr>
      </p:pic>
      <p:pic>
        <p:nvPicPr>
          <p:cNvPr id="8" name="Picture 7" descr="07_vorticity_pin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60" y="1325880"/>
            <a:ext cx="3840480" cy="2194560"/>
          </a:xfrm>
          <a:prstGeom prst="rect">
            <a:avLst/>
          </a:prstGeom>
        </p:spPr>
      </p:pic>
      <p:pic>
        <p:nvPicPr>
          <p:cNvPr id="9" name="Picture 8" descr="07_vorticity_di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0" y="1325880"/>
            <a:ext cx="3840480" cy="2194560"/>
          </a:xfrm>
          <a:prstGeom prst="rect">
            <a:avLst/>
          </a:prstGeom>
        </p:spPr>
      </p:pic>
      <p:pic>
        <p:nvPicPr>
          <p:cNvPr id="10" name="Picture 9" descr="07b_vorticity_cfd_vt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3749039"/>
            <a:ext cx="7680960" cy="256032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183879" y="3840480"/>
            <a:ext cx="3749039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66759" y="3931920"/>
            <a:ext cx="3383279" cy="2743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1300" b="1">
                <a:solidFill>
                  <a:srgbClr val="212121"/>
                </a:solidFill>
              </a:rPr>
              <a:t>Numbers and reading</a:t>
            </a:r>
            <a:endParaRPr sz="1300" b="1">
              <a:solidFill>
                <a:srgbClr val="212121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366760" y="4297680"/>
            <a:ext cx="3383280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50" b="0">
                <a:solidFill>
                  <a:srgbClr val="4A4A4A"/>
                </a:solidFill>
                <a:latin typeface="Calibri"/>
              </a:rPr>
              <a:t>vort_rmse</a:t>
            </a:r>
            <a:endParaRPr sz="1050" b="0">
              <a:solidFill>
                <a:srgbClr val="4A4A4A"/>
              </a:solidFill>
              <a:latin typeface="Calibri"/>
            </a:endParaRPr>
          </a:p>
          <a:p>
            <a:pPr algn="l"/>
            <a:r>
              <a:rPr sz="1050" b="0">
                <a:solidFill>
                  <a:srgbClr val="7A1B1B"/>
                </a:solidFill>
                <a:latin typeface="Calibri"/>
              </a:rPr>
              <a:t>2.71</a:t>
            </a:r>
            <a:endParaRPr sz="1050" b="0">
              <a:solidFill>
                <a:srgbClr val="7A1B1B"/>
              </a:solidFill>
              <a:latin typeface="Calibri"/>
            </a:endParaRPr>
          </a:p>
          <a:p>
            <a:pPr algn="l"/>
          </a:p>
          <a:p>
            <a:pPr algn="l"/>
            <a:r>
              <a:rPr sz="1050" b="0">
                <a:solidFill>
                  <a:srgbClr val="4A4A4A"/>
                </a:solidFill>
                <a:latin typeface="Calibri"/>
              </a:rPr>
              <a:t>vort_max_abs</a:t>
            </a:r>
            <a:endParaRPr sz="1050" b="0">
              <a:solidFill>
                <a:srgbClr val="4A4A4A"/>
              </a:solidFill>
              <a:latin typeface="Calibri"/>
            </a:endParaRPr>
          </a:p>
          <a:p>
            <a:pPr algn="l"/>
            <a:r>
              <a:rPr sz="1050" b="0">
                <a:solidFill>
                  <a:srgbClr val="7A1B1B"/>
                </a:solidFill>
                <a:latin typeface="Calibri"/>
              </a:rPr>
              <a:t>7.86  (CFD peaks at 8.1)</a:t>
            </a:r>
            <a:endParaRPr sz="1050" b="0">
              <a:solidFill>
                <a:srgbClr val="7A1B1B"/>
              </a:solidFill>
              <a:latin typeface="Calibri"/>
            </a:endParaRPr>
          </a:p>
          <a:p>
            <a:pPr algn="l"/>
          </a:p>
          <a:p>
            <a:pPr algn="l"/>
            <a:r>
              <a:rPr sz="1050" b="0">
                <a:solidFill>
                  <a:srgbClr val="7A1B1B"/>
                </a:solidFill>
                <a:latin typeface="Calibri"/>
              </a:rPr>
              <a:t>PINN range: [-4.3, +8.4]</a:t>
            </a:r>
            <a:endParaRPr sz="1050" b="0">
              <a:solidFill>
                <a:srgbClr val="7A1B1B"/>
              </a:solidFill>
              <a:latin typeface="Calibri"/>
            </a:endParaRPr>
          </a:p>
          <a:p>
            <a:pPr algn="l"/>
            <a:r>
              <a:rPr sz="1050" b="0">
                <a:solidFill>
                  <a:srgbClr val="7A1B1B"/>
                </a:solidFill>
                <a:latin typeface="Calibri"/>
              </a:rPr>
              <a:t>CFD range:  [-8.1, +8.1]</a:t>
            </a:r>
            <a:endParaRPr sz="1050" b="0">
              <a:solidFill>
                <a:srgbClr val="7A1B1B"/>
              </a:solidFill>
              <a:latin typeface="Calibri"/>
            </a:endParaRPr>
          </a:p>
          <a:p>
            <a:pPr algn="l"/>
          </a:p>
          <a:p>
            <a:pPr algn="l"/>
            <a:r>
              <a:rPr sz="1050" b="0">
                <a:solidFill>
                  <a:srgbClr val="7A1B1B"/>
                </a:solidFill>
                <a:latin typeface="Calibri"/>
              </a:rPr>
              <a:t>PINN under-resolves the</a:t>
            </a:r>
            <a:endParaRPr sz="1050" b="0">
              <a:solidFill>
                <a:srgbClr val="7A1B1B"/>
              </a:solidFill>
              <a:latin typeface="Calibri"/>
            </a:endParaRPr>
          </a:p>
          <a:p>
            <a:pPr algn="l"/>
            <a:r>
              <a:rPr sz="1050" b="0">
                <a:solidFill>
                  <a:srgbClr val="212121"/>
                </a:solidFill>
                <a:latin typeface="Calibri"/>
              </a:rPr>
              <a:t>negative shear lobe.</a:t>
            </a:r>
            <a:endParaRPr sz="1050" b="0">
              <a:solidFill>
                <a:srgbClr val="212121"/>
              </a:solidFill>
              <a:latin typeface="Calibr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57200" y="6400800"/>
            <a:ext cx="731520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l"/>
            <a:r>
              <a:rPr sz="900">
                <a:solidFill>
                  <a:srgbClr val="4A4A4A"/>
                </a:solidFill>
              </a:rPr>
              <a:t>Junhe Chen  |  PINN Cylinder Flow Reconstruction</a:t>
            </a:r>
            <a:endParaRPr sz="900">
              <a:solidFill>
                <a:srgbClr val="4A4A4A"/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9692640" y="640080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/>
            <a:r>
              <a:rPr sz="900">
                <a:solidFill>
                  <a:srgbClr val="4A4A4A"/>
                </a:solidFill>
              </a:rPr>
              <a:t>Brown University</a:t>
            </a:r>
            <a:endParaRPr sz="900">
              <a:solidFill>
                <a:srgbClr val="4A4A4A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1430000" y="6400800"/>
            <a:ext cx="6400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/>
            <a:r>
              <a:rPr sz="900">
                <a:solidFill>
                  <a:srgbClr val="4A4A4A"/>
                </a:solidFill>
              </a:rPr>
              <a:t>15</a:t>
            </a:r>
            <a:endParaRPr sz="900">
              <a:solidFill>
                <a:srgbClr val="4A4A4A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64592"/>
          </a:xfrm>
          <a:prstGeom prst="rect">
            <a:avLst/>
          </a:prstGeom>
          <a:solidFill>
            <a:srgbClr val="7A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972800" cy="4572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800" b="1">
                <a:solidFill>
                  <a:srgbClr val="212121"/>
                </a:solidFill>
              </a:rPr>
              <a:t>Run A vs Run B — Effect of 4× Collocation Points</a:t>
            </a:r>
            <a:endParaRPr sz="2800" b="1">
              <a:solidFill>
                <a:srgbClr val="212121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0972800" cy="2743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1200">
                <a:solidFill>
                  <a:srgbClr val="4A4A4A"/>
                </a:solidFill>
              </a:rPr>
              <a:t>Mentor's first hypothesis: more colloc points → lower loss.  Tested as a controlled A/B.</a:t>
            </a:r>
            <a:endParaRPr sz="1200">
              <a:solidFill>
                <a:srgbClr val="4A4A4A"/>
              </a:solidFill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48640" y="1188720"/>
            <a:ext cx="11064240" cy="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AB_trajectory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280160"/>
            <a:ext cx="7498079" cy="347279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092440" y="1280160"/>
            <a:ext cx="384048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75320" y="1371600"/>
            <a:ext cx="3474720" cy="2743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1300" b="1">
                <a:solidFill>
                  <a:srgbClr val="212121"/>
                </a:solidFill>
              </a:rPr>
              <a:t>Setup</a:t>
            </a:r>
            <a:endParaRPr sz="1300" b="1">
              <a:solidFill>
                <a:srgbClr val="212121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275320" y="1783080"/>
            <a:ext cx="3474720" cy="1554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</a:p>
          <a:p>
            <a:pPr algn="l"/>
            <a:r>
              <a:rPr sz="1000" b="0">
                <a:solidFill>
                  <a:srgbClr val="212121"/>
                </a:solidFill>
                <a:latin typeface="Consolas"/>
              </a:rPr>
              <a:t>           Run A      Run B</a:t>
            </a:r>
            <a:endParaRPr sz="1000" b="0">
              <a:solidFill>
                <a:srgbClr val="212121"/>
              </a:solidFill>
              <a:latin typeface="Consolas"/>
            </a:endParaRPr>
          </a:p>
          <a:p>
            <a:pPr algn="l"/>
            <a:r>
              <a:rPr sz="1000" b="0">
                <a:solidFill>
                  <a:srgbClr val="1E2761"/>
                </a:solidFill>
                <a:latin typeface="Consolas"/>
              </a:rPr>
              <a:t>n_f        20 000     80 000</a:t>
            </a:r>
            <a:endParaRPr sz="1000" b="0">
              <a:solidFill>
                <a:srgbClr val="1E2761"/>
              </a:solidFill>
              <a:latin typeface="Consolas"/>
            </a:endParaRPr>
          </a:p>
          <a:p>
            <a:pPr algn="l"/>
            <a:r>
              <a:rPr sz="1000" b="0">
                <a:solidFill>
                  <a:srgbClr val="1E2761"/>
                </a:solidFill>
                <a:latin typeface="Consolas"/>
              </a:rPr>
              <a:t>n_cfd_pde   4 000     16 000</a:t>
            </a:r>
            <a:endParaRPr sz="1000" b="0">
              <a:solidFill>
                <a:srgbClr val="1E2761"/>
              </a:solidFill>
              <a:latin typeface="Consolas"/>
            </a:endParaRPr>
          </a:p>
          <a:p>
            <a:pPr algn="l"/>
            <a:r>
              <a:rPr sz="1000" b="0">
                <a:solidFill>
                  <a:srgbClr val="4A4A4A"/>
                </a:solidFill>
                <a:latin typeface="Consolas"/>
              </a:rPr>
              <a:t>n_data      8 000      8 000</a:t>
            </a:r>
            <a:endParaRPr sz="1000" b="0">
              <a:solidFill>
                <a:srgbClr val="4A4A4A"/>
              </a:solidFill>
              <a:latin typeface="Consolas"/>
            </a:endParaRPr>
          </a:p>
          <a:p>
            <a:pPr algn="l"/>
            <a:r>
              <a:rPr sz="1000" b="0">
                <a:solidFill>
                  <a:srgbClr val="4A4A4A"/>
                </a:solidFill>
                <a:latin typeface="Consolas"/>
              </a:rPr>
              <a:t>Adam ep.    1 500      1 500</a:t>
            </a:r>
            <a:endParaRPr sz="1000" b="0">
              <a:solidFill>
                <a:srgbClr val="4A4A4A"/>
              </a:solidFill>
              <a:latin typeface="Consolas"/>
            </a:endParaRPr>
          </a:p>
          <a:p>
            <a:pPr algn="l"/>
            <a:r>
              <a:rPr sz="1000" b="0">
                <a:solidFill>
                  <a:srgbClr val="4A4A4A"/>
                </a:solidFill>
                <a:latin typeface="Consolas"/>
              </a:rPr>
              <a:t>BFGS calls    500       500</a:t>
            </a:r>
            <a:endParaRPr sz="1000" b="0">
              <a:solidFill>
                <a:srgbClr val="4A4A4A"/>
              </a:solidFill>
              <a:latin typeface="Consolas"/>
            </a:endParaRPr>
          </a:p>
          <a:p>
            <a:pPr algn="l"/>
            <a:r>
              <a:rPr sz="1000" b="0">
                <a:solidFill>
                  <a:srgbClr val="4A4A4A"/>
                </a:solidFill>
                <a:latin typeface="Consolas"/>
              </a:rPr>
              <a:t>network    96/5       96/5</a:t>
            </a:r>
            <a:endParaRPr sz="1000" b="0">
              <a:solidFill>
                <a:srgbClr val="4A4A4A"/>
              </a:solidFill>
              <a:latin typeface="Consolas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092440" y="3383280"/>
            <a:ext cx="38404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3474720"/>
            <a:ext cx="3474720" cy="2743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1300" b="1">
                <a:solidFill>
                  <a:srgbClr val="212121"/>
                </a:solidFill>
              </a:rPr>
              <a:t>Result</a:t>
            </a:r>
            <a:endParaRPr sz="1300" b="1">
              <a:solidFill>
                <a:srgbClr val="212121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275320" y="3749039"/>
            <a:ext cx="3474720" cy="1920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7A1B1B"/>
                </a:solidFill>
                <a:latin typeface="Calibri"/>
              </a:rPr>
              <a:t>Training-DATA plateau:</a:t>
            </a:r>
            <a:endParaRPr sz="1000" b="0">
              <a:solidFill>
                <a:srgbClr val="7A1B1B"/>
              </a:solidFill>
              <a:latin typeface="Calibri"/>
            </a:endParaRPr>
          </a:p>
          <a:p>
            <a:pPr algn="l"/>
            <a:r>
              <a:rPr sz="1000" b="0">
                <a:solidFill>
                  <a:srgbClr val="1E2761"/>
                </a:solidFill>
                <a:latin typeface="Calibri"/>
              </a:rPr>
              <a:t>  Run A:  2.32·10⁻⁴</a:t>
            </a:r>
            <a:endParaRPr sz="1000" b="0">
              <a:solidFill>
                <a:srgbClr val="1E2761"/>
              </a:solidFill>
              <a:latin typeface="Calibri"/>
            </a:endParaRPr>
          </a:p>
          <a:p>
            <a:pPr algn="l"/>
            <a:r>
              <a:rPr sz="1000" b="0">
                <a:solidFill>
                  <a:srgbClr val="1E2761"/>
                </a:solidFill>
                <a:latin typeface="Calibri"/>
              </a:rPr>
              <a:t>  Run B:  1.46·10⁻⁴   (1.6×↓)</a:t>
            </a:r>
            <a:endParaRPr sz="1000" b="0">
              <a:solidFill>
                <a:srgbClr val="1E2761"/>
              </a:solidFill>
              <a:latin typeface="Calibri"/>
            </a:endParaRPr>
          </a:p>
          <a:p>
            <a:pPr algn="l"/>
          </a:p>
          <a:p>
            <a:pPr algn="l"/>
            <a:r>
              <a:rPr sz="1000" b="0">
                <a:solidFill>
                  <a:srgbClr val="7A1B1B"/>
                </a:solidFill>
                <a:latin typeface="Calibri"/>
              </a:rPr>
              <a:t>Run A full-mesh eval (4869 pts):</a:t>
            </a:r>
            <a:endParaRPr sz="1000" b="0">
              <a:solidFill>
                <a:srgbClr val="7A1B1B"/>
              </a:solidFill>
              <a:latin typeface="Calibri"/>
            </a:endParaRPr>
          </a:p>
          <a:p>
            <a:pPr algn="l"/>
            <a:r>
              <a:rPr sz="1000" b="0">
                <a:solidFill>
                  <a:srgbClr val="1E2761"/>
                </a:solidFill>
                <a:latin typeface="Calibri"/>
              </a:rPr>
              <a:t>  mae_u = 0.125,  mae_v = 0.068</a:t>
            </a:r>
            <a:endParaRPr sz="1000" b="0">
              <a:solidFill>
                <a:srgbClr val="1E2761"/>
              </a:solidFill>
              <a:latin typeface="Calibri"/>
            </a:endParaRPr>
          </a:p>
          <a:p>
            <a:pPr algn="l"/>
            <a:r>
              <a:rPr sz="1000" b="0">
                <a:solidFill>
                  <a:srgbClr val="1E2761"/>
                </a:solidFill>
                <a:latin typeface="Calibri"/>
              </a:rPr>
              <a:t>  rel_l2_uv = 0.238</a:t>
            </a:r>
            <a:endParaRPr sz="1000" b="0">
              <a:solidFill>
                <a:srgbClr val="1E2761"/>
              </a:solidFill>
              <a:latin typeface="Calibri"/>
            </a:endParaRPr>
          </a:p>
          <a:p>
            <a:pPr algn="l"/>
          </a:p>
          <a:p>
            <a:pPr algn="l"/>
            <a:r>
              <a:rPr sz="1000" b="0">
                <a:solidFill>
                  <a:srgbClr val="7A1B1B"/>
                </a:solidFill>
                <a:latin typeface="Calibri"/>
              </a:rPr>
              <a:t>Run B mae (sqrt-ratio est.):</a:t>
            </a:r>
            <a:endParaRPr sz="1000" b="0">
              <a:solidFill>
                <a:srgbClr val="7A1B1B"/>
              </a:solidFill>
              <a:latin typeface="Calibri"/>
            </a:endParaRPr>
          </a:p>
          <a:p>
            <a:pPr algn="l"/>
            <a:r>
              <a:rPr sz="1000" b="0">
                <a:solidFill>
                  <a:srgbClr val="1E2761"/>
                </a:solidFill>
                <a:latin typeface="Calibri"/>
              </a:rPr>
              <a:t>  mae_u ≈ 0.099,  mae_v ≈ 0.054</a:t>
            </a:r>
            <a:endParaRPr sz="1000" b="0">
              <a:solidFill>
                <a:srgbClr val="1E2761"/>
              </a:solidFill>
              <a:latin typeface="Calibri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411480" y="5669280"/>
            <a:ext cx="11521440" cy="640080"/>
          </a:xfrm>
          <a:prstGeom prst="roundRect">
            <a:avLst/>
          </a:prstGeom>
          <a:solidFill>
            <a:srgbClr val="FFF6F2"/>
          </a:solidFill>
          <a:ln w="9525">
            <a:solidFill>
              <a:srgbClr val="7A1B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5733288"/>
            <a:ext cx="1133856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000" b="1">
                <a:solidFill>
                  <a:srgbClr val="7A1B1B"/>
                </a:solidFill>
                <a:latin typeface="Calibri"/>
              </a:rPr>
              <a:t>4× more colloc points → 1.6× lower training-DATA plateau (2.32→1.46·10⁻⁴);   estimated mae improvement ≈ 21%   (sqrt of ratio).</a:t>
            </a:r>
            <a:endParaRPr sz="1000" b="1">
              <a:solidFill>
                <a:srgbClr val="7A1B1B"/>
              </a:solidFill>
              <a:latin typeface="Calibri"/>
            </a:endParaRPr>
          </a:p>
          <a:p>
            <a:pPr algn="ctr"/>
            <a:r>
              <a:rPr sz="1000" b="1">
                <a:solidFill>
                  <a:srgbClr val="212121"/>
                </a:solidFill>
                <a:latin typeface="Calibri"/>
              </a:rPr>
              <a:t>Eval MAE 0.125 ~ 8× larger than √(training-DATA) = 0.015 — wake-biased sampling masks inlet / far-field error.  Judge by full-mesh eval, not training log.</a:t>
            </a:r>
            <a:endParaRPr sz="1000" b="1">
              <a:solidFill>
                <a:srgbClr val="212121"/>
              </a:solidFill>
              <a:latin typeface="Calibr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11480" y="6355080"/>
            <a:ext cx="11521440" cy="228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000" b="0">
                <a:solidFill>
                  <a:srgbClr val="4A4A4A"/>
                </a:solidFill>
                <a:latin typeface="Calibri"/>
              </a:rPr>
              <a:t>1e-4 absolute MAE remains unreachable while respecting PDE — CFD's own NS residual median ≈ 1·10⁻³ (slide 11).</a:t>
            </a:r>
            <a:endParaRPr sz="1000" b="0">
              <a:solidFill>
                <a:srgbClr val="4A4A4A"/>
              </a:solidFill>
              <a:latin typeface="Calibr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457200" y="6400800"/>
            <a:ext cx="731520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l"/>
            <a:r>
              <a:rPr sz="900">
                <a:solidFill>
                  <a:srgbClr val="4A4A4A"/>
                </a:solidFill>
              </a:rPr>
              <a:t>Junhe Chen  |  PINN Cylinder Flow Reconstruction</a:t>
            </a:r>
            <a:endParaRPr sz="900">
              <a:solidFill>
                <a:srgbClr val="4A4A4A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9692640" y="640080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/>
            <a:r>
              <a:rPr sz="900">
                <a:solidFill>
                  <a:srgbClr val="4A4A4A"/>
                </a:solidFill>
              </a:rPr>
              <a:t>Brown University</a:t>
            </a:r>
            <a:endParaRPr sz="900">
              <a:solidFill>
                <a:srgbClr val="4A4A4A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1430000" y="6400800"/>
            <a:ext cx="6400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/>
            <a:r>
              <a:rPr sz="900">
                <a:solidFill>
                  <a:srgbClr val="4A4A4A"/>
                </a:solidFill>
              </a:rPr>
              <a:t>16</a:t>
            </a:r>
            <a:endParaRPr sz="900">
              <a:solidFill>
                <a:srgbClr val="4A4A4A"/>
              </a:solidFill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3856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E2761"/>
                </a:solidFill>
                <a:latin typeface="Calibri"/>
              </a:rPr>
              <a:t>v2 Experiments At a Glance</a:t>
            </a:r>
            <a:endParaRPr sz="2600" b="1">
              <a:solidFill>
                <a:srgbClr val="1E2761"/>
              </a:solidFill>
              <a:latin typeface="Calibr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11480" y="749808"/>
            <a:ext cx="113385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55E68"/>
                </a:solidFill>
                <a:latin typeface="Calibri"/>
              </a:rPr>
              <a:t>All Re=40 runs since the Run A/B baseline (slide 23); same vtk reference, same domain (-8,12)×(-8,8)</a:t>
            </a:r>
            <a:endParaRPr sz="1300" b="0">
              <a:solidFill>
                <a:srgbClr val="555E68"/>
              </a:solidFill>
              <a:latin typeface="Calibri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411480" y="1097280"/>
            <a:ext cx="11365992" cy="0"/>
          </a:xfrm>
          <a:prstGeom prst="line">
            <a:avLst/>
          </a:prstGeom>
          <a:ln w="9525">
            <a:solidFill>
              <a:srgbClr val="CBD2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452880" y="1151890"/>
          <a:ext cx="8561705" cy="39477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3665"/>
                <a:gridCol w="960120"/>
                <a:gridCol w="2057400"/>
                <a:gridCol w="777240"/>
                <a:gridCol w="1051560"/>
                <a:gridCol w="1051560"/>
                <a:gridCol w="1280160"/>
              </a:tblGrid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setup</a:t>
                      </a:r>
                      <a:endParaRPr sz="1150" b="1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60000" marR="60000" marT="30000" marB="30000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net</a:t>
                      </a:r>
                      <a:endParaRPr sz="1150" b="1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60000" marR="60000" marT="30000" marB="30000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data anchor</a:t>
                      </a:r>
                      <a:endParaRPr sz="1150" b="1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60000" marR="60000" marT="30000" marB="30000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PDE</a:t>
                      </a:r>
                      <a:endParaRPr sz="1150" b="1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60000" marR="60000" marT="30000" marB="30000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mae_u</a:t>
                      </a:r>
                      <a:endParaRPr sz="1150" b="1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60000" marR="60000" marT="30000" marB="30000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mae/P1</a:t>
                      </a:r>
                      <a:endParaRPr sz="1150" b="1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60000" marR="60000" marT="30000" marB="30000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PDE drop</a:t>
                      </a:r>
                      <a:endParaRPr sz="1150" b="1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60000" marR="60000" marT="30000" marB="30000">
                    <a:solidFill>
                      <a:srgbClr val="1E276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1295C"/>
                          </a:solidFill>
                          <a:latin typeface="Calibri"/>
                        </a:rPr>
                        <a:t>A1+A2 two-stage  (early v2 win)</a:t>
                      </a:r>
                      <a:endParaRPr sz="1100" b="1">
                        <a:solidFill>
                          <a:srgbClr val="21295C"/>
                        </a:solidFill>
                        <a:latin typeface="Calibri"/>
                      </a:endParaRPr>
                    </a:p>
                  </a:txBody>
                  <a:tcPr marL="60000" marR="60000" marT="30000" marB="3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95C"/>
                          </a:solidFill>
                          <a:latin typeface="Calibri"/>
                        </a:rPr>
                        <a:t>96 / 5</a:t>
                      </a:r>
                      <a:endParaRPr sz="1100" b="0">
                        <a:solidFill>
                          <a:srgbClr val="21295C"/>
                        </a:solidFill>
                        <a:latin typeface="Calibri"/>
                      </a:endParaRPr>
                    </a:p>
                  </a:txBody>
                  <a:tcPr marL="60000" marR="60000" marT="30000" marB="3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95C"/>
                          </a:solidFill>
                          <a:latin typeface="Calibri"/>
                        </a:rPr>
                        <a:t>10k pts, prio=5 → 0</a:t>
                      </a:r>
                      <a:endParaRPr sz="1100" b="0">
                        <a:solidFill>
                          <a:srgbClr val="21295C"/>
                        </a:solidFill>
                        <a:latin typeface="Calibri"/>
                      </a:endParaRPr>
                    </a:p>
                  </a:txBody>
                  <a:tcPr marL="60000" marR="60000" marT="30000" marB="3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95C"/>
                          </a:solidFill>
                          <a:latin typeface="Calibri"/>
                        </a:rPr>
                        <a:t>20k</a:t>
                      </a:r>
                      <a:endParaRPr sz="1100" b="0">
                        <a:solidFill>
                          <a:srgbClr val="21295C"/>
                        </a:solidFill>
                        <a:latin typeface="Calibri"/>
                      </a:endParaRPr>
                    </a:p>
                  </a:txBody>
                  <a:tcPr marL="60000" marR="60000" marT="30000" marB="3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95C"/>
                          </a:solidFill>
                          <a:latin typeface="Calibri"/>
                        </a:rPr>
                        <a:t>0.047</a:t>
                      </a:r>
                      <a:endParaRPr sz="1100" b="0">
                        <a:solidFill>
                          <a:srgbClr val="21295C"/>
                        </a:solidFill>
                        <a:latin typeface="Calibri"/>
                      </a:endParaRPr>
                    </a:p>
                  </a:txBody>
                  <a:tcPr marL="60000" marR="60000" marT="30000" marB="3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95C"/>
                          </a:solidFill>
                          <a:latin typeface="Calibri"/>
                        </a:rPr>
                        <a:t>—</a:t>
                      </a:r>
                      <a:endParaRPr sz="1100" b="0">
                        <a:solidFill>
                          <a:srgbClr val="21295C"/>
                        </a:solidFill>
                        <a:latin typeface="Calibri"/>
                      </a:endParaRPr>
                    </a:p>
                  </a:txBody>
                  <a:tcPr marL="60000" marR="60000" marT="30000" marB="3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95C"/>
                          </a:solidFill>
                          <a:latin typeface="Calibri"/>
                        </a:rPr>
                        <a:t>—</a:t>
                      </a:r>
                      <a:endParaRPr sz="1100" b="0">
                        <a:solidFill>
                          <a:srgbClr val="21295C"/>
                        </a:solidFill>
                        <a:latin typeface="Calibri"/>
                      </a:endParaRPr>
                    </a:p>
                  </a:txBody>
                  <a:tcPr marL="60000" marR="60000" marT="30000" marB="30000"/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1295C"/>
                          </a:solidFill>
                          <a:latin typeface="Calibri"/>
                        </a:rPr>
                        <a:t>P1 baseline  (data-only, all CFD)</a:t>
                      </a:r>
                      <a:endParaRPr sz="1100" b="1">
                        <a:solidFill>
                          <a:srgbClr val="21295C"/>
                        </a:solidFill>
                        <a:latin typeface="Calibri"/>
                      </a:endParaRPr>
                    </a:p>
                  </a:txBody>
                  <a:tcPr marL="60000" marR="60000" marT="30000" marB="3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95C"/>
                          </a:solidFill>
                          <a:latin typeface="Calibri"/>
                        </a:rPr>
                        <a:t>32 / 3</a:t>
                      </a:r>
                      <a:endParaRPr sz="1100" b="0">
                        <a:solidFill>
                          <a:srgbClr val="21295C"/>
                        </a:solidFill>
                        <a:latin typeface="Calibri"/>
                      </a:endParaRPr>
                    </a:p>
                  </a:txBody>
                  <a:tcPr marL="60000" marR="60000" marT="30000" marB="3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95C"/>
                          </a:solidFill>
                          <a:latin typeface="Calibri"/>
                        </a:rPr>
                        <a:t>all CFD pts</a:t>
                      </a:r>
                      <a:endParaRPr sz="1100" b="0">
                        <a:solidFill>
                          <a:srgbClr val="21295C"/>
                        </a:solidFill>
                        <a:latin typeface="Calibri"/>
                      </a:endParaRPr>
                    </a:p>
                  </a:txBody>
                  <a:tcPr marL="60000" marR="60000" marT="30000" marB="3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95C"/>
                          </a:solidFill>
                          <a:latin typeface="Calibri"/>
                        </a:rPr>
                        <a:t>off</a:t>
                      </a:r>
                      <a:endParaRPr sz="1100" b="0">
                        <a:solidFill>
                          <a:srgbClr val="21295C"/>
                        </a:solidFill>
                        <a:latin typeface="Calibri"/>
                      </a:endParaRPr>
                    </a:p>
                  </a:txBody>
                  <a:tcPr marL="60000" marR="60000" marT="30000" marB="3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95C"/>
                          </a:solidFill>
                          <a:latin typeface="Calibri"/>
                        </a:rPr>
                        <a:t>0.106</a:t>
                      </a:r>
                      <a:endParaRPr sz="1100" b="0">
                        <a:solidFill>
                          <a:srgbClr val="21295C"/>
                        </a:solidFill>
                        <a:latin typeface="Calibri"/>
                      </a:endParaRPr>
                    </a:p>
                  </a:txBody>
                  <a:tcPr marL="60000" marR="60000" marT="30000" marB="3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95C"/>
                          </a:solidFill>
                          <a:latin typeface="Calibri"/>
                        </a:rPr>
                        <a:t>1.00×</a:t>
                      </a:r>
                      <a:endParaRPr sz="1100" b="0">
                        <a:solidFill>
                          <a:srgbClr val="21295C"/>
                        </a:solidFill>
                        <a:latin typeface="Calibri"/>
                      </a:endParaRPr>
                    </a:p>
                  </a:txBody>
                  <a:tcPr marL="60000" marR="60000" marT="30000" marB="3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95C"/>
                          </a:solidFill>
                          <a:latin typeface="Calibri"/>
                        </a:rPr>
                        <a:t>—</a:t>
                      </a:r>
                      <a:endParaRPr sz="1100" b="0">
                        <a:solidFill>
                          <a:srgbClr val="21295C"/>
                        </a:solidFill>
                        <a:latin typeface="Calibri"/>
                      </a:endParaRPr>
                    </a:p>
                  </a:txBody>
                  <a:tcPr marL="60000" marR="60000" marT="30000" marB="30000"/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C12E2A"/>
                          </a:solidFill>
                          <a:latin typeface="Calibri"/>
                        </a:rPr>
                        <a:t>strict consistency  (P2, no data)</a:t>
                      </a:r>
                      <a:endParaRPr sz="1100" b="1">
                        <a:solidFill>
                          <a:srgbClr val="C12E2A"/>
                        </a:solidFill>
                        <a:latin typeface="Calibri"/>
                      </a:endParaRPr>
                    </a:p>
                  </a:txBody>
                  <a:tcPr marL="60000" marR="60000" marT="30000" marB="3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12E2A"/>
                          </a:solidFill>
                          <a:latin typeface="Calibri"/>
                        </a:rPr>
                        <a:t>32 / 3</a:t>
                      </a:r>
                      <a:endParaRPr sz="1100" b="1">
                        <a:solidFill>
                          <a:srgbClr val="C12E2A"/>
                        </a:solidFill>
                        <a:latin typeface="Calibri"/>
                      </a:endParaRPr>
                    </a:p>
                  </a:txBody>
                  <a:tcPr marL="60000" marR="60000" marT="30000" marB="3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12E2A"/>
                          </a:solidFill>
                          <a:latin typeface="Calibri"/>
                        </a:rPr>
                        <a:t>OFF</a:t>
                      </a:r>
                      <a:endParaRPr sz="1100" b="1">
                        <a:solidFill>
                          <a:srgbClr val="C12E2A"/>
                        </a:solidFill>
                        <a:latin typeface="Calibri"/>
                      </a:endParaRPr>
                    </a:p>
                  </a:txBody>
                  <a:tcPr marL="60000" marR="60000" marT="30000" marB="3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12E2A"/>
                          </a:solidFill>
                          <a:latin typeface="Calibri"/>
                        </a:rPr>
                        <a:t>20k</a:t>
                      </a:r>
                      <a:endParaRPr sz="1100" b="1">
                        <a:solidFill>
                          <a:srgbClr val="C12E2A"/>
                        </a:solidFill>
                        <a:latin typeface="Calibri"/>
                      </a:endParaRPr>
                    </a:p>
                  </a:txBody>
                  <a:tcPr marL="60000" marR="60000" marT="30000" marB="3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12E2A"/>
                          </a:solidFill>
                          <a:latin typeface="Calibri"/>
                        </a:rPr>
                        <a:t>0.339</a:t>
                      </a:r>
                      <a:endParaRPr sz="1100" b="1">
                        <a:solidFill>
                          <a:srgbClr val="C12E2A"/>
                        </a:solidFill>
                        <a:latin typeface="Calibri"/>
                      </a:endParaRPr>
                    </a:p>
                  </a:txBody>
                  <a:tcPr marL="60000" marR="60000" marT="30000" marB="3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12E2A"/>
                          </a:solidFill>
                          <a:latin typeface="Calibri"/>
                        </a:rPr>
                        <a:t>3.20×</a:t>
                      </a:r>
                      <a:endParaRPr sz="1100" b="1">
                        <a:solidFill>
                          <a:srgbClr val="C12E2A"/>
                        </a:solidFill>
                        <a:latin typeface="Calibri"/>
                      </a:endParaRPr>
                    </a:p>
                  </a:txBody>
                  <a:tcPr marL="60000" marR="60000" marT="30000" marB="3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12E2A"/>
                          </a:solidFill>
                          <a:latin typeface="Calibri"/>
                        </a:rPr>
                        <a:t>huge (→0)</a:t>
                      </a:r>
                      <a:endParaRPr sz="1100" b="1">
                        <a:solidFill>
                          <a:srgbClr val="C12E2A"/>
                        </a:solidFill>
                        <a:latin typeface="Calibri"/>
                      </a:endParaRPr>
                    </a:p>
                  </a:txBody>
                  <a:tcPr marL="60000" marR="60000" marT="30000" marB="30000"/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1295C"/>
                          </a:solidFill>
                          <a:latin typeface="Calibri"/>
                        </a:rPr>
                        <a:t>weak anchor  (P2, 500 pts)</a:t>
                      </a:r>
                      <a:endParaRPr sz="1100" b="1">
                        <a:solidFill>
                          <a:srgbClr val="21295C"/>
                        </a:solidFill>
                        <a:latin typeface="Calibri"/>
                      </a:endParaRPr>
                    </a:p>
                  </a:txBody>
                  <a:tcPr marL="60000" marR="60000" marT="30000" marB="3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95C"/>
                          </a:solidFill>
                          <a:latin typeface="Calibri"/>
                        </a:rPr>
                        <a:t>32 / 3</a:t>
                      </a:r>
                      <a:endParaRPr sz="1100" b="0">
                        <a:solidFill>
                          <a:srgbClr val="21295C"/>
                        </a:solidFill>
                        <a:latin typeface="Calibri"/>
                      </a:endParaRPr>
                    </a:p>
                  </a:txBody>
                  <a:tcPr marL="60000" marR="60000" marT="30000" marB="3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95C"/>
                          </a:solidFill>
                          <a:latin typeface="Calibri"/>
                        </a:rPr>
                        <a:t>500 pts, prio=0.5</a:t>
                      </a:r>
                      <a:endParaRPr sz="1100" b="0">
                        <a:solidFill>
                          <a:srgbClr val="21295C"/>
                        </a:solidFill>
                        <a:latin typeface="Calibri"/>
                      </a:endParaRPr>
                    </a:p>
                  </a:txBody>
                  <a:tcPr marL="60000" marR="60000" marT="30000" marB="3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95C"/>
                          </a:solidFill>
                          <a:latin typeface="Calibri"/>
                        </a:rPr>
                        <a:t>20k</a:t>
                      </a:r>
                      <a:endParaRPr sz="1100" b="0">
                        <a:solidFill>
                          <a:srgbClr val="21295C"/>
                        </a:solidFill>
                        <a:latin typeface="Calibri"/>
                      </a:endParaRPr>
                    </a:p>
                  </a:txBody>
                  <a:tcPr marL="60000" marR="60000" marT="30000" marB="3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95C"/>
                          </a:solidFill>
                          <a:latin typeface="Calibri"/>
                        </a:rPr>
                        <a:t>0.174</a:t>
                      </a:r>
                      <a:endParaRPr sz="1100" b="0">
                        <a:solidFill>
                          <a:srgbClr val="21295C"/>
                        </a:solidFill>
                        <a:latin typeface="Calibri"/>
                      </a:endParaRPr>
                    </a:p>
                  </a:txBody>
                  <a:tcPr marL="60000" marR="60000" marT="30000" marB="3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95C"/>
                          </a:solidFill>
                          <a:latin typeface="Calibri"/>
                        </a:rPr>
                        <a:t>1.64×</a:t>
                      </a:r>
                      <a:endParaRPr sz="1100" b="0">
                        <a:solidFill>
                          <a:srgbClr val="21295C"/>
                        </a:solidFill>
                        <a:latin typeface="Calibri"/>
                      </a:endParaRPr>
                    </a:p>
                  </a:txBody>
                  <a:tcPr marL="60000" marR="60000" marT="30000" marB="3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95C"/>
                          </a:solidFill>
                          <a:latin typeface="Calibri"/>
                        </a:rPr>
                        <a:t>—</a:t>
                      </a:r>
                      <a:endParaRPr sz="1100" b="0">
                        <a:solidFill>
                          <a:srgbClr val="21295C"/>
                        </a:solidFill>
                        <a:latin typeface="Calibri"/>
                      </a:endParaRPr>
                    </a:p>
                  </a:txBody>
                  <a:tcPr marL="60000" marR="60000" marT="30000" marB="30000"/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1295C"/>
                          </a:solidFill>
                          <a:latin typeface="Calibri"/>
                        </a:rPr>
                        <a:t>all-CFD anchor  (P2, prio=0.5)</a:t>
                      </a:r>
                      <a:endParaRPr sz="1100" b="1">
                        <a:solidFill>
                          <a:srgbClr val="21295C"/>
                        </a:solidFill>
                        <a:latin typeface="Calibri"/>
                      </a:endParaRPr>
                    </a:p>
                  </a:txBody>
                  <a:tcPr marL="60000" marR="60000" marT="30000" marB="3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95C"/>
                          </a:solidFill>
                          <a:latin typeface="Calibri"/>
                        </a:rPr>
                        <a:t>32 / 3</a:t>
                      </a:r>
                      <a:endParaRPr sz="1100" b="0">
                        <a:solidFill>
                          <a:srgbClr val="21295C"/>
                        </a:solidFill>
                        <a:latin typeface="Calibri"/>
                      </a:endParaRPr>
                    </a:p>
                  </a:txBody>
                  <a:tcPr marL="60000" marR="60000" marT="30000" marB="3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95C"/>
                          </a:solidFill>
                          <a:latin typeface="Calibri"/>
                        </a:rPr>
                        <a:t>all CFD pts</a:t>
                      </a:r>
                      <a:endParaRPr sz="1100" b="0">
                        <a:solidFill>
                          <a:srgbClr val="21295C"/>
                        </a:solidFill>
                        <a:latin typeface="Calibri"/>
                      </a:endParaRPr>
                    </a:p>
                  </a:txBody>
                  <a:tcPr marL="60000" marR="60000" marT="30000" marB="3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95C"/>
                          </a:solidFill>
                          <a:latin typeface="Calibri"/>
                        </a:rPr>
                        <a:t>20k</a:t>
                      </a:r>
                      <a:endParaRPr sz="1100" b="0">
                        <a:solidFill>
                          <a:srgbClr val="21295C"/>
                        </a:solidFill>
                        <a:latin typeface="Calibri"/>
                      </a:endParaRPr>
                    </a:p>
                  </a:txBody>
                  <a:tcPr marL="60000" marR="60000" marT="30000" marB="3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95C"/>
                          </a:solidFill>
                          <a:latin typeface="Calibri"/>
                        </a:rPr>
                        <a:t>0.157</a:t>
                      </a:r>
                      <a:endParaRPr sz="1100" b="0">
                        <a:solidFill>
                          <a:srgbClr val="21295C"/>
                        </a:solidFill>
                        <a:latin typeface="Calibri"/>
                      </a:endParaRPr>
                    </a:p>
                  </a:txBody>
                  <a:tcPr marL="60000" marR="60000" marT="30000" marB="3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95C"/>
                          </a:solidFill>
                          <a:latin typeface="Calibri"/>
                        </a:rPr>
                        <a:t>1.48×</a:t>
                      </a:r>
                      <a:endParaRPr sz="1100" b="0">
                        <a:solidFill>
                          <a:srgbClr val="21295C"/>
                        </a:solidFill>
                        <a:latin typeface="Calibri"/>
                      </a:endParaRPr>
                    </a:p>
                  </a:txBody>
                  <a:tcPr marL="60000" marR="60000" marT="30000" marB="3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95C"/>
                          </a:solidFill>
                          <a:latin typeface="Calibri"/>
                        </a:rPr>
                        <a:t>1.57×</a:t>
                      </a:r>
                      <a:endParaRPr sz="1100" b="0">
                        <a:solidFill>
                          <a:srgbClr val="21295C"/>
                        </a:solidFill>
                        <a:latin typeface="Calibri"/>
                      </a:endParaRPr>
                    </a:p>
                  </a:txBody>
                  <a:tcPr marL="60000" marR="60000" marT="30000" marB="30000"/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1295C"/>
                          </a:solidFill>
                          <a:latin typeface="Calibri"/>
                        </a:rPr>
                        <a:t>all-CFD anchor  (P2, prio=1.0)</a:t>
                      </a:r>
                      <a:endParaRPr sz="1100" b="1">
                        <a:solidFill>
                          <a:srgbClr val="21295C"/>
                        </a:solidFill>
                        <a:latin typeface="Calibri"/>
                      </a:endParaRPr>
                    </a:p>
                  </a:txBody>
                  <a:tcPr marL="60000" marR="60000" marT="30000" marB="3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95C"/>
                          </a:solidFill>
                          <a:latin typeface="Calibri"/>
                        </a:rPr>
                        <a:t>32 / 3</a:t>
                      </a:r>
                      <a:endParaRPr sz="1100" b="0">
                        <a:solidFill>
                          <a:srgbClr val="21295C"/>
                        </a:solidFill>
                        <a:latin typeface="Calibri"/>
                      </a:endParaRPr>
                    </a:p>
                  </a:txBody>
                  <a:tcPr marL="60000" marR="60000" marT="30000" marB="3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95C"/>
                          </a:solidFill>
                          <a:latin typeface="Calibri"/>
                        </a:rPr>
                        <a:t>all CFD pts</a:t>
                      </a:r>
                      <a:endParaRPr sz="1100" b="0">
                        <a:solidFill>
                          <a:srgbClr val="21295C"/>
                        </a:solidFill>
                        <a:latin typeface="Calibri"/>
                      </a:endParaRPr>
                    </a:p>
                  </a:txBody>
                  <a:tcPr marL="60000" marR="60000" marT="30000" marB="3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95C"/>
                          </a:solidFill>
                          <a:latin typeface="Calibri"/>
                        </a:rPr>
                        <a:t>20k</a:t>
                      </a:r>
                      <a:endParaRPr sz="1100" b="0">
                        <a:solidFill>
                          <a:srgbClr val="21295C"/>
                        </a:solidFill>
                        <a:latin typeface="Calibri"/>
                      </a:endParaRPr>
                    </a:p>
                  </a:txBody>
                  <a:tcPr marL="60000" marR="60000" marT="30000" marB="3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95C"/>
                          </a:solidFill>
                          <a:latin typeface="Calibri"/>
                        </a:rPr>
                        <a:t>0.141</a:t>
                      </a:r>
                      <a:endParaRPr sz="1100" b="0">
                        <a:solidFill>
                          <a:srgbClr val="21295C"/>
                        </a:solidFill>
                        <a:latin typeface="Calibri"/>
                      </a:endParaRPr>
                    </a:p>
                  </a:txBody>
                  <a:tcPr marL="60000" marR="60000" marT="30000" marB="3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95C"/>
                          </a:solidFill>
                          <a:latin typeface="Calibri"/>
                        </a:rPr>
                        <a:t>1.33×</a:t>
                      </a:r>
                      <a:endParaRPr sz="1100" b="0">
                        <a:solidFill>
                          <a:srgbClr val="21295C"/>
                        </a:solidFill>
                        <a:latin typeface="Calibri"/>
                      </a:endParaRPr>
                    </a:p>
                  </a:txBody>
                  <a:tcPr marL="60000" marR="60000" marT="30000" marB="3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95C"/>
                          </a:solidFill>
                          <a:latin typeface="Calibri"/>
                        </a:rPr>
                        <a:t>1.45×</a:t>
                      </a:r>
                      <a:endParaRPr sz="1100" b="0">
                        <a:solidFill>
                          <a:srgbClr val="21295C"/>
                        </a:solidFill>
                        <a:latin typeface="Calibri"/>
                      </a:endParaRPr>
                    </a:p>
                  </a:txBody>
                  <a:tcPr marL="60000" marR="60000" marT="30000" marB="30000"/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1295C"/>
                          </a:solidFill>
                          <a:latin typeface="Calibri"/>
                        </a:rPr>
                        <a:t>all-CFD anchor  (P2, prio=2.0)</a:t>
                      </a:r>
                      <a:endParaRPr sz="1100" b="1">
                        <a:solidFill>
                          <a:srgbClr val="21295C"/>
                        </a:solidFill>
                        <a:latin typeface="Calibri"/>
                      </a:endParaRPr>
                    </a:p>
                  </a:txBody>
                  <a:tcPr marL="60000" marR="60000" marT="30000" marB="3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95C"/>
                          </a:solidFill>
                          <a:latin typeface="Calibri"/>
                        </a:rPr>
                        <a:t>32 / 3</a:t>
                      </a:r>
                      <a:endParaRPr sz="1100" b="0">
                        <a:solidFill>
                          <a:srgbClr val="21295C"/>
                        </a:solidFill>
                        <a:latin typeface="Calibri"/>
                      </a:endParaRPr>
                    </a:p>
                  </a:txBody>
                  <a:tcPr marL="60000" marR="60000" marT="30000" marB="3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95C"/>
                          </a:solidFill>
                          <a:latin typeface="Calibri"/>
                        </a:rPr>
                        <a:t>all CFD pts</a:t>
                      </a:r>
                      <a:endParaRPr sz="1100" b="0">
                        <a:solidFill>
                          <a:srgbClr val="21295C"/>
                        </a:solidFill>
                        <a:latin typeface="Calibri"/>
                      </a:endParaRPr>
                    </a:p>
                  </a:txBody>
                  <a:tcPr marL="60000" marR="60000" marT="30000" marB="3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95C"/>
                          </a:solidFill>
                          <a:latin typeface="Calibri"/>
                        </a:rPr>
                        <a:t>20k</a:t>
                      </a:r>
                      <a:endParaRPr sz="1100" b="0">
                        <a:solidFill>
                          <a:srgbClr val="21295C"/>
                        </a:solidFill>
                        <a:latin typeface="Calibri"/>
                      </a:endParaRPr>
                    </a:p>
                  </a:txBody>
                  <a:tcPr marL="60000" marR="60000" marT="30000" marB="3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95C"/>
                          </a:solidFill>
                          <a:latin typeface="Calibri"/>
                        </a:rPr>
                        <a:t>0.128</a:t>
                      </a:r>
                      <a:endParaRPr sz="1100" b="0">
                        <a:solidFill>
                          <a:srgbClr val="21295C"/>
                        </a:solidFill>
                        <a:latin typeface="Calibri"/>
                      </a:endParaRPr>
                    </a:p>
                  </a:txBody>
                  <a:tcPr marL="60000" marR="60000" marT="30000" marB="3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95C"/>
                          </a:solidFill>
                          <a:latin typeface="Calibri"/>
                        </a:rPr>
                        <a:t>1.21×</a:t>
                      </a:r>
                      <a:endParaRPr sz="1100" b="0">
                        <a:solidFill>
                          <a:srgbClr val="21295C"/>
                        </a:solidFill>
                        <a:latin typeface="Calibri"/>
                      </a:endParaRPr>
                    </a:p>
                  </a:txBody>
                  <a:tcPr marL="60000" marR="60000" marT="30000" marB="3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95C"/>
                          </a:solidFill>
                          <a:latin typeface="Calibri"/>
                        </a:rPr>
                        <a:t>1.17×</a:t>
                      </a:r>
                      <a:endParaRPr sz="1100" b="0">
                        <a:solidFill>
                          <a:srgbClr val="21295C"/>
                        </a:solidFill>
                        <a:latin typeface="Calibri"/>
                      </a:endParaRPr>
                    </a:p>
                  </a:txBody>
                  <a:tcPr marL="60000" marR="60000" marT="30000" marB="30000"/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1295C"/>
                          </a:solidFill>
                          <a:latin typeface="Calibri"/>
                        </a:rPr>
                        <a:t>all-CFD anchor  (P2, prio=5.0)</a:t>
                      </a:r>
                      <a:endParaRPr sz="1100" b="1">
                        <a:solidFill>
                          <a:srgbClr val="21295C"/>
                        </a:solidFill>
                        <a:latin typeface="Calibri"/>
                      </a:endParaRPr>
                    </a:p>
                  </a:txBody>
                  <a:tcPr marL="60000" marR="60000" marT="30000" marB="3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95C"/>
                          </a:solidFill>
                          <a:latin typeface="Calibri"/>
                        </a:rPr>
                        <a:t>32 / 3</a:t>
                      </a:r>
                      <a:endParaRPr sz="1100" b="0">
                        <a:solidFill>
                          <a:srgbClr val="21295C"/>
                        </a:solidFill>
                        <a:latin typeface="Calibri"/>
                      </a:endParaRPr>
                    </a:p>
                  </a:txBody>
                  <a:tcPr marL="60000" marR="60000" marT="30000" marB="3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95C"/>
                          </a:solidFill>
                          <a:latin typeface="Calibri"/>
                        </a:rPr>
                        <a:t>all CFD pts</a:t>
                      </a:r>
                      <a:endParaRPr sz="1100" b="0">
                        <a:solidFill>
                          <a:srgbClr val="21295C"/>
                        </a:solidFill>
                        <a:latin typeface="Calibri"/>
                      </a:endParaRPr>
                    </a:p>
                  </a:txBody>
                  <a:tcPr marL="60000" marR="60000" marT="30000" marB="3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95C"/>
                          </a:solidFill>
                          <a:latin typeface="Calibri"/>
                        </a:rPr>
                        <a:t>20k</a:t>
                      </a:r>
                      <a:endParaRPr sz="1100" b="0">
                        <a:solidFill>
                          <a:srgbClr val="21295C"/>
                        </a:solidFill>
                        <a:latin typeface="Calibri"/>
                      </a:endParaRPr>
                    </a:p>
                  </a:txBody>
                  <a:tcPr marL="60000" marR="60000" marT="30000" marB="3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95C"/>
                          </a:solidFill>
                          <a:latin typeface="Calibri"/>
                        </a:rPr>
                        <a:t>0.118</a:t>
                      </a:r>
                      <a:endParaRPr sz="1100" b="0">
                        <a:solidFill>
                          <a:srgbClr val="21295C"/>
                        </a:solidFill>
                        <a:latin typeface="Calibri"/>
                      </a:endParaRPr>
                    </a:p>
                  </a:txBody>
                  <a:tcPr marL="60000" marR="60000" marT="30000" marB="3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95C"/>
                          </a:solidFill>
                          <a:latin typeface="Calibri"/>
                        </a:rPr>
                        <a:t>1.11×</a:t>
                      </a:r>
                      <a:endParaRPr sz="1100" b="0">
                        <a:solidFill>
                          <a:srgbClr val="21295C"/>
                        </a:solidFill>
                        <a:latin typeface="Calibri"/>
                      </a:endParaRPr>
                    </a:p>
                  </a:txBody>
                  <a:tcPr marL="60000" marR="60000" marT="30000" marB="3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95C"/>
                          </a:solidFill>
                          <a:latin typeface="Calibri"/>
                        </a:rPr>
                        <a:t>0.95×</a:t>
                      </a:r>
                      <a:endParaRPr sz="1100" b="0">
                        <a:solidFill>
                          <a:srgbClr val="21295C"/>
                        </a:solidFill>
                        <a:latin typeface="Calibri"/>
                      </a:endParaRPr>
                    </a:p>
                  </a:txBody>
                  <a:tcPr marL="60000" marR="60000" marT="30000" marB="30000"/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1295C"/>
                          </a:solidFill>
                          <a:latin typeface="Calibri"/>
                        </a:rPr>
                        <a:t>scale-up  (P2, prio=2.0)</a:t>
                      </a:r>
                      <a:endParaRPr sz="1100" b="1">
                        <a:solidFill>
                          <a:srgbClr val="21295C"/>
                        </a:solidFill>
                        <a:latin typeface="Calibri"/>
                      </a:endParaRPr>
                    </a:p>
                  </a:txBody>
                  <a:tcPr marL="60000" marR="60000" marT="30000" marB="3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95C"/>
                          </a:solidFill>
                          <a:latin typeface="Calibri"/>
                        </a:rPr>
                        <a:t>64 / 4</a:t>
                      </a:r>
                      <a:endParaRPr sz="1100" b="0">
                        <a:solidFill>
                          <a:srgbClr val="21295C"/>
                        </a:solidFill>
                        <a:latin typeface="Calibri"/>
                      </a:endParaRPr>
                    </a:p>
                  </a:txBody>
                  <a:tcPr marL="60000" marR="60000" marT="30000" marB="3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95C"/>
                          </a:solidFill>
                          <a:latin typeface="Calibri"/>
                        </a:rPr>
                        <a:t>all CFD pts</a:t>
                      </a:r>
                      <a:endParaRPr sz="1100" b="0">
                        <a:solidFill>
                          <a:srgbClr val="21295C"/>
                        </a:solidFill>
                        <a:latin typeface="Calibri"/>
                      </a:endParaRPr>
                    </a:p>
                  </a:txBody>
                  <a:tcPr marL="60000" marR="60000" marT="30000" marB="3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95C"/>
                          </a:solidFill>
                          <a:latin typeface="Calibri"/>
                        </a:rPr>
                        <a:t>20k</a:t>
                      </a:r>
                      <a:endParaRPr sz="1100" b="0">
                        <a:solidFill>
                          <a:srgbClr val="21295C"/>
                        </a:solidFill>
                        <a:latin typeface="Calibri"/>
                      </a:endParaRPr>
                    </a:p>
                  </a:txBody>
                  <a:tcPr marL="60000" marR="60000" marT="30000" marB="3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95C"/>
                          </a:solidFill>
                          <a:latin typeface="Calibri"/>
                        </a:rPr>
                        <a:t>0.021</a:t>
                      </a:r>
                      <a:endParaRPr sz="1100" b="0">
                        <a:solidFill>
                          <a:srgbClr val="21295C"/>
                        </a:solidFill>
                        <a:latin typeface="Calibri"/>
                      </a:endParaRPr>
                    </a:p>
                  </a:txBody>
                  <a:tcPr marL="60000" marR="60000" marT="30000" marB="3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95C"/>
                          </a:solidFill>
                          <a:latin typeface="Calibri"/>
                        </a:rPr>
                        <a:t>1.15×</a:t>
                      </a:r>
                      <a:endParaRPr sz="1100" b="0">
                        <a:solidFill>
                          <a:srgbClr val="21295C"/>
                        </a:solidFill>
                        <a:latin typeface="Calibri"/>
                      </a:endParaRPr>
                    </a:p>
                  </a:txBody>
                  <a:tcPr marL="60000" marR="60000" marT="30000" marB="3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95C"/>
                          </a:solidFill>
                          <a:latin typeface="Calibri"/>
                        </a:rPr>
                        <a:t>5.97×</a:t>
                      </a:r>
                      <a:endParaRPr sz="1100" b="0">
                        <a:solidFill>
                          <a:srgbClr val="21295C"/>
                        </a:solidFill>
                        <a:latin typeface="Calibri"/>
                      </a:endParaRPr>
                    </a:p>
                  </a:txBody>
                  <a:tcPr marL="60000" marR="60000" marT="30000" marB="30000"/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11480" y="5349240"/>
            <a:ext cx="11247120" cy="1051560"/>
          </a:xfrm>
          <a:prstGeom prst="rect">
            <a:avLst/>
          </a:prstGeom>
          <a:solidFill>
            <a:srgbClr val="F2F4F8"/>
          </a:solidFill>
          <a:ln w="9525">
            <a:solidFill>
              <a:srgbClr val="CBD2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5468112"/>
            <a:ext cx="10789920" cy="416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21295C"/>
                </a:solidFill>
                <a:latin typeface="Calibri"/>
              </a:rPr>
              <a:t>Only the scale-up row clears both columns.  All-CFD-anchor at the small net keeps the field within ~1.5× P1 but PDE barely drops; removing data (red row) lets PDE drop hard but the field collapses 3.2×.</a:t>
            </a:r>
            <a:endParaRPr sz="1150" b="0">
              <a:solidFill>
                <a:srgbClr val="21295C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1148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55E68"/>
                </a:solidFill>
                <a:latin typeface="Calibri"/>
              </a:rPr>
              <a:t>Junhe Chen  |  PINN Cylinder Flow Reconstruction  |  Brown University</a:t>
            </a:r>
            <a:endParaRPr sz="900" b="0">
              <a:solidFill>
                <a:srgbClr val="555E68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972800" y="6446520"/>
            <a:ext cx="7132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55E68"/>
                </a:solidFill>
                <a:latin typeface="Calibri"/>
              </a:rPr>
              <a:t>24</a:t>
            </a:r>
            <a:endParaRPr sz="900" b="0">
              <a:solidFill>
                <a:srgbClr val="555E68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3856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E2761"/>
                </a:solidFill>
                <a:latin typeface="Calibri"/>
              </a:rPr>
              <a:t>Strict Consistency (P2 with no data) — Trivial Attractor</a:t>
            </a:r>
            <a:endParaRPr sz="2600" b="1">
              <a:solidFill>
                <a:srgbClr val="1E2761"/>
              </a:solidFill>
              <a:latin typeface="Calibr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11480" y="749808"/>
            <a:ext cx="113385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55E68"/>
                </a:solidFill>
                <a:latin typeface="Calibri"/>
              </a:rPr>
              <a:t>width=32, depth=3.   Phase 1 = data only;  Phase 2 = PDE only (n_f=20k).</a:t>
            </a:r>
            <a:endParaRPr sz="1300" b="0">
              <a:solidFill>
                <a:srgbClr val="555E68"/>
              </a:solidFill>
              <a:latin typeface="Calibri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411480" y="1097280"/>
            <a:ext cx="11365992" cy="0"/>
          </a:xfrm>
          <a:prstGeom prst="line">
            <a:avLst/>
          </a:prstGeom>
          <a:ln w="9525">
            <a:solidFill>
              <a:srgbClr val="CBD2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11480" y="1325880"/>
            <a:ext cx="2674620" cy="1143000"/>
          </a:xfrm>
          <a:prstGeom prst="rect">
            <a:avLst/>
          </a:prstGeom>
          <a:solidFill>
            <a:srgbClr val="F2F4F8"/>
          </a:solidFill>
          <a:ln w="9525">
            <a:solidFill>
              <a:srgbClr val="CBD2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24003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55E68"/>
                </a:solidFill>
                <a:latin typeface="Calibri"/>
              </a:rPr>
              <a:t>P1 mae_u  (data-only)</a:t>
            </a:r>
            <a:endParaRPr sz="1000" b="1">
              <a:solidFill>
                <a:srgbClr val="555E68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24003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1F7A3C"/>
                </a:solidFill>
                <a:latin typeface="Calibri"/>
              </a:rPr>
              <a:t>0.106</a:t>
            </a:r>
            <a:endParaRPr sz="2200" b="1">
              <a:solidFill>
                <a:srgbClr val="1F7A3C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24003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55E68"/>
                </a:solidFill>
                <a:latin typeface="Calibri"/>
              </a:rPr>
              <a:t>baseline</a:t>
            </a:r>
            <a:endParaRPr sz="1000" b="0">
              <a:solidFill>
                <a:srgbClr val="555E68"/>
              </a:solidFill>
              <a:latin typeface="Calibr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268980" y="1325880"/>
            <a:ext cx="2674620" cy="1143000"/>
          </a:xfrm>
          <a:prstGeom prst="rect">
            <a:avLst/>
          </a:prstGeom>
          <a:solidFill>
            <a:srgbClr val="F2F4F8"/>
          </a:solidFill>
          <a:ln w="9525">
            <a:solidFill>
              <a:srgbClr val="CBD2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406140" y="1417320"/>
            <a:ext cx="24003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55E68"/>
                </a:solidFill>
                <a:latin typeface="Calibri"/>
              </a:rPr>
              <a:t>P2 mae_u  (no data)</a:t>
            </a:r>
            <a:endParaRPr sz="1000" b="1">
              <a:solidFill>
                <a:srgbClr val="555E68"/>
              </a:solidFill>
              <a:latin typeface="Calibr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406140" y="1691640"/>
            <a:ext cx="24003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12E2A"/>
                </a:solidFill>
                <a:latin typeface="Calibri"/>
              </a:rPr>
              <a:t>0.339</a:t>
            </a:r>
            <a:endParaRPr sz="2200" b="1">
              <a:solidFill>
                <a:srgbClr val="C12E2A"/>
              </a:solidFill>
              <a:latin typeface="Calibr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406140" y="2148840"/>
            <a:ext cx="24003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55E68"/>
                </a:solidFill>
                <a:latin typeface="Calibri"/>
              </a:rPr>
              <a:t>3.2× drift</a:t>
            </a:r>
            <a:endParaRPr sz="1000" b="0">
              <a:solidFill>
                <a:srgbClr val="555E68"/>
              </a:solidFill>
              <a:latin typeface="Calibr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126480" y="1325880"/>
            <a:ext cx="2674620" cy="1143000"/>
          </a:xfrm>
          <a:prstGeom prst="rect">
            <a:avLst/>
          </a:prstGeom>
          <a:solidFill>
            <a:srgbClr val="F2F4F8"/>
          </a:solidFill>
          <a:ln w="9525">
            <a:solidFill>
              <a:srgbClr val="CBD2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263640" y="1417320"/>
            <a:ext cx="24003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55E68"/>
                </a:solidFill>
                <a:latin typeface="Calibri"/>
              </a:rPr>
              <a:t>PDE residual</a:t>
            </a:r>
            <a:endParaRPr sz="1000" b="1">
              <a:solidFill>
                <a:srgbClr val="555E68"/>
              </a:solidFill>
              <a:latin typeface="Calibr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263640" y="1691640"/>
            <a:ext cx="24003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1F7A3C"/>
                </a:solidFill>
                <a:latin typeface="Calibri"/>
              </a:rPr>
              <a:t>→ 0</a:t>
            </a:r>
            <a:endParaRPr sz="2200" b="1">
              <a:solidFill>
                <a:srgbClr val="1F7A3C"/>
              </a:solidFill>
              <a:latin typeface="Calibr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263640" y="2148840"/>
            <a:ext cx="24003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55E68"/>
                </a:solidFill>
                <a:latin typeface="Calibri"/>
              </a:rPr>
              <a:t>meets weak (X)</a:t>
            </a:r>
            <a:endParaRPr sz="1000" b="0">
              <a:solidFill>
                <a:srgbClr val="555E68"/>
              </a:solidFill>
              <a:latin typeface="Calibr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8983980" y="1325880"/>
            <a:ext cx="2674620" cy="1143000"/>
          </a:xfrm>
          <a:prstGeom prst="rect">
            <a:avLst/>
          </a:prstGeom>
          <a:solidFill>
            <a:srgbClr val="F2F4F8"/>
          </a:solidFill>
          <a:ln w="9525">
            <a:solidFill>
              <a:srgbClr val="CBD2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121140" y="1417320"/>
            <a:ext cx="24003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55E68"/>
                </a:solidFill>
                <a:latin typeface="Calibri"/>
              </a:rPr>
              <a:t>Wake recirculation</a:t>
            </a:r>
            <a:endParaRPr sz="1000" b="1">
              <a:solidFill>
                <a:srgbClr val="555E68"/>
              </a:solidFill>
              <a:latin typeface="Calibr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9121140" y="1691640"/>
            <a:ext cx="24003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12E2A"/>
                </a:solidFill>
                <a:latin typeface="Calibri"/>
              </a:rPr>
              <a:t>lost</a:t>
            </a:r>
            <a:endParaRPr sz="2200" b="1">
              <a:solidFill>
                <a:srgbClr val="C12E2A"/>
              </a:solidFill>
              <a:latin typeface="Calibr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9121140" y="2148840"/>
            <a:ext cx="24003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55E68"/>
                </a:solidFill>
                <a:latin typeface="Calibri"/>
              </a:rPr>
              <a:t>fails strict (Y)</a:t>
            </a:r>
            <a:endParaRPr sz="1000" b="0">
              <a:solidFill>
                <a:srgbClr val="555E68"/>
              </a:solidFill>
              <a:latin typeface="Calibri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411480" y="2834640"/>
            <a:ext cx="11247120" cy="3017520"/>
          </a:xfrm>
          <a:prstGeom prst="rect">
            <a:avLst/>
          </a:prstGeom>
          <a:solidFill>
            <a:srgbClr val="F2F4F8"/>
          </a:solidFill>
          <a:ln w="9525">
            <a:solidFill>
              <a:srgbClr val="CBD2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0080" y="3017520"/>
            <a:ext cx="10789920" cy="126619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200" b="0">
                <a:solidFill>
                  <a:srgbClr val="21295C"/>
                </a:solidFill>
                <a:latin typeface="Calibri"/>
              </a:rPr>
              <a:t>Without a data anchor, BFGS finds a different minimum of the PDE objective — one that drives ‖f_NS‖ → 0 but no longer matches the CFD wake.  The field relaxes toward (u,v) ≈ (1,0) in most of the domain.</a:t>
            </a:r>
            <a:endParaRPr sz="1200" b="0">
              <a:solidFill>
                <a:srgbClr val="21295C"/>
              </a:solidFill>
              <a:latin typeface="Calibri"/>
            </a:endParaRP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200" b="0">
                <a:solidFill>
                  <a:srgbClr val="21295C"/>
                </a:solidFill>
                <a:latin typeface="Calibri"/>
              </a:rPr>
              <a:t>This is the trivial-attractor mode:  uniform free-stream satisfies incompressible Navier–Stokes everywhere except a thin wall layer.  Hard BCs make it accessible but do not exclude it.</a:t>
            </a:r>
            <a:endParaRPr sz="1200" b="0">
              <a:solidFill>
                <a:srgbClr val="21295C"/>
              </a:solidFill>
              <a:latin typeface="Calibri"/>
            </a:endParaRPr>
          </a:p>
          <a:p>
            <a:pPr algn="l">
              <a:lnSpc>
                <a:spcPct val="118000"/>
              </a:lnSpc>
            </a:pPr>
            <a:endParaRPr sz="1200" b="1">
              <a:solidFill>
                <a:srgbClr val="C12E2A"/>
              </a:solidFill>
              <a:latin typeface="Calibr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41148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55E68"/>
                </a:solidFill>
                <a:latin typeface="Calibri"/>
              </a:rPr>
              <a:t>Junhe Chen  |  PINN Cylinder Flow Reconstruction  |  Brown University</a:t>
            </a:r>
            <a:endParaRPr sz="900" b="0">
              <a:solidFill>
                <a:srgbClr val="555E68"/>
              </a:solidFill>
              <a:latin typeface="Calibri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0972800" y="6446520"/>
            <a:ext cx="7132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55E68"/>
                </a:solidFill>
                <a:latin typeface="Calibri"/>
              </a:rPr>
              <a:t>25</a:t>
            </a:r>
            <a:endParaRPr sz="900" b="0">
              <a:solidFill>
                <a:srgbClr val="555E68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3856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E2761"/>
                </a:solidFill>
                <a:latin typeface="Calibri"/>
              </a:rPr>
              <a:t>data_priority Sweep with Full CFD Anchor — Monotonic Trade-off</a:t>
            </a:r>
            <a:endParaRPr sz="2600" b="1">
              <a:solidFill>
                <a:srgbClr val="1E2761"/>
              </a:solidFill>
              <a:latin typeface="Calibr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11480" y="749808"/>
            <a:ext cx="113385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55E68"/>
                </a:solidFill>
                <a:latin typeface="Calibri"/>
              </a:rPr>
              <a:t>Same small net (32/3).  Phase 2 keeps all 7456 CFD pts on, only the anchor weight changes.</a:t>
            </a:r>
            <a:endParaRPr sz="1300" b="0">
              <a:solidFill>
                <a:srgbClr val="555E68"/>
              </a:solidFill>
              <a:latin typeface="Calibri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411480" y="1097280"/>
            <a:ext cx="11365992" cy="0"/>
          </a:xfrm>
          <a:prstGeom prst="line">
            <a:avLst/>
          </a:prstGeom>
          <a:ln w="9525">
            <a:solidFill>
              <a:srgbClr val="CBD2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325880"/>
          <a:ext cx="1069848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645920"/>
                <a:gridCol w="1645920"/>
                <a:gridCol w="3108960"/>
                <a:gridCol w="2103120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data_priority</a:t>
                      </a:r>
                      <a:endParaRPr sz="1200" b="1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60000" marR="60000" marT="30000" marB="30000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mae_u</a:t>
                      </a:r>
                      <a:endParaRPr sz="1200" b="1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60000" marR="60000" marT="30000" marB="30000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mae/P1</a:t>
                      </a:r>
                      <a:endParaRPr sz="1200" b="1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60000" marR="60000" marT="30000" marB="30000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PDE start → end</a:t>
                      </a:r>
                      <a:endParaRPr sz="1200" b="1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60000" marR="60000" marT="30000" marB="30000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PDE drop</a:t>
                      </a:r>
                      <a:endParaRPr sz="1200" b="1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60000" marR="60000" marT="30000" marB="30000">
                    <a:solidFill>
                      <a:srgbClr val="1E276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1295C"/>
                          </a:solidFill>
                          <a:latin typeface="Calibri"/>
                        </a:rPr>
                        <a:t>0.5</a:t>
                      </a:r>
                      <a:endParaRPr sz="1200" b="1">
                        <a:solidFill>
                          <a:srgbClr val="21295C"/>
                        </a:solidFill>
                        <a:latin typeface="Calibri"/>
                      </a:endParaRPr>
                    </a:p>
                  </a:txBody>
                  <a:tcPr marL="60000" marR="60000" marT="30000" marB="3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Calibri"/>
                        </a:rPr>
                        <a:t>0.157</a:t>
                      </a:r>
                      <a:endParaRPr sz="1200" b="0">
                        <a:solidFill>
                          <a:srgbClr val="21295C"/>
                        </a:solidFill>
                        <a:latin typeface="Calibri"/>
                      </a:endParaRPr>
                    </a:p>
                  </a:txBody>
                  <a:tcPr marL="60000" marR="60000" marT="30000" marB="3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Calibri"/>
                        </a:rPr>
                        <a:t>1.48×</a:t>
                      </a:r>
                      <a:endParaRPr sz="1200" b="0">
                        <a:solidFill>
                          <a:srgbClr val="21295C"/>
                        </a:solidFill>
                        <a:latin typeface="Calibri"/>
                      </a:endParaRPr>
                    </a:p>
                  </a:txBody>
                  <a:tcPr marL="60000" marR="60000" marT="30000" marB="3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Calibri"/>
                        </a:rPr>
                        <a:t>0.652 → 0.416</a:t>
                      </a:r>
                      <a:endParaRPr sz="1200" b="0">
                        <a:solidFill>
                          <a:srgbClr val="21295C"/>
                        </a:solidFill>
                        <a:latin typeface="Calibri"/>
                      </a:endParaRPr>
                    </a:p>
                  </a:txBody>
                  <a:tcPr marL="60000" marR="60000" marT="30000" marB="3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Calibri"/>
                        </a:rPr>
                        <a:t>1.57×</a:t>
                      </a:r>
                      <a:endParaRPr sz="1200" b="0">
                        <a:solidFill>
                          <a:srgbClr val="21295C"/>
                        </a:solidFill>
                        <a:latin typeface="Calibri"/>
                      </a:endParaRPr>
                    </a:p>
                  </a:txBody>
                  <a:tcPr marL="60000" marR="60000" marT="30000" marB="30000"/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1295C"/>
                          </a:solidFill>
                          <a:latin typeface="Calibri"/>
                        </a:rPr>
                        <a:t>1.0</a:t>
                      </a:r>
                      <a:endParaRPr sz="1200" b="1">
                        <a:solidFill>
                          <a:srgbClr val="21295C"/>
                        </a:solidFill>
                        <a:latin typeface="Calibri"/>
                      </a:endParaRPr>
                    </a:p>
                  </a:txBody>
                  <a:tcPr marL="60000" marR="60000" marT="30000" marB="3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Calibri"/>
                        </a:rPr>
                        <a:t>0.141</a:t>
                      </a:r>
                      <a:endParaRPr sz="1200" b="0">
                        <a:solidFill>
                          <a:srgbClr val="21295C"/>
                        </a:solidFill>
                        <a:latin typeface="Calibri"/>
                      </a:endParaRPr>
                    </a:p>
                  </a:txBody>
                  <a:tcPr marL="60000" marR="60000" marT="30000" marB="3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Calibri"/>
                        </a:rPr>
                        <a:t>1.33×</a:t>
                      </a:r>
                      <a:endParaRPr sz="1200" b="0">
                        <a:solidFill>
                          <a:srgbClr val="21295C"/>
                        </a:solidFill>
                        <a:latin typeface="Calibri"/>
                      </a:endParaRPr>
                    </a:p>
                  </a:txBody>
                  <a:tcPr marL="60000" marR="60000" marT="30000" marB="3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Calibri"/>
                        </a:rPr>
                        <a:t>0.653 → 0.451</a:t>
                      </a:r>
                      <a:endParaRPr sz="1200" b="0">
                        <a:solidFill>
                          <a:srgbClr val="21295C"/>
                        </a:solidFill>
                        <a:latin typeface="Calibri"/>
                      </a:endParaRPr>
                    </a:p>
                  </a:txBody>
                  <a:tcPr marL="60000" marR="60000" marT="30000" marB="3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Calibri"/>
                        </a:rPr>
                        <a:t>1.45×</a:t>
                      </a:r>
                      <a:endParaRPr sz="1200" b="0">
                        <a:solidFill>
                          <a:srgbClr val="21295C"/>
                        </a:solidFill>
                        <a:latin typeface="Calibri"/>
                      </a:endParaRPr>
                    </a:p>
                  </a:txBody>
                  <a:tcPr marL="60000" marR="60000" marT="30000" marB="30000"/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1295C"/>
                          </a:solidFill>
                          <a:latin typeface="Calibri"/>
                        </a:rPr>
                        <a:t>2.0</a:t>
                      </a:r>
                      <a:endParaRPr sz="1200" b="1">
                        <a:solidFill>
                          <a:srgbClr val="21295C"/>
                        </a:solidFill>
                        <a:latin typeface="Calibri"/>
                      </a:endParaRPr>
                    </a:p>
                  </a:txBody>
                  <a:tcPr marL="60000" marR="60000" marT="30000" marB="3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Calibri"/>
                        </a:rPr>
                        <a:t>0.128</a:t>
                      </a:r>
                      <a:endParaRPr sz="1200" b="0">
                        <a:solidFill>
                          <a:srgbClr val="21295C"/>
                        </a:solidFill>
                        <a:latin typeface="Calibri"/>
                      </a:endParaRPr>
                    </a:p>
                  </a:txBody>
                  <a:tcPr marL="60000" marR="60000" marT="30000" marB="3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Calibri"/>
                        </a:rPr>
                        <a:t>1.21×</a:t>
                      </a:r>
                      <a:endParaRPr sz="1200" b="0">
                        <a:solidFill>
                          <a:srgbClr val="21295C"/>
                        </a:solidFill>
                        <a:latin typeface="Calibri"/>
                      </a:endParaRPr>
                    </a:p>
                  </a:txBody>
                  <a:tcPr marL="60000" marR="60000" marT="30000" marB="3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Calibri"/>
                        </a:rPr>
                        <a:t>0.545 → 0.467</a:t>
                      </a:r>
                      <a:endParaRPr sz="1200" b="0">
                        <a:solidFill>
                          <a:srgbClr val="21295C"/>
                        </a:solidFill>
                        <a:latin typeface="Calibri"/>
                      </a:endParaRPr>
                    </a:p>
                  </a:txBody>
                  <a:tcPr marL="60000" marR="60000" marT="30000" marB="3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Calibri"/>
                        </a:rPr>
                        <a:t>1.17×</a:t>
                      </a:r>
                      <a:endParaRPr sz="1200" b="0">
                        <a:solidFill>
                          <a:srgbClr val="21295C"/>
                        </a:solidFill>
                        <a:latin typeface="Calibri"/>
                      </a:endParaRPr>
                    </a:p>
                  </a:txBody>
                  <a:tcPr marL="60000" marR="60000" marT="30000" marB="30000"/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1295C"/>
                          </a:solidFill>
                          <a:latin typeface="Calibri"/>
                        </a:rPr>
                        <a:t>5.0</a:t>
                      </a:r>
                      <a:endParaRPr sz="1200" b="1">
                        <a:solidFill>
                          <a:srgbClr val="21295C"/>
                        </a:solidFill>
                        <a:latin typeface="Calibri"/>
                      </a:endParaRPr>
                    </a:p>
                  </a:txBody>
                  <a:tcPr marL="60000" marR="60000" marT="30000" marB="3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Calibri"/>
                        </a:rPr>
                        <a:t>0.118</a:t>
                      </a:r>
                      <a:endParaRPr sz="1200" b="0">
                        <a:solidFill>
                          <a:srgbClr val="21295C"/>
                        </a:solidFill>
                        <a:latin typeface="Calibri"/>
                      </a:endParaRPr>
                    </a:p>
                  </a:txBody>
                  <a:tcPr marL="60000" marR="60000" marT="30000" marB="3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Calibri"/>
                        </a:rPr>
                        <a:t>1.11×</a:t>
                      </a:r>
                      <a:endParaRPr sz="1200" b="0">
                        <a:solidFill>
                          <a:srgbClr val="21295C"/>
                        </a:solidFill>
                        <a:latin typeface="Calibri"/>
                      </a:endParaRPr>
                    </a:p>
                  </a:txBody>
                  <a:tcPr marL="60000" marR="60000" marT="30000" marB="3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Calibri"/>
                        </a:rPr>
                        <a:t>0.549 → 0.581</a:t>
                      </a:r>
                      <a:endParaRPr sz="1200" b="0">
                        <a:solidFill>
                          <a:srgbClr val="21295C"/>
                        </a:solidFill>
                        <a:latin typeface="Calibri"/>
                      </a:endParaRPr>
                    </a:p>
                  </a:txBody>
                  <a:tcPr marL="60000" marR="60000" marT="30000" marB="3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Calibri"/>
                        </a:rPr>
                        <a:t>0.95× (up)</a:t>
                      </a:r>
                      <a:endParaRPr sz="1200" b="0">
                        <a:solidFill>
                          <a:srgbClr val="21295C"/>
                        </a:solidFill>
                        <a:latin typeface="Calibri"/>
                      </a:endParaRPr>
                    </a:p>
                  </a:txBody>
                  <a:tcPr marL="60000" marR="60000" marT="30000" marB="30000"/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11480" y="3703320"/>
            <a:ext cx="5486400" cy="2606040"/>
          </a:xfrm>
          <a:prstGeom prst="rect">
            <a:avLst/>
          </a:prstGeom>
          <a:solidFill>
            <a:srgbClr val="F2F4F8"/>
          </a:solidFill>
          <a:ln w="9525">
            <a:solidFill>
              <a:srgbClr val="CBD2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3867912"/>
            <a:ext cx="5120640" cy="228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400" b="1">
                <a:solidFill>
                  <a:srgbClr val="1E2761"/>
                </a:solidFill>
                <a:latin typeface="Calibri"/>
              </a:rPr>
              <a:t>What the sweep says</a:t>
            </a:r>
            <a:endParaRPr sz="1400" b="1">
              <a:solidFill>
                <a:srgbClr val="1E2761"/>
              </a:solidFill>
              <a:latin typeface="Calibri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250" b="0">
                <a:solidFill>
                  <a:srgbClr val="21295C"/>
                </a:solidFill>
                <a:latin typeface="Calibri"/>
              </a:rPr>
              <a:t>priority ↑  ⇒  mae drift ↓   but   PDE drop ↓.</a:t>
            </a:r>
            <a:endParaRPr sz="1250" b="0">
              <a:solidFill>
                <a:srgbClr val="21295C"/>
              </a:solidFill>
              <a:latin typeface="Calibri"/>
            </a:endParaRP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200" b="0">
                <a:solidFill>
                  <a:srgbClr val="21295C"/>
                </a:solidFill>
                <a:latin typeface="Calibri"/>
              </a:rPr>
              <a:t>Strict monotonic trade-off — no sweet spot meets both halves of (Y) at this capacity.</a:t>
            </a:r>
            <a:endParaRPr sz="1200" b="0">
              <a:solidFill>
                <a:srgbClr val="21295C"/>
              </a:solidFill>
              <a:latin typeface="Calibri"/>
            </a:endParaRPr>
          </a:p>
          <a:p>
            <a:pPr algn="l">
              <a:lnSpc>
                <a:spcPct val="118000"/>
              </a:lnSpc>
            </a:pPr>
            <a:r>
              <a:rPr sz="1200" b="0" i="1">
                <a:solidFill>
                  <a:srgbClr val="555E68"/>
                </a:solidFill>
                <a:latin typeface="Calibri"/>
              </a:rPr>
              <a:t>Best mae (1.11×) and best PDE drop (1.57×) sit at opposite ends of the curve.</a:t>
            </a:r>
            <a:endParaRPr sz="1200" b="0" i="1">
              <a:solidFill>
                <a:srgbClr val="555E68"/>
              </a:solidFill>
              <a:latin typeface="Calibri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6172200" y="3703320"/>
            <a:ext cx="5486400" cy="2606040"/>
          </a:xfrm>
          <a:prstGeom prst="rect">
            <a:avLst/>
          </a:prstGeom>
          <a:solidFill>
            <a:srgbClr val="F2F4F8"/>
          </a:solidFill>
          <a:ln w="9525">
            <a:solidFill>
              <a:srgbClr val="CBD2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355080" y="3867912"/>
            <a:ext cx="5120640" cy="15906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400" b="1">
                <a:solidFill>
                  <a:srgbClr val="1E2761"/>
                </a:solidFill>
                <a:latin typeface="Calibri"/>
              </a:rPr>
              <a:t>Interpretation</a:t>
            </a:r>
            <a:endParaRPr sz="1400" b="1">
              <a:solidFill>
                <a:srgbClr val="1E2761"/>
              </a:solidFill>
              <a:latin typeface="Calibri"/>
            </a:endParaRP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250" b="0">
                <a:solidFill>
                  <a:srgbClr val="21295C"/>
                </a:solidFill>
                <a:latin typeface="Calibri"/>
              </a:rPr>
              <a:t>At width=32, depth=3 the CFD-matching minimum and the low-PDE-residual minimum live on different sheets of parameter space.</a:t>
            </a:r>
            <a:endParaRPr sz="1250" b="0">
              <a:solidFill>
                <a:srgbClr val="21295C"/>
              </a:solidFill>
              <a:latin typeface="Calibri"/>
            </a:endParaRP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200" b="0">
                <a:solidFill>
                  <a:srgbClr val="21295C"/>
                </a:solidFill>
                <a:latin typeface="Calibri"/>
              </a:rPr>
              <a:t>Tuning the anchor only slides the optimiser along the trade-off curve — it cannot make the two minima merge.</a:t>
            </a:r>
            <a:endParaRPr sz="1200" b="0">
              <a:solidFill>
                <a:srgbClr val="21295C"/>
              </a:solidFill>
              <a:latin typeface="Calibri"/>
            </a:endParaRPr>
          </a:p>
          <a:p>
            <a:pPr algn="l">
              <a:lnSpc>
                <a:spcPct val="118000"/>
              </a:lnSpc>
            </a:pPr>
            <a:endParaRPr sz="1200" b="1">
              <a:solidFill>
                <a:srgbClr val="1E2761"/>
              </a:solidFill>
              <a:latin typeface="Calib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1148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55E68"/>
                </a:solidFill>
                <a:latin typeface="Calibri"/>
              </a:rPr>
              <a:t>Junhe Chen  |  PINN Cylinder Flow Reconstruction  |  Brown University</a:t>
            </a:r>
            <a:endParaRPr sz="900" b="0">
              <a:solidFill>
                <a:srgbClr val="555E68"/>
              </a:solidFill>
              <a:latin typeface="Calibr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972800" y="6446520"/>
            <a:ext cx="7132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55E68"/>
                </a:solidFill>
                <a:latin typeface="Calibri"/>
              </a:rPr>
              <a:t>26</a:t>
            </a:r>
            <a:endParaRPr sz="900" b="0">
              <a:solidFill>
                <a:srgbClr val="555E68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38560" cy="4597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E2761"/>
                </a:solidFill>
                <a:latin typeface="Calibri"/>
              </a:rPr>
              <a:t>Scale-Up —  Achieved by Capacity, Same Protocol</a:t>
            </a:r>
            <a:endParaRPr sz="2600" b="1">
              <a:solidFill>
                <a:srgbClr val="1E2761"/>
              </a:solidFill>
              <a:latin typeface="Calibr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11480" y="749808"/>
            <a:ext cx="113385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55E68"/>
                </a:solidFill>
                <a:latin typeface="Calibri"/>
              </a:rPr>
              <a:t>Only width and depth changed.  data_priority=2 fixed; all CFD pts kept on; n_f=20k.</a:t>
            </a:r>
            <a:endParaRPr sz="1300" b="0">
              <a:solidFill>
                <a:srgbClr val="555E68"/>
              </a:solidFill>
              <a:latin typeface="Calibri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411480" y="1097280"/>
            <a:ext cx="11365992" cy="0"/>
          </a:xfrm>
          <a:prstGeom prst="line">
            <a:avLst/>
          </a:prstGeom>
          <a:ln w="9525">
            <a:solidFill>
              <a:srgbClr val="CBD2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11480" y="1280160"/>
            <a:ext cx="2688336" cy="1143000"/>
          </a:xfrm>
          <a:prstGeom prst="rect">
            <a:avLst/>
          </a:prstGeom>
          <a:solidFill>
            <a:srgbClr val="F2F4F8"/>
          </a:solidFill>
          <a:ln w="9525">
            <a:solidFill>
              <a:srgbClr val="CBD2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241401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55E68"/>
                </a:solidFill>
                <a:latin typeface="Calibri"/>
              </a:rPr>
              <a:t>P1 mae_u (big net)</a:t>
            </a:r>
            <a:endParaRPr sz="1000" b="1">
              <a:solidFill>
                <a:srgbClr val="555E68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2414016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1F7A3C"/>
                </a:solidFill>
                <a:latin typeface="Calibri"/>
              </a:rPr>
              <a:t>0.0186</a:t>
            </a:r>
            <a:endParaRPr sz="2200" b="1">
              <a:solidFill>
                <a:srgbClr val="1F7A3C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48640" y="2103120"/>
            <a:ext cx="241401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55E68"/>
                </a:solidFill>
                <a:latin typeface="Calibri"/>
              </a:rPr>
              <a:t>5.7× better than small (0.106)</a:t>
            </a:r>
            <a:endParaRPr sz="1000" b="0">
              <a:solidFill>
                <a:srgbClr val="555E68"/>
              </a:solidFill>
              <a:latin typeface="Calibr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264408" y="1280160"/>
            <a:ext cx="2688336" cy="1143000"/>
          </a:xfrm>
          <a:prstGeom prst="rect">
            <a:avLst/>
          </a:prstGeom>
          <a:solidFill>
            <a:srgbClr val="F2F4F8"/>
          </a:solidFill>
          <a:ln w="9525">
            <a:solidFill>
              <a:srgbClr val="CBD2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401568" y="1371600"/>
            <a:ext cx="241401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55E68"/>
                </a:solidFill>
                <a:latin typeface="Calibri"/>
              </a:rPr>
              <a:t>P2 mae_u</a:t>
            </a:r>
            <a:endParaRPr sz="1000" b="1">
              <a:solidFill>
                <a:srgbClr val="555E68"/>
              </a:solidFill>
              <a:latin typeface="Calibr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401568" y="1645920"/>
            <a:ext cx="2414016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1F7A3C"/>
                </a:solidFill>
                <a:latin typeface="Calibri"/>
              </a:rPr>
              <a:t>0.0213</a:t>
            </a:r>
            <a:endParaRPr sz="2200" b="1">
              <a:solidFill>
                <a:srgbClr val="1F7A3C"/>
              </a:solidFill>
              <a:latin typeface="Calibr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401568" y="2103120"/>
            <a:ext cx="241401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55E68"/>
                </a:solidFill>
                <a:latin typeface="Calibri"/>
              </a:rPr>
              <a:t>rel_l2_u = 0.032</a:t>
            </a:r>
            <a:endParaRPr sz="1000" b="0">
              <a:solidFill>
                <a:srgbClr val="555E68"/>
              </a:solidFill>
              <a:latin typeface="Calibr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117336" y="1280160"/>
            <a:ext cx="2688336" cy="1143000"/>
          </a:xfrm>
          <a:prstGeom prst="rect">
            <a:avLst/>
          </a:prstGeom>
          <a:solidFill>
            <a:srgbClr val="F2F4F8"/>
          </a:solidFill>
          <a:ln w="9525">
            <a:solidFill>
              <a:srgbClr val="CBD2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254496" y="1371600"/>
            <a:ext cx="241401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55E68"/>
                </a:solidFill>
                <a:latin typeface="Calibri"/>
              </a:rPr>
              <a:t>mae P2/P1</a:t>
            </a:r>
            <a:endParaRPr sz="1000" b="1">
              <a:solidFill>
                <a:srgbClr val="555E68"/>
              </a:solidFill>
              <a:latin typeface="Calibr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254496" y="1645920"/>
            <a:ext cx="2414016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1F7A3C"/>
                </a:solidFill>
                <a:latin typeface="Calibri"/>
              </a:rPr>
              <a:t>1.15×</a:t>
            </a:r>
            <a:endParaRPr sz="2200" b="1">
              <a:solidFill>
                <a:srgbClr val="1F7A3C"/>
              </a:solidFill>
              <a:latin typeface="Calibr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254496" y="2103120"/>
            <a:ext cx="241401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55E68"/>
                </a:solidFill>
                <a:latin typeface="Calibri"/>
              </a:rPr>
              <a:t>(Y) needs ≤ 2×   ✓</a:t>
            </a:r>
            <a:endParaRPr sz="1000" b="0">
              <a:solidFill>
                <a:srgbClr val="555E68"/>
              </a:solidFill>
              <a:latin typeface="Calibr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8970264" y="1280160"/>
            <a:ext cx="2688336" cy="1143000"/>
          </a:xfrm>
          <a:prstGeom prst="rect">
            <a:avLst/>
          </a:prstGeom>
          <a:solidFill>
            <a:srgbClr val="F2F4F8"/>
          </a:solidFill>
          <a:ln w="9525">
            <a:solidFill>
              <a:srgbClr val="CBD2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107424" y="1371600"/>
            <a:ext cx="241401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55E68"/>
                </a:solidFill>
                <a:latin typeface="Calibri"/>
              </a:rPr>
              <a:t>PDE 0.084 → 0.014</a:t>
            </a:r>
            <a:endParaRPr sz="1000" b="1">
              <a:solidFill>
                <a:srgbClr val="555E68"/>
              </a:solidFill>
              <a:latin typeface="Calibr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9107424" y="1645920"/>
            <a:ext cx="2414016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1F7A3C"/>
                </a:solidFill>
                <a:latin typeface="Calibri"/>
              </a:rPr>
              <a:t>5.97×</a:t>
            </a:r>
            <a:endParaRPr sz="2200" b="1">
              <a:solidFill>
                <a:srgbClr val="1F7A3C"/>
              </a:solidFill>
              <a:latin typeface="Calibr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9107424" y="2103120"/>
            <a:ext cx="241401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55E68"/>
                </a:solidFill>
                <a:latin typeface="Calibri"/>
              </a:rPr>
              <a:t>(Y) needs ≥ 5×   ✓</a:t>
            </a:r>
            <a:endParaRPr sz="1000" b="0">
              <a:solidFill>
                <a:srgbClr val="555E68"/>
              </a:solidFill>
              <a:latin typeface="Calibri"/>
            </a:endParaRP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411480" y="2743200"/>
          <a:ext cx="1069848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508760"/>
                <a:gridCol w="1097280"/>
                <a:gridCol w="1280160"/>
                <a:gridCol w="1280160"/>
                <a:gridCol w="1188720"/>
                <a:gridCol w="2148840"/>
              </a:tblGrid>
              <a:tr h="472440">
                <a:tc>
                  <a:txBody>
                    <a:bodyPr/>
                    <a:lstStyle/>
                    <a:p>
                      <a:pPr algn="l"/>
                      <a:endParaRPr sz="1200" b="1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60000" marR="60000" marT="30000" marB="30000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width / depth</a:t>
                      </a:r>
                      <a:endParaRPr sz="1200" b="1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60000" marR="60000" marT="30000" marB="30000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params</a:t>
                      </a:r>
                      <a:endParaRPr sz="1200" b="1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60000" marR="60000" marT="30000" marB="30000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P1 mae_u</a:t>
                      </a:r>
                      <a:endParaRPr sz="1200" b="1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60000" marR="60000" marT="30000" marB="30000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P2 mae_u</a:t>
                      </a:r>
                      <a:endParaRPr sz="1200" b="1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60000" marR="60000" marT="30000" marB="30000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mae/P1</a:t>
                      </a:r>
                      <a:endParaRPr sz="1200" b="1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60000" marR="60000" marT="30000" marB="30000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PDE drop</a:t>
                      </a:r>
                      <a:endParaRPr sz="1200" b="1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60000" marR="60000" marT="30000" marB="30000">
                    <a:solidFill>
                      <a:srgbClr val="1E2761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1295C"/>
                          </a:solidFill>
                          <a:latin typeface="Calibri"/>
                        </a:rPr>
                        <a:t>small  (32 / 3)</a:t>
                      </a:r>
                      <a:endParaRPr sz="1200" b="1">
                        <a:solidFill>
                          <a:srgbClr val="21295C"/>
                        </a:solidFill>
                        <a:latin typeface="Calibri"/>
                      </a:endParaRPr>
                    </a:p>
                  </a:txBody>
                  <a:tcPr marL="60000" marR="60000" marT="30000" marB="3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Calibri"/>
                        </a:rPr>
                        <a:t>32 / 3</a:t>
                      </a:r>
                      <a:endParaRPr sz="1200" b="0">
                        <a:solidFill>
                          <a:srgbClr val="21295C"/>
                        </a:solidFill>
                        <a:latin typeface="Calibri"/>
                      </a:endParaRPr>
                    </a:p>
                  </a:txBody>
                  <a:tcPr marL="60000" marR="60000" marT="30000" marB="3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Calibri"/>
                        </a:rPr>
                        <a:t>~3k</a:t>
                      </a:r>
                      <a:endParaRPr sz="1200" b="0">
                        <a:solidFill>
                          <a:srgbClr val="21295C"/>
                        </a:solidFill>
                        <a:latin typeface="Calibri"/>
                      </a:endParaRPr>
                    </a:p>
                  </a:txBody>
                  <a:tcPr marL="60000" marR="60000" marT="30000" marB="3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Calibri"/>
                        </a:rPr>
                        <a:t>0.106</a:t>
                      </a:r>
                      <a:endParaRPr sz="1200" b="0">
                        <a:solidFill>
                          <a:srgbClr val="21295C"/>
                        </a:solidFill>
                        <a:latin typeface="Calibri"/>
                      </a:endParaRPr>
                    </a:p>
                  </a:txBody>
                  <a:tcPr marL="60000" marR="60000" marT="30000" marB="3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Calibri"/>
                        </a:rPr>
                        <a:t>0.128</a:t>
                      </a:r>
                      <a:endParaRPr sz="1200" b="0">
                        <a:solidFill>
                          <a:srgbClr val="21295C"/>
                        </a:solidFill>
                        <a:latin typeface="Calibri"/>
                      </a:endParaRPr>
                    </a:p>
                  </a:txBody>
                  <a:tcPr marL="60000" marR="60000" marT="30000" marB="3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Calibri"/>
                        </a:rPr>
                        <a:t>1.21×</a:t>
                      </a:r>
                      <a:endParaRPr sz="1200" b="0">
                        <a:solidFill>
                          <a:srgbClr val="21295C"/>
                        </a:solidFill>
                        <a:latin typeface="Calibri"/>
                      </a:endParaRPr>
                    </a:p>
                  </a:txBody>
                  <a:tcPr marL="60000" marR="60000" marT="30000" marB="3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Calibri"/>
                        </a:rPr>
                        <a:t>1.17×</a:t>
                      </a:r>
                      <a:endParaRPr sz="1200" b="0">
                        <a:solidFill>
                          <a:srgbClr val="21295C"/>
                        </a:solidFill>
                        <a:latin typeface="Calibri"/>
                      </a:endParaRPr>
                    </a:p>
                  </a:txBody>
                  <a:tcPr marL="60000" marR="60000" marT="30000" marB="30000"/>
                </a:tc>
              </a:tr>
              <a:tr h="47244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7A3C"/>
                          </a:solidFill>
                          <a:latin typeface="Calibri"/>
                        </a:rPr>
                        <a:t>scale-up  (64 / 4)</a:t>
                      </a:r>
                      <a:endParaRPr sz="1200" b="1">
                        <a:solidFill>
                          <a:srgbClr val="1F7A3C"/>
                        </a:solidFill>
                        <a:latin typeface="Calibri"/>
                      </a:endParaRPr>
                    </a:p>
                  </a:txBody>
                  <a:tcPr marL="60000" marR="60000" marT="30000" marB="3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7A3C"/>
                          </a:solidFill>
                          <a:latin typeface="Calibri"/>
                        </a:rPr>
                        <a:t>64 / 4</a:t>
                      </a:r>
                      <a:endParaRPr sz="1200" b="1">
                        <a:solidFill>
                          <a:srgbClr val="1F7A3C"/>
                        </a:solidFill>
                        <a:latin typeface="Calibri"/>
                      </a:endParaRPr>
                    </a:p>
                  </a:txBody>
                  <a:tcPr marL="60000" marR="60000" marT="30000" marB="3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7A3C"/>
                          </a:solidFill>
                          <a:latin typeface="Calibri"/>
                        </a:rPr>
                        <a:t>~17k</a:t>
                      </a:r>
                      <a:endParaRPr sz="1200" b="1">
                        <a:solidFill>
                          <a:srgbClr val="1F7A3C"/>
                        </a:solidFill>
                        <a:latin typeface="Calibri"/>
                      </a:endParaRPr>
                    </a:p>
                  </a:txBody>
                  <a:tcPr marL="60000" marR="60000" marT="30000" marB="3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7A3C"/>
                          </a:solidFill>
                          <a:latin typeface="Calibri"/>
                        </a:rPr>
                        <a:t>0.0186</a:t>
                      </a:r>
                      <a:endParaRPr sz="1200" b="1">
                        <a:solidFill>
                          <a:srgbClr val="1F7A3C"/>
                        </a:solidFill>
                        <a:latin typeface="Calibri"/>
                      </a:endParaRPr>
                    </a:p>
                  </a:txBody>
                  <a:tcPr marL="60000" marR="60000" marT="30000" marB="3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7A3C"/>
                          </a:solidFill>
                          <a:latin typeface="Calibri"/>
                        </a:rPr>
                        <a:t>0.0213</a:t>
                      </a:r>
                      <a:endParaRPr sz="1200" b="1">
                        <a:solidFill>
                          <a:srgbClr val="1F7A3C"/>
                        </a:solidFill>
                        <a:latin typeface="Calibri"/>
                      </a:endParaRPr>
                    </a:p>
                  </a:txBody>
                  <a:tcPr marL="60000" marR="60000" marT="30000" marB="3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7A3C"/>
                          </a:solidFill>
                          <a:latin typeface="Calibri"/>
                        </a:rPr>
                        <a:t>1.15×</a:t>
                      </a:r>
                      <a:endParaRPr sz="1200" b="1">
                        <a:solidFill>
                          <a:srgbClr val="1F7A3C"/>
                        </a:solidFill>
                        <a:latin typeface="Calibri"/>
                      </a:endParaRPr>
                    </a:p>
                  </a:txBody>
                  <a:tcPr marL="60000" marR="60000" marT="30000" marB="3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7A3C"/>
                          </a:solidFill>
                          <a:latin typeface="Calibri"/>
                        </a:rPr>
                        <a:t>5.97×</a:t>
                      </a:r>
                      <a:endParaRPr sz="1200" b="1">
                        <a:solidFill>
                          <a:srgbClr val="1F7A3C"/>
                        </a:solidFill>
                        <a:latin typeface="Calibri"/>
                      </a:endParaRPr>
                    </a:p>
                  </a:txBody>
                  <a:tcPr marL="60000" marR="60000" marT="30000" marB="30000"/>
                </a:tc>
              </a:tr>
            </a:tbl>
          </a:graphicData>
        </a:graphic>
      </p:graphicFrame>
      <p:sp>
        <p:nvSpPr>
          <p:cNvPr id="22" name="Rectangle 21"/>
          <p:cNvSpPr/>
          <p:nvPr/>
        </p:nvSpPr>
        <p:spPr>
          <a:xfrm>
            <a:off x="411480" y="4343400"/>
            <a:ext cx="11247120" cy="1097280"/>
          </a:xfrm>
          <a:prstGeom prst="rect">
            <a:avLst/>
          </a:prstGeom>
          <a:solidFill>
            <a:srgbClr val="F2F4F8"/>
          </a:solidFill>
          <a:ln w="9525">
            <a:solidFill>
              <a:srgbClr val="CBD2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40080" y="4480560"/>
            <a:ext cx="10789920" cy="120777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400" b="1">
                <a:solidFill>
                  <a:srgbClr val="1E2761"/>
                </a:solidFill>
                <a:latin typeface="Calibri"/>
              </a:rPr>
              <a:t>Conclusion</a:t>
            </a:r>
            <a:endParaRPr sz="1400" b="1">
              <a:solidFill>
                <a:srgbClr val="1E2761"/>
              </a:solidFill>
              <a:latin typeface="Calibri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200" b="0">
                <a:solidFill>
                  <a:srgbClr val="21295C"/>
                </a:solidFill>
                <a:latin typeface="Calibri"/>
              </a:rPr>
              <a:t>At width=64 the CFD-matching minimum and the low-PDE-residual minimum are essentially the same point.  Both halves of (Y) are met simultaneously with the same Phase-1 / Phase-2 protocol and the same data_priority=2.</a:t>
            </a:r>
            <a:endParaRPr sz="1200" b="0">
              <a:solidFill>
                <a:srgbClr val="21295C"/>
              </a:solidFill>
              <a:latin typeface="Calibri"/>
            </a:endParaRPr>
          </a:p>
          <a:p>
            <a:pPr algn="l">
              <a:lnSpc>
                <a:spcPct val="118000"/>
              </a:lnSpc>
            </a:pPr>
            <a:endParaRPr sz="1150" b="0" i="1">
              <a:solidFill>
                <a:srgbClr val="555E68"/>
              </a:solidFill>
              <a:latin typeface="Calibri"/>
            </a:endParaRPr>
          </a:p>
          <a:p>
            <a:pPr algn="l">
              <a:lnSpc>
                <a:spcPct val="118000"/>
              </a:lnSpc>
            </a:pPr>
            <a:endParaRPr sz="1150" b="0" i="1">
              <a:solidFill>
                <a:srgbClr val="555E68"/>
              </a:solidFill>
              <a:latin typeface="Calibri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1148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55E68"/>
                </a:solidFill>
                <a:latin typeface="Calibri"/>
              </a:rPr>
              <a:t>Junhe Chen  |  PINN Cylinder Flow Reconstruction  |  Brown University</a:t>
            </a:r>
            <a:endParaRPr sz="900" b="0">
              <a:solidFill>
                <a:srgbClr val="555E68"/>
              </a:solidFill>
              <a:latin typeface="Calibri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10972800" y="6446520"/>
            <a:ext cx="7132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55E68"/>
                </a:solidFill>
                <a:latin typeface="Calibri"/>
              </a:rPr>
              <a:t>27</a:t>
            </a:r>
            <a:endParaRPr sz="900" b="0">
              <a:solidFill>
                <a:srgbClr val="555E68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6459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430000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r>
              <a:rPr sz="2600" b="1" i="0">
                <a:solidFill>
                  <a:srgbClr val="212121"/>
                </a:solidFill>
                <a:latin typeface="Calibri"/>
              </a:rPr>
              <a:t>Phase-1 Baseline — How Small Is Small?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777240"/>
            <a:ext cx="114300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r>
              <a:rPr sz="1100" b="0" i="0">
                <a:solidFill>
                  <a:srgbClr val="4A4A4A"/>
                </a:solidFill>
                <a:latin typeface="Calibri"/>
              </a:rPr>
              <a:t>Mentor's check: P1 training loss should be very small.  On the 32/3 net it isn't — mae_u plateaus at 0.106.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1078992"/>
            <a:ext cx="11183112" cy="0"/>
          </a:xfrm>
          <a:prstGeom prst="line">
            <a:avLst/>
          </a:prstGeom>
          <a:ln w="6350">
            <a:solidFill>
              <a:srgbClr val="4A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r>
              <a:rPr sz="900" b="0" i="0">
                <a:solidFill>
                  <a:srgbClr val="4A4A4A"/>
                </a:solidFill>
                <a:latin typeface="Calibri"/>
              </a:rPr>
              <a:t>Junhe Chen  |  PINN Cylinder Flow Reconstruction  |  Brown University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r>
              <a:rPr sz="900" b="0" i="0">
                <a:solidFill>
                  <a:srgbClr val="4A4A4A"/>
                </a:solidFill>
                <a:latin typeface="Calibri"/>
              </a:rPr>
              <a:t>28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34440"/>
            <a:ext cx="5577840" cy="2331720"/>
          </a:xfrm>
          <a:prstGeom prst="roundRect">
            <a:avLst/>
          </a:prstGeom>
          <a:solidFill>
            <a:srgbClr val="F8EEEC"/>
          </a:solidFill>
          <a:ln w="9525">
            <a:solidFill>
              <a:srgbClr val="7A1B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25880"/>
            <a:ext cx="53492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r>
              <a:rPr sz="1300" b="1" i="0">
                <a:solidFill>
                  <a:srgbClr val="7A1B1B"/>
                </a:solidFill>
                <a:latin typeface="Calibri"/>
              </a:rPr>
              <a:t>Small net  (width = 32, depth = 3, 2.8 k params)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645920"/>
            <a:ext cx="5349240" cy="19202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r>
              <a:rPr sz="1050" b="1" i="0">
                <a:solidFill>
                  <a:srgbClr val="212121"/>
                </a:solidFill>
                <a:latin typeface="Calibri"/>
              </a:rPr>
              <a:t>training-time DATA MSE (BFGS plateau)</a:t>
            </a:r>
          </a:p>
          <a:p>
            <a:r>
              <a:rPr sz="1050" b="0" i="0">
                <a:solidFill>
                  <a:srgbClr val="1E2761"/>
                </a:solidFill>
                <a:latin typeface="Consolas"/>
              </a:rPr>
              <a:t>    0.036    (~ rmse 0.19)</a:t>
            </a:r>
          </a:p>
          <a:p>
            <a:r>
              <a:rPr sz="1050" b="1" i="0">
                <a:solidFill>
                  <a:srgbClr val="212121"/>
                </a:solidFill>
                <a:latin typeface="Calibri"/>
              </a:rPr>
              <a:t>full-mesh mae_u (7456 cells)</a:t>
            </a:r>
          </a:p>
          <a:p>
            <a:r>
              <a:rPr sz="1050" b="0" i="0">
                <a:solidFill>
                  <a:srgbClr val="1E2761"/>
                </a:solidFill>
                <a:latin typeface="Consolas"/>
              </a:rPr>
              <a:t>    0.106</a:t>
            </a:r>
          </a:p>
          <a:p>
            <a:r>
              <a:rPr sz="1050" b="1" i="0">
                <a:solidFill>
                  <a:srgbClr val="212121"/>
                </a:solidFill>
                <a:latin typeface="Calibri"/>
              </a:rPr>
              <a:t>full-mesh mae_v</a:t>
            </a:r>
          </a:p>
          <a:p>
            <a:r>
              <a:rPr sz="1050" b="0" i="0">
                <a:solidFill>
                  <a:srgbClr val="1E2761"/>
                </a:solidFill>
                <a:latin typeface="Consolas"/>
              </a:rPr>
              <a:t>    0.068</a:t>
            </a:r>
          </a:p>
          <a:p>
            <a:r>
              <a:rPr sz="1050" b="1" i="0">
                <a:solidFill>
                  <a:srgbClr val="212121"/>
                </a:solidFill>
                <a:latin typeface="Calibri"/>
              </a:rPr>
              <a:t>normalized speed-vector error</a:t>
            </a:r>
          </a:p>
          <a:p>
            <a:r>
              <a:rPr sz="1050" b="0" i="0">
                <a:solidFill>
                  <a:srgbClr val="1E2761"/>
                </a:solidFill>
                <a:latin typeface="Consolas"/>
              </a:rPr>
              <a:t>    mean|du,dv| / mean_speed  =  17.0 %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234440"/>
            <a:ext cx="5577840" cy="2331720"/>
          </a:xfrm>
          <a:prstGeom prst="roundRect">
            <a:avLst/>
          </a:prstGeom>
          <a:solidFill>
            <a:srgbClr val="ECF4EE"/>
          </a:solidFill>
          <a:ln w="9525">
            <a:solidFill>
              <a:srgbClr val="2C5F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9088" y="1325880"/>
            <a:ext cx="53492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r>
              <a:rPr sz="1300" b="1" i="0">
                <a:solidFill>
                  <a:srgbClr val="2C5F2D"/>
                </a:solidFill>
                <a:latin typeface="Calibri"/>
              </a:rPr>
              <a:t>Scale-up net  (width = 64, depth = 4, 14.9 k params)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9088" y="1645920"/>
            <a:ext cx="5349240" cy="19202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r>
              <a:rPr sz="1050" b="1" i="0">
                <a:solidFill>
                  <a:srgbClr val="212121"/>
                </a:solidFill>
                <a:latin typeface="Calibri"/>
              </a:rPr>
              <a:t>training-time DATA MSE (BFGS plateau)</a:t>
            </a:r>
          </a:p>
          <a:p>
            <a:r>
              <a:rPr sz="1050" b="0" i="0">
                <a:solidFill>
                  <a:srgbClr val="1E2761"/>
                </a:solidFill>
                <a:latin typeface="Consolas"/>
              </a:rPr>
              <a:t>    ~ 0.0008    (~ rmse 0.028)</a:t>
            </a:r>
          </a:p>
          <a:p>
            <a:r>
              <a:rPr sz="1050" b="1" i="0">
                <a:solidFill>
                  <a:srgbClr val="212121"/>
                </a:solidFill>
                <a:latin typeface="Calibri"/>
              </a:rPr>
              <a:t>full-mesh mae_u</a:t>
            </a:r>
          </a:p>
          <a:p>
            <a:r>
              <a:rPr sz="1050" b="0" i="0">
                <a:solidFill>
                  <a:srgbClr val="1E2761"/>
                </a:solidFill>
                <a:latin typeface="Consolas"/>
              </a:rPr>
              <a:t>    0.0186          (5.7× better)</a:t>
            </a:r>
          </a:p>
          <a:p>
            <a:r>
              <a:rPr sz="1050" b="1" i="0">
                <a:solidFill>
                  <a:srgbClr val="212121"/>
                </a:solidFill>
                <a:latin typeface="Calibri"/>
              </a:rPr>
              <a:t>full-mesh mae_v</a:t>
            </a:r>
          </a:p>
          <a:p>
            <a:r>
              <a:rPr sz="1050" b="0" i="0">
                <a:solidFill>
                  <a:srgbClr val="1E2761"/>
                </a:solidFill>
                <a:latin typeface="Consolas"/>
              </a:rPr>
              <a:t>    0.0108</a:t>
            </a:r>
          </a:p>
          <a:p>
            <a:r>
              <a:rPr sz="1050" b="1" i="0">
                <a:solidFill>
                  <a:srgbClr val="212121"/>
                </a:solidFill>
                <a:latin typeface="Calibri"/>
              </a:rPr>
              <a:t>normalized speed-vector error</a:t>
            </a:r>
          </a:p>
          <a:p>
            <a:r>
              <a:rPr sz="1050" b="0" i="0">
                <a:solidFill>
                  <a:srgbClr val="1E2761"/>
                </a:solidFill>
                <a:latin typeface="Consolas"/>
              </a:rPr>
              <a:t>    mean|du,dv| / mean_speed  =  2.9 %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749039"/>
            <a:ext cx="11338560" cy="2240280"/>
          </a:xfrm>
          <a:prstGeom prst="roundRect">
            <a:avLst/>
          </a:prstGeom>
          <a:solidFill>
            <a:srgbClr val="FBF8E9"/>
          </a:solidFill>
          <a:ln w="9525">
            <a:solidFill>
              <a:srgbClr val="C0A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840480"/>
            <a:ext cx="11064240" cy="20574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r>
              <a:rPr sz="1300" b="1" i="0">
                <a:solidFill>
                  <a:srgbClr val="7A1B1B"/>
                </a:solidFill>
                <a:latin typeface="Calibri"/>
              </a:rPr>
              <a:t>Finding</a:t>
            </a:r>
          </a:p>
          <a:p>
            <a:r>
              <a:rPr sz="1150" b="0" i="0">
                <a:solidFill>
                  <a:srgbClr val="212121"/>
                </a:solidFill>
                <a:latin typeface="Calibri"/>
              </a:rPr>
              <a:t>•  P1 "should be small" only holds with sufficient capacity.  On 32/3 the BFGS plateau (0.036) and full-mesh mae_u (0.106) reveal a representation ceiling, not an optimization failure.</a:t>
            </a:r>
          </a:p>
          <a:p>
            <a:r>
              <a:rPr sz="1150" b="0" i="0">
                <a:solidFill>
                  <a:srgbClr val="212121"/>
                </a:solidFill>
                <a:latin typeface="Calibri"/>
              </a:rPr>
              <a:t>•  This is exactly the bottleneck that slide 27's scale-up to 64/4 breaks: same protocol, same data_priority, mae_u drops by 5.7× and normalized speed error from 17.0% → 2.9%.</a:t>
            </a:r>
          </a:p>
          <a:p>
            <a:r>
              <a:rPr sz="1150" b="0" i="0">
                <a:solidFill>
                  <a:srgbClr val="212121"/>
                </a:solidFill>
                <a:latin typeface="Calibri"/>
              </a:rPr>
              <a:t>•  All subsequent diagnostic comparisons (loss curves, vorticity) use the 32/3 baseline because the failure modes are clearer there.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6459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430000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r>
              <a:rPr sz="2600" b="1" i="0">
                <a:solidFill>
                  <a:srgbClr val="212121"/>
                </a:solidFill>
                <a:latin typeface="Calibri"/>
              </a:rPr>
              <a:t>Loss Curves — Three Runs Side by Side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777240"/>
            <a:ext cx="114300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r>
              <a:rPr sz="1100" b="0" i="0">
                <a:solidFill>
                  <a:srgbClr val="4A4A4A"/>
                </a:solidFill>
                <a:latin typeface="Calibri"/>
              </a:rPr>
              <a:t>P1 baseline (data-only)   /   P2 strict consistency (no data)   /   P2 all-CFD anchor, prio = 2.0     [small net 32/3, Adam ⟶ BFGS on a single x-axis]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1078992"/>
            <a:ext cx="11183112" cy="0"/>
          </a:xfrm>
          <a:prstGeom prst="line">
            <a:avLst/>
          </a:prstGeom>
          <a:ln w="6350">
            <a:solidFill>
              <a:srgbClr val="4A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r>
              <a:rPr sz="900" b="0" i="0">
                <a:solidFill>
                  <a:srgbClr val="4A4A4A"/>
                </a:solidFill>
                <a:latin typeface="Calibri"/>
              </a:rPr>
              <a:t>Junhe Chen  |  PINN Cylinder Flow Reconstruction  |  Brown University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r>
              <a:rPr sz="900" b="0" i="0">
                <a:solidFill>
                  <a:srgbClr val="4A4A4A"/>
                </a:solidFill>
                <a:latin typeface="Calibri"/>
              </a:rPr>
              <a:t>29</a:t>
            </a:r>
          </a:p>
        </p:txBody>
      </p:sp>
      <p:pic>
        <p:nvPicPr>
          <p:cNvPr id="8" name="Picture 7" descr="fig01_loss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7539" y="1143000"/>
            <a:ext cx="7272161" cy="2514600"/>
          </a:xfrm>
          <a:prstGeom prst="rect">
            <a:avLst/>
          </a:prstGeom>
        </p:spPr>
      </p:pic>
      <p:pic>
        <p:nvPicPr>
          <p:cNvPr id="9" name="Picture 8" descr="fig01b_mae_curv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8617" y="3703320"/>
            <a:ext cx="6930005" cy="21031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5852160"/>
            <a:ext cx="1133856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r>
              <a:rPr sz="950" b="0" i="1">
                <a:solidFill>
                  <a:srgbClr val="4A4A4A"/>
                </a:solidFill>
                <a:latin typeface="Calibri"/>
              </a:rPr>
              <a:t>Top: training-loss components that are actually in each run's objective  (DATA off for strict-consistency, PDE off for baseline).</a:t>
            </a:r>
          </a:p>
          <a:p>
            <a:r>
              <a:rPr sz="950" b="0" i="1">
                <a:solidFill>
                  <a:srgbClr val="4A4A4A"/>
                </a:solidFill>
                <a:latin typeface="Calibri"/>
              </a:rPr>
              <a:t>Bottom: full-mesh CFD-monitor MAE — note strict-consistency drifts UP from 0.10 to 0.34 once data anchor is removed.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6459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430000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r>
              <a:rPr sz="2600" b="1" i="0">
                <a:solidFill>
                  <a:srgbClr val="212121"/>
                </a:solidFill>
                <a:latin typeface="Calibri"/>
              </a:rPr>
              <a:t>Velocity Error — √(u²+v²) Normalization, not rel_l2_v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777240"/>
            <a:ext cx="114300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r>
              <a:rPr sz="1100" b="0" i="0">
                <a:solidFill>
                  <a:srgbClr val="4A4A4A"/>
                </a:solidFill>
                <a:latin typeface="Calibri"/>
              </a:rPr>
              <a:t>Mentor's correction: ‖v_true‖₂ is only 11.5 % of ‖u_true‖₂, so rel_l2_v inflates the v error by ≈ 8.7×.  Use speed-magnitude normalization instead.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1078992"/>
            <a:ext cx="11183112" cy="0"/>
          </a:xfrm>
          <a:prstGeom prst="line">
            <a:avLst/>
          </a:prstGeom>
          <a:ln w="6350">
            <a:solidFill>
              <a:srgbClr val="4A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r>
              <a:rPr sz="900" b="0" i="0">
                <a:solidFill>
                  <a:srgbClr val="4A4A4A"/>
                </a:solidFill>
                <a:latin typeface="Calibri"/>
              </a:rPr>
              <a:t>Junhe Chen  |  PINN Cylinder Flow Reconstruction  |  Brown University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r>
              <a:rPr sz="900" b="0" i="0">
                <a:solidFill>
                  <a:srgbClr val="4A4A4A"/>
                </a:solidFill>
                <a:latin typeface="Calibri"/>
              </a:rPr>
              <a:t>30</a:t>
            </a:r>
          </a:p>
        </p:txBody>
      </p:sp>
      <p:pic>
        <p:nvPicPr>
          <p:cNvPr id="8" name="Picture 7" descr="fig02_metric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193159"/>
            <a:ext cx="7726679" cy="21059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275320" y="1234440"/>
            <a:ext cx="3611880" cy="4069080"/>
          </a:xfrm>
          <a:prstGeom prst="roundRect">
            <a:avLst/>
          </a:prstGeom>
          <a:solidFill>
            <a:srgbClr val="F6F7FB"/>
          </a:solidFill>
          <a:ln w="9525">
            <a:solidFill>
              <a:srgbClr val="1E2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66760" y="1325880"/>
            <a:ext cx="35204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r>
              <a:rPr sz="1300" b="1" i="0">
                <a:solidFill>
                  <a:srgbClr val="1E2761"/>
                </a:solidFill>
                <a:latin typeface="Calibri"/>
              </a:rPr>
              <a:t>Final-iteration metrics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1600200"/>
            <a:ext cx="3520440" cy="3657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r>
              <a:rPr sz="1000" b="1" i="0">
                <a:solidFill>
                  <a:srgbClr val="212121"/>
                </a:solidFill>
                <a:latin typeface="Calibri"/>
              </a:rPr>
              <a:t>CFD truth (7456 cells)</a:t>
            </a:r>
          </a:p>
          <a:p>
            <a:r>
              <a:rPr sz="950" b="0" i="0">
                <a:solidFill>
                  <a:srgbClr val="1E2761"/>
                </a:solidFill>
                <a:latin typeface="Consolas"/>
              </a:rPr>
              <a:t>    ‖u‖₂ = 77.17                            </a:t>
            </a:r>
          </a:p>
          <a:p>
            <a:r>
              <a:rPr sz="950" b="0" i="0">
                <a:solidFill>
                  <a:srgbClr val="1E2761"/>
                </a:solidFill>
                <a:latin typeface="Consolas"/>
              </a:rPr>
              <a:t>    ‖v‖₂ =  8.91     (only 11.5% of ‖u‖₂)</a:t>
            </a:r>
          </a:p>
          <a:p>
            <a:r>
              <a:rPr sz="950" b="0" i="0">
                <a:solidFill>
                  <a:srgbClr val="1E2761"/>
                </a:solidFill>
                <a:latin typeface="Consolas"/>
              </a:rPr>
              <a:t>    mean_speed = 0.816</a:t>
            </a:r>
          </a:p>
          <a:p>
            <a:r>
              <a:rPr sz="1000" b="1" i="0">
                <a:solidFill>
                  <a:srgbClr val="212121"/>
                </a:solidFill>
                <a:latin typeface="Calibri"/>
              </a:rPr>
              <a:t>P1 baseline (data-only)</a:t>
            </a:r>
          </a:p>
          <a:p>
            <a:r>
              <a:rPr sz="950" b="0" i="0">
                <a:solidFill>
                  <a:srgbClr val="1E2761"/>
                </a:solidFill>
                <a:latin typeface="Consolas"/>
              </a:rPr>
              <a:t>    mae_u = 0.106   mae_v = 0.068</a:t>
            </a:r>
          </a:p>
          <a:p>
            <a:r>
              <a:rPr sz="950" b="0" i="0">
                <a:solidFill>
                  <a:srgbClr val="1E2761"/>
                </a:solidFill>
                <a:latin typeface="Consolas"/>
              </a:rPr>
              <a:t>    speed-norm  =  17.0 %    rel_l2 =  0.92</a:t>
            </a:r>
          </a:p>
          <a:p>
            <a:r>
              <a:rPr sz="1000" b="1" i="0">
                <a:solidFill>
                  <a:srgbClr val="7A1B1B"/>
                </a:solidFill>
                <a:latin typeface="Calibri"/>
              </a:rPr>
              <a:t>P2 strict consistency (no data)</a:t>
            </a:r>
          </a:p>
          <a:p>
            <a:r>
              <a:rPr sz="950" b="0" i="0">
                <a:solidFill>
                  <a:srgbClr val="7A1B1B"/>
                </a:solidFill>
                <a:latin typeface="Consolas"/>
              </a:rPr>
              <a:t>    mae_u = 0.339   mae_v = 0.183</a:t>
            </a:r>
          </a:p>
          <a:p>
            <a:r>
              <a:rPr sz="950" b="0" i="0">
                <a:solidFill>
                  <a:srgbClr val="7A1B1B"/>
                </a:solidFill>
                <a:latin typeface="Consolas"/>
              </a:rPr>
              <a:t>    speed-norm  =  49.4 %    rel_l2 =  2.25</a:t>
            </a:r>
          </a:p>
          <a:p>
            <a:r>
              <a:rPr sz="1000" b="1" i="0">
                <a:solidFill>
                  <a:srgbClr val="2C5F2D"/>
                </a:solidFill>
                <a:latin typeface="Calibri"/>
              </a:rPr>
              <a:t>P2 all-CFD anchor (prio = 2)</a:t>
            </a:r>
          </a:p>
          <a:p>
            <a:r>
              <a:rPr sz="950" b="0" i="0">
                <a:solidFill>
                  <a:srgbClr val="1E2761"/>
                </a:solidFill>
                <a:latin typeface="Consolas"/>
              </a:rPr>
              <a:t>    mae_u = 0.129   mae_v = 0.071</a:t>
            </a:r>
          </a:p>
          <a:p>
            <a:r>
              <a:rPr sz="950" b="0" i="0">
                <a:solidFill>
                  <a:srgbClr val="1E2761"/>
                </a:solidFill>
                <a:latin typeface="Consolas"/>
              </a:rPr>
              <a:t>    speed-norm  =  19.6 %    rel_l2 =  0.97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440680"/>
            <a:ext cx="11338560" cy="914400"/>
          </a:xfrm>
          <a:prstGeom prst="roundRect">
            <a:avLst/>
          </a:prstGeom>
          <a:solidFill>
            <a:srgbClr val="FBF8E9"/>
          </a:solidFill>
          <a:ln w="9525">
            <a:solidFill>
              <a:srgbClr val="C0A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5532120"/>
            <a:ext cx="11064240" cy="7772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r>
              <a:rPr sz="1200" b="1" i="0">
                <a:solidFill>
                  <a:srgbClr val="7A1B1B"/>
                </a:solidFill>
                <a:latin typeface="Calibri"/>
              </a:rPr>
              <a:t>Reading</a:t>
            </a:r>
          </a:p>
          <a:p>
            <a:r>
              <a:rPr sz="1050" b="0" i="0">
                <a:solidFill>
                  <a:srgbClr val="212121"/>
                </a:solidFill>
                <a:latin typeface="Calibri"/>
              </a:rPr>
              <a:t>Speed-normalized error makes the three runs comparable on a 0–1 scale:  17 % / 49 % / 20 %.  Strict-consistency's ≈ 50 % drift is the trivial-attractor failure.  Old rel_l2_v ≈ 0.9 / 2.2 / 1.0 looked alarming but only because ‖v_true‖₂ is tiny — the numbers were not directly comparable across runs.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6459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430000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r>
              <a:rPr sz="2600" b="1" i="0">
                <a:solidFill>
                  <a:srgbClr val="212121"/>
                </a:solidFill>
                <a:latin typeface="Calibri"/>
              </a:rPr>
              <a:t>Vorticity — CFD truth vs Three PINN Runs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777240"/>
            <a:ext cx="114300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r>
              <a:rPr sz="1100" b="0" i="0">
                <a:solidFill>
                  <a:srgbClr val="4A4A4A"/>
                </a:solidFill>
                <a:latin typeface="Calibri"/>
              </a:rPr>
              <a:t>Same small net 32/3.  All four panels now share the vmin/vmax = ±8 colorbar (matched rerender of the PINN checkpoints on Oscar).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1078992"/>
            <a:ext cx="11183112" cy="0"/>
          </a:xfrm>
          <a:prstGeom prst="line">
            <a:avLst/>
          </a:prstGeom>
          <a:ln w="6350">
            <a:solidFill>
              <a:srgbClr val="4A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r>
              <a:rPr sz="900" b="0" i="0">
                <a:solidFill>
                  <a:srgbClr val="4A4A4A"/>
                </a:solidFill>
                <a:latin typeface="Calibri"/>
              </a:rPr>
              <a:t>Junhe Chen  |  PINN Cylinder Flow Reconstruction  |  Brown University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r>
              <a:rPr sz="900" b="0" i="0">
                <a:solidFill>
                  <a:srgbClr val="4A4A4A"/>
                </a:solidFill>
                <a:latin typeface="Calibri"/>
              </a:rPr>
              <a:t>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21040" y="1188720"/>
            <a:ext cx="3520440" cy="1417320"/>
          </a:xfrm>
          <a:prstGeom prst="roundRect">
            <a:avLst/>
          </a:prstGeom>
          <a:solidFill>
            <a:srgbClr val="F6F7FB"/>
          </a:solidFill>
          <a:ln w="9525">
            <a:solidFill>
              <a:srgbClr val="1E2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58200" y="1280160"/>
            <a:ext cx="33375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r>
              <a:rPr sz="1200" b="1" i="0">
                <a:solidFill>
                  <a:srgbClr val="1E2761"/>
                </a:solidFill>
                <a:latin typeface="Calibri"/>
              </a:rPr>
              <a:t>CFD truth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1554480"/>
            <a:ext cx="3337560" cy="10058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r>
              <a:rPr sz="1000" b="0" i="0">
                <a:solidFill>
                  <a:srgbClr val="212121"/>
                </a:solidFill>
                <a:latin typeface="Calibri"/>
              </a:rPr>
              <a:t>Two opposite-signed shear-layer bands, |ω|_peak ≈ 7.5; clean recirculation bubble.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21040" y="2697480"/>
            <a:ext cx="3520440" cy="1280160"/>
          </a:xfrm>
          <a:prstGeom prst="roundRect">
            <a:avLst/>
          </a:prstGeom>
          <a:solidFill>
            <a:srgbClr val="F6F7FB"/>
          </a:solidFill>
          <a:ln w="9525">
            <a:solidFill>
              <a:srgbClr val="1E2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2788920"/>
            <a:ext cx="33375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r>
              <a:rPr sz="1200" b="1" i="0">
                <a:solidFill>
                  <a:srgbClr val="1E2761"/>
                </a:solidFill>
                <a:latin typeface="Calibri"/>
              </a:rPr>
              <a:t>P1 baseline (blue)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58200" y="3063240"/>
            <a:ext cx="3337560" cy="9144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r>
              <a:rPr sz="1000" b="0" i="0">
                <a:solidFill>
                  <a:srgbClr val="212121"/>
                </a:solidFill>
                <a:latin typeface="Calibri"/>
              </a:rPr>
              <a:t>Vorticity is essentially 0 everywhere (auto-range ± 0.06).  Small net cannot represent the wake's high gradients — velocity looks fine because it is smooth.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21040" y="4069080"/>
            <a:ext cx="3520440" cy="1280160"/>
          </a:xfrm>
          <a:prstGeom prst="roundRect">
            <a:avLst/>
          </a:prstGeom>
          <a:solidFill>
            <a:srgbClr val="F8EEEC"/>
          </a:solidFill>
          <a:ln w="9525">
            <a:solidFill>
              <a:srgbClr val="7A1B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58200" y="4160520"/>
            <a:ext cx="33375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r>
              <a:rPr sz="1200" b="1" i="0">
                <a:solidFill>
                  <a:srgbClr val="7A1B1B"/>
                </a:solidFill>
                <a:latin typeface="Calibri"/>
              </a:rPr>
              <a:t>P2 strict consistency (red)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4434840"/>
            <a:ext cx="3337560" cy="9144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r>
              <a:rPr sz="1000" b="0" i="0">
                <a:solidFill>
                  <a:srgbClr val="212121"/>
                </a:solidFill>
                <a:latin typeface="Calibri"/>
              </a:rPr>
              <a:t>Vorticity ± 7.5 noise spread across the whole domain — no coherent wake.  PDE residual → 0 is achieved by drifting to a trivial NS solution.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21040" y="5440680"/>
            <a:ext cx="3520440" cy="960120"/>
          </a:xfrm>
          <a:prstGeom prst="roundRect">
            <a:avLst/>
          </a:prstGeom>
          <a:solidFill>
            <a:srgbClr val="ECF4EE"/>
          </a:solidFill>
          <a:ln w="9525">
            <a:solidFill>
              <a:srgbClr val="2C5F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58200" y="5486400"/>
            <a:ext cx="33375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r>
              <a:rPr sz="1200" b="1" i="0">
                <a:solidFill>
                  <a:srgbClr val="2C5F2D"/>
                </a:solidFill>
                <a:latin typeface="Calibri"/>
              </a:rPr>
              <a:t>P2 all-CFD anchor (green)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5760720"/>
            <a:ext cx="333756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r>
              <a:rPr sz="1000" b="0" i="0">
                <a:solidFill>
                  <a:srgbClr val="212121"/>
                </a:solidFill>
                <a:latin typeface="Calibri"/>
              </a:rPr>
              <a:t>Vorticity localised near cylinder, qualitatively closer to CFD; needs scale-up for derivative-level match.</a:t>
            </a:r>
          </a:p>
        </p:txBody>
      </p:sp>
      <p:pic>
        <p:nvPicPr>
          <p:cNvPr id="21" name="Picture 20" descr="fig03_matched_pa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086" y="1188720"/>
            <a:ext cx="6877186" cy="5029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12431</Words>
  <Application>WPS 演示</Application>
  <PresentationFormat/>
  <Paragraphs>766</Paragraphs>
  <Slides>27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19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27</vt:i4>
      </vt:variant>
    </vt:vector>
  </HeadingPairs>
  <TitlesOfParts>
    <vt:vector size="48" baseType="lpstr">
      <vt:lpstr>Arial</vt:lpstr>
      <vt:lpstr>宋体</vt:lpstr>
      <vt:lpstr>Wingdings</vt:lpstr>
      <vt:lpstr>Arial</vt:lpstr>
      <vt:lpstr>Calibri</vt:lpstr>
      <vt:lpstr>Helvetica Neue</vt:lpstr>
      <vt:lpstr>Play</vt:lpstr>
      <vt:lpstr>Courier New</vt:lpstr>
      <vt:lpstr>微软雅黑</vt:lpstr>
      <vt:lpstr>汉仪旗黑</vt:lpstr>
      <vt:lpstr>宋体</vt:lpstr>
      <vt:lpstr>Arial Unicode MS</vt:lpstr>
      <vt:lpstr>汉仪书宋二KW</vt:lpstr>
      <vt:lpstr>Consolas</vt:lpstr>
      <vt:lpstr>Thonburi</vt:lpstr>
      <vt:lpstr>Consolas</vt:lpstr>
      <vt:lpstr>Courier New</vt:lpstr>
      <vt:lpstr>Play</vt:lpstr>
      <vt:lpstr>苹方-简</vt:lpstr>
      <vt:lpstr>Office Theme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Man Lian</cp:lastModifiedBy>
  <cp:revision>1</cp:revision>
  <dcterms:created xsi:type="dcterms:W3CDTF">2026-06-02T07:39:51Z</dcterms:created>
  <dcterms:modified xsi:type="dcterms:W3CDTF">2026-06-02T07:39:51Z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2052-12.1.25895.25895</vt:lpwstr>
  </property>
  <property fmtid="{D5CDD505-2E9C-101B-9397-08002B2CF9AE}" pid="3" name="ICV">
    <vt:lpwstr>3C8B071B7FF13D71C6881E6A3D97E2F6_42</vt:lpwstr>
  </property>
</Properties>
</file>