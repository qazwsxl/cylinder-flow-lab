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12192000" cy="6858000"/>
  <p:notesSz cx="6858000" cy="9144000"/>
  <p:embeddedFontLst>
    <p:embeddedFont>
      <p:font typeface="Play" panose="0000050000000000000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fc5c171f2_4_9:notes"/>
          <p:cNvSpPr/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3cfc5c171f2_4_9:notes"/>
          <p:cNvSpPr txBox="1"/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g3cfc5c171f2_4_9:notes"/>
          <p:cNvSpPr txBox="1"/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a1d1f1b2_0_0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aa1d1f1b2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fc5c171f2_4_24:notes"/>
          <p:cNvSpPr/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3cfc5c171f2_4_24:notes"/>
          <p:cNvSpPr txBox="1"/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" name="Google Shape;109;g3cfc5c171f2_4_24:notes"/>
          <p:cNvSpPr txBox="1"/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fc5c171f2_4_50:notes"/>
          <p:cNvSpPr/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cfc5c171f2_4_50:notes"/>
          <p:cNvSpPr txBox="1"/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g3cfc5c171f2_4_50:notes"/>
          <p:cNvSpPr txBox="1"/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fc5c171f2_4_68:notes"/>
          <p:cNvSpPr/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3cfc5c171f2_4_68:notes"/>
          <p:cNvSpPr txBox="1"/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" name="Google Shape;152;g3cfc5c171f2_4_68:notes"/>
          <p:cNvSpPr txBox="1"/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fc5c171f2_4_104:notes"/>
          <p:cNvSpPr/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3cfc5c171f2_4_104:notes"/>
          <p:cNvSpPr txBox="1"/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g3cfc5c171f2_4_104:notes"/>
          <p:cNvSpPr txBox="1"/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fc5c171f2_4_135:notes"/>
          <p:cNvSpPr/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cfc5c171f2_4_135:notes"/>
          <p:cNvSpPr txBox="1"/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g3cfc5c171f2_4_135:notes"/>
          <p:cNvSpPr txBox="1"/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fc5c171f2_2_3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fc5c171f2_2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fc5c171f2_2_8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cfc5c171f2_2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fc5c171f2_2_13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fc5c171f2_2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fc5c171f2_2_16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fc5c171f2_2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fc5c171f2_2_2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fc5c171f2_2_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fc5c171f2_4_154:notes"/>
          <p:cNvSpPr/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3cfc5c171f2_4_154:notes"/>
          <p:cNvSpPr txBox="1"/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3" name="Google Shape;263;g3cfc5c171f2_4_154:notes"/>
          <p:cNvSpPr txBox="1"/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fc5c171f2_2_26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fc5c171f2_2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">
  <p:cSld name="MASTER">
    <p:bg>
      <p:bgPr>
        <a:solidFill>
          <a:srgbClr val="F8FAFC"/>
        </a:solidFill>
        <a:effectLst/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0019"/>
          </a:solidFill>
          <a:ln w="12700" cap="flat" cmpd="sng">
            <a:solidFill>
              <a:srgbClr val="7A00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" name="Google Shape;84;p1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4"/>
          <p:cNvSpPr/>
          <p:nvPr/>
        </p:nvSpPr>
        <p:spPr>
          <a:xfrm>
            <a:off x="411480" y="6592824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 panose="020B0604020202090204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Junhe Chen  |  PINN Cylinder Flow Reconstruction</a:t>
            </a:r>
            <a:endParaRPr sz="9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9829800" y="659282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 panose="020B0604020202090204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Brown University</a:t>
            </a:r>
            <a:endParaRPr sz="9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7" name="Google Shape;87;p14"/>
          <p:cNvSpPr txBox="1"/>
          <p:nvPr>
            <p:ph type="sldNum" idx="12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sldNum" idx="12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502920" y="594360"/>
            <a:ext cx="11155680" cy="5440680"/>
          </a:xfrm>
          <a:prstGeom prst="roundRect">
            <a:avLst>
              <a:gd name="adj" fmla="val 1345"/>
            </a:avLst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16"/>
          <p:cNvSpPr/>
          <p:nvPr/>
        </p:nvSpPr>
        <p:spPr>
          <a:xfrm>
            <a:off x="502920" y="594360"/>
            <a:ext cx="11155680" cy="164592"/>
          </a:xfrm>
          <a:prstGeom prst="rect">
            <a:avLst/>
          </a:prstGeom>
          <a:solidFill>
            <a:srgbClr val="7A0019"/>
          </a:solidFill>
          <a:ln w="12700" cap="flat" cmpd="sng">
            <a:solidFill>
              <a:srgbClr val="7A00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16"/>
          <p:cNvSpPr/>
          <p:nvPr/>
        </p:nvSpPr>
        <p:spPr>
          <a:xfrm>
            <a:off x="868680" y="1188720"/>
            <a:ext cx="7132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 panose="00000500000000000000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Physics-Informed Reconstruction of Cylinder Flow</a:t>
            </a:r>
            <a:r>
              <a:rPr lang="en-US" sz="2600">
                <a:solidFill>
                  <a:schemeClr val="dk1"/>
                </a:solidFill>
              </a:rPr>
              <a:t> </a:t>
            </a:r>
            <a:r>
              <a:rPr lang="en-US" sz="2600" b="1" i="0" u="none" strike="noStrike" cap="none">
                <a:solidFill>
                  <a:srgbClr val="FFFFFF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with Reynolds Continuation</a:t>
            </a:r>
            <a:endParaRPr sz="26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932688" y="25146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 panose="020B0604020202090204"/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PINN-based reconstruction and transition analysis for 2D incompressible flow past a cylinder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9006840" y="168249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285100" y="4279272"/>
            <a:ext cx="3749100" cy="109740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Junhe Chen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9464040" y="53766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 panose="020B0604020202090204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Spring 2026</a:t>
            </a:r>
            <a:endParaRPr sz="1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1" name="Google Shape;101;p16"/>
          <p:cNvSpPr txBox="1"/>
          <p:nvPr>
            <p:ph type="sldNum" idx="4294967295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 cap="none">
              <a:solidFill>
                <a:srgbClr val="334155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 panose="00000500000000000000"/>
              <a:buNone/>
            </a:pPr>
            <a:r>
              <a:rPr lang="en-US" sz="2600" b="1" i="0" u="none" strike="noStrike" cap="none">
                <a:solidFill>
                  <a:srgbClr val="0F172A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Project Overview</a:t>
            </a:r>
            <a:endParaRPr sz="26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 panose="020B0604020202090204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Physical problem, objectives, and expected transition behavior</a:t>
            </a:r>
            <a:endParaRPr sz="10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113" name="Google Shape;113;p18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p18"/>
          <p:cNvSpPr/>
          <p:nvPr/>
        </p:nvSpPr>
        <p:spPr>
          <a:xfrm>
            <a:off x="571505" y="1325880"/>
            <a:ext cx="5486400" cy="452640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18"/>
          <p:cNvSpPr/>
          <p:nvPr/>
        </p:nvSpPr>
        <p:spPr>
          <a:xfrm>
            <a:off x="804672" y="1435608"/>
            <a:ext cx="515721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Problem Statement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868680" y="1783080"/>
            <a:ext cx="48920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 panose="020B0604020202090204"/>
              <a:buChar char="•"/>
            </a:pPr>
            <a:r>
              <a:rPr lang="en-US" sz="17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2D incompressible flow past a circular cylinder is a canonical benchmark in fluid dynamics.</a:t>
            </a:r>
            <a:endParaRPr sz="17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 panose="020B0604020202090204"/>
              <a:buChar char="•"/>
            </a:pPr>
            <a:r>
              <a:rPr lang="en-US" sz="17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As Reynolds number increases, the wake evolves from steady symmetric recirculation to time-periodic vortex shedding.</a:t>
            </a:r>
            <a:endParaRPr sz="17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 panose="020B0604020202090204"/>
              <a:buChar char="•"/>
            </a:pPr>
            <a:r>
              <a:rPr lang="en-US" sz="17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This project uses a Physics-Informed Neural Network (PINN) to reconstruct the flow field and study the transition region.</a:t>
            </a:r>
            <a:endParaRPr sz="17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804675" y="4123950"/>
            <a:ext cx="4617600" cy="1417200"/>
          </a:xfrm>
          <a:prstGeom prst="roundRect">
            <a:avLst>
              <a:gd name="adj" fmla="val 3226"/>
            </a:avLst>
          </a:prstGeom>
          <a:solidFill>
            <a:srgbClr val="EFF6FF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18"/>
          <p:cNvSpPr/>
          <p:nvPr/>
        </p:nvSpPr>
        <p:spPr>
          <a:xfrm>
            <a:off x="1035505" y="4279398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1D4ED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Geometry and setup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1035505" y="4594230"/>
            <a:ext cx="3840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 panose="020B0604020202090204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Cylinder radius R = 0.5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 panose="020B0604020202090204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Domain x in [-5, 25], y in [-10, 10]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 panose="020B0604020202090204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Target Reynolds sweep: Re = 5 to 100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6400800" y="1325880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F8FAFC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p18"/>
          <p:cNvSpPr/>
          <p:nvPr/>
        </p:nvSpPr>
        <p:spPr>
          <a:xfrm>
            <a:off x="6565392" y="1435608"/>
            <a:ext cx="483717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Main Deliverables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6675120" y="1783080"/>
            <a:ext cx="4572000" cy="82296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18"/>
          <p:cNvSpPr/>
          <p:nvPr/>
        </p:nvSpPr>
        <p:spPr>
          <a:xfrm>
            <a:off x="6858000" y="192938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Flow reconstruction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8641080" y="192938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 panose="020B0604020202090204"/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Velocity, pressure, vorticity, and streamlines</a:t>
            </a:r>
            <a:endParaRPr sz="12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6675120" y="3977640"/>
            <a:ext cx="4572000" cy="82296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p18"/>
          <p:cNvSpPr/>
          <p:nvPr/>
        </p:nvSpPr>
        <p:spPr>
          <a:xfrm>
            <a:off x="6858000" y="412394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Reusable pipeline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8641080" y="41239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 panose="020B0604020202090204"/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Continuation training across Reynolds numbers</a:t>
            </a:r>
            <a:endParaRPr sz="12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675120" y="50749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Arial" panose="020B060402020209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9" name="Google Shape;129;p18"/>
          <p:cNvSpPr txBox="1"/>
          <p:nvPr>
            <p:ph type="sldNum" idx="4294967295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 cap="none">
              <a:solidFill>
                <a:srgbClr val="334155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 panose="00000500000000000000"/>
              <a:buNone/>
            </a:pPr>
            <a:r>
              <a:rPr lang="en-US" sz="2600" b="1" i="0" u="none" strike="noStrike" cap="none">
                <a:solidFill>
                  <a:srgbClr val="0F172A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Governing Equations and PINN Formulation</a:t>
            </a:r>
            <a:endParaRPr sz="26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 panose="020B0604020202090204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2D incompressible Navier-Stokes with stream-function parameterization</a:t>
            </a:r>
            <a:endParaRPr sz="10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137" name="Google Shape;137;p19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" name="Google Shape;138;p19"/>
          <p:cNvSpPr/>
          <p:nvPr/>
        </p:nvSpPr>
        <p:spPr>
          <a:xfrm>
            <a:off x="640080" y="1325880"/>
            <a:ext cx="6400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19"/>
          <p:cNvSpPr/>
          <p:nvPr/>
        </p:nvSpPr>
        <p:spPr>
          <a:xfrm>
            <a:off x="804672" y="1435608"/>
            <a:ext cx="607161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Navier-Stokes Equations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1051560" y="1965960"/>
            <a:ext cx="55778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ourier New" panose="02070409020205090404"/>
              <a:buNone/>
            </a:pPr>
            <a:r>
              <a:rPr lang="en-US" sz="2000" b="0" i="0" u="none" strike="noStrike" cap="none">
                <a:solidFill>
                  <a:srgbClr val="111827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u_t + u u_x + v u_y = -p_x + (1/Re)(u_xx + u_yy)</a:t>
            </a:r>
            <a:endParaRPr sz="2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ourier New" panose="02070409020205090404"/>
              <a:buNone/>
            </a:pPr>
            <a:r>
              <a:rPr lang="en-US" sz="2000" b="0" i="0" u="none" strike="noStrike" cap="none">
                <a:solidFill>
                  <a:srgbClr val="111827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v_t + u v_x + v v_y = -p_y + (1/Re)(v_xx + v_yy)</a:t>
            </a:r>
            <a:endParaRPr sz="2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ourier New" panose="02070409020205090404"/>
              <a:buNone/>
            </a:pPr>
            <a:r>
              <a:rPr lang="en-US" sz="2000" b="0" i="0" u="none" strike="noStrike" cap="none">
                <a:solidFill>
                  <a:srgbClr val="111827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u_x + v_y = 0</a:t>
            </a:r>
            <a:endParaRPr sz="2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914400" y="3886200"/>
            <a:ext cx="5806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 panose="020B0604020202090204"/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The PINN minimizes PDE residuals together with boundary, initial, and outlet constraints using automatic differentiation.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7315200" y="1325880"/>
            <a:ext cx="4251960" cy="44805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" name="Google Shape;143;p19"/>
          <p:cNvSpPr/>
          <p:nvPr/>
        </p:nvSpPr>
        <p:spPr>
          <a:xfrm>
            <a:off x="7479792" y="1435608"/>
            <a:ext cx="392277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Stream Function Form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7726680" y="187452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 panose="020B0604020202090204"/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Represent the solution as</a:t>
            </a:r>
            <a:endParaRPr sz="18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 panose="020B0604020202090204"/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psi(x, y, t), p(x, y, t)</a:t>
            </a:r>
            <a:endParaRPr sz="18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7818120" y="2606040"/>
            <a:ext cx="3246120" cy="868680"/>
          </a:xfrm>
          <a:prstGeom prst="roundRect">
            <a:avLst>
              <a:gd name="adj" fmla="val 4211"/>
            </a:avLst>
          </a:prstGeom>
          <a:solidFill>
            <a:srgbClr val="EFF6FF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19"/>
          <p:cNvSpPr/>
          <p:nvPr/>
        </p:nvSpPr>
        <p:spPr>
          <a:xfrm>
            <a:off x="8001000" y="2816352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000"/>
              <a:buFont typeface="Courier New" panose="02070409020205090404"/>
              <a:buNone/>
            </a:pPr>
            <a:r>
              <a:rPr lang="en-US" sz="2000" b="1" i="0" u="none" strike="noStrike" cap="none">
                <a:solidFill>
                  <a:srgbClr val="1D4ED8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u = d psi / d y</a:t>
            </a:r>
            <a:endParaRPr sz="2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000"/>
              <a:buFont typeface="Courier New" panose="02070409020205090404"/>
              <a:buNone/>
            </a:pPr>
            <a:r>
              <a:rPr lang="en-US" sz="2000" b="1" i="0" u="none" strike="noStrike" cap="none">
                <a:solidFill>
                  <a:srgbClr val="1D4ED8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v = - d psi / d x</a:t>
            </a:r>
            <a:endParaRPr sz="2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7635240" y="3840480"/>
            <a:ext cx="36118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 panose="020B0604020202090204"/>
              <a:buChar char="•"/>
            </a:pPr>
            <a:r>
              <a:rPr lang="en-US" sz="15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Enforces incompressibility by construction.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 panose="020B0604020202090204"/>
              <a:buChar char="•"/>
            </a:pPr>
            <a:r>
              <a:rPr lang="en-US" sz="15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Removes the need for an extra divergence penalty term.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 panose="020B0604020202090204"/>
              <a:buChar char="•"/>
            </a:pPr>
            <a:r>
              <a:rPr lang="en-US" sz="15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Produces smooth derivatives compatible with PDE residual evaluation.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8" name="Google Shape;148;p19"/>
          <p:cNvSpPr txBox="1"/>
          <p:nvPr>
            <p:ph type="sldNum" idx="4294967295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 cap="none">
              <a:solidFill>
                <a:srgbClr val="334155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 panose="00000500000000000000"/>
              <a:buNone/>
            </a:pPr>
            <a:r>
              <a:rPr lang="en-US" sz="2600" b="1" i="0" u="none" strike="noStrike" cap="none">
                <a:solidFill>
                  <a:srgbClr val="0F172A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Network Architecture, Training, and Loss Design</a:t>
            </a:r>
            <a:endParaRPr sz="26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155" name="Google Shape;155;p20"/>
          <p:cNvCxnSpPr/>
          <p:nvPr/>
        </p:nvCxnSpPr>
        <p:spPr>
          <a:xfrm>
            <a:off x="548640" y="914400"/>
            <a:ext cx="11064240" cy="0"/>
          </a:xfrm>
          <a:prstGeom prst="straightConnector1">
            <a:avLst/>
          </a:prstGeom>
          <a:noFill/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p20"/>
          <p:cNvSpPr/>
          <p:nvPr/>
        </p:nvSpPr>
        <p:spPr>
          <a:xfrm>
            <a:off x="640080" y="1325880"/>
            <a:ext cx="3794760" cy="452628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7" name="Google Shape;157;p20"/>
          <p:cNvSpPr/>
          <p:nvPr/>
        </p:nvSpPr>
        <p:spPr>
          <a:xfrm>
            <a:off x="804672" y="1435608"/>
            <a:ext cx="346557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Model Architecture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914400" y="178308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ourier New" panose="02070409020205090404"/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(x, y, t)  --&gt;  MLP  --&gt;  (psi, p)</a:t>
            </a:r>
            <a:endParaRPr sz="18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914400" y="2331720"/>
            <a:ext cx="3246120" cy="457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0" name="Google Shape;160;p20"/>
          <p:cNvSpPr/>
          <p:nvPr/>
        </p:nvSpPr>
        <p:spPr>
          <a:xfrm>
            <a:off x="1097280" y="244144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 panose="020B0604020202090204"/>
              <a:buNone/>
            </a:pPr>
            <a:r>
              <a:rPr lang="en-US" sz="1300" b="1" i="0" u="none" strike="noStrike" cap="none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Width</a:t>
            </a:r>
            <a:endParaRPr sz="13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2057400" y="244144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 panose="020B0604020202090204"/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128 neurons/layer</a:t>
            </a:r>
            <a:endParaRPr sz="13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914400" y="2971800"/>
            <a:ext cx="3246120" cy="4572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20"/>
          <p:cNvSpPr/>
          <p:nvPr/>
        </p:nvSpPr>
        <p:spPr>
          <a:xfrm>
            <a:off x="1097280" y="308152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 panose="020B0604020202090204"/>
              <a:buNone/>
            </a:pPr>
            <a:r>
              <a:rPr lang="en-US" sz="1300" b="1" i="0" u="none" strike="noStrike" cap="none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Depth</a:t>
            </a:r>
            <a:endParaRPr sz="13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2057400" y="308152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 panose="020B0604020202090204"/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6 hidden layers</a:t>
            </a:r>
            <a:endParaRPr sz="13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914400" y="3611880"/>
            <a:ext cx="3246120" cy="457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Google Shape;166;p20"/>
          <p:cNvSpPr/>
          <p:nvPr/>
        </p:nvSpPr>
        <p:spPr>
          <a:xfrm>
            <a:off x="1097280" y="372160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 panose="020B0604020202090204"/>
              <a:buNone/>
            </a:pPr>
            <a:r>
              <a:rPr lang="en-US" sz="1300" b="1" i="0" u="none" strike="noStrike" cap="none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Activation</a:t>
            </a:r>
            <a:endParaRPr sz="13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2057400" y="372160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 panose="020B0604020202090204"/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tanh</a:t>
            </a:r>
            <a:endParaRPr sz="13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914400" y="4251960"/>
            <a:ext cx="3246120" cy="4572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9" name="Google Shape;169;p20"/>
          <p:cNvSpPr/>
          <p:nvPr/>
        </p:nvSpPr>
        <p:spPr>
          <a:xfrm>
            <a:off x="1097280" y="436168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 panose="020B0604020202090204"/>
              <a:buNone/>
            </a:pPr>
            <a:r>
              <a:rPr lang="en-US" sz="1300" b="1" i="0" u="none" strike="noStrike" cap="none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Optimizer</a:t>
            </a:r>
            <a:endParaRPr sz="13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2057400" y="436168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 panose="020B0604020202090204"/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Adam + L-BFGS</a:t>
            </a:r>
            <a:endParaRPr sz="13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663440" y="1325880"/>
            <a:ext cx="3246120" cy="45262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20"/>
          <p:cNvSpPr/>
          <p:nvPr/>
        </p:nvSpPr>
        <p:spPr>
          <a:xfrm>
            <a:off x="4828032" y="1435608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Loss Function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983480" y="1783080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Courier New" panose="02070409020205090404"/>
              <a:buNone/>
            </a:pPr>
            <a:r>
              <a:rPr lang="en-US" sz="1800" b="1" i="0" u="none" strike="noStrike" cap="none">
                <a:solidFill>
                  <a:srgbClr val="1D4ED8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L = L_pde + 10 L_bc + 10 L_ic + L_out</a:t>
            </a:r>
            <a:endParaRPr sz="18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937760" y="2331720"/>
            <a:ext cx="26974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 panose="020B0604020202090204"/>
              <a:buChar char="•"/>
            </a:pPr>
            <a:r>
              <a:rPr lang="en-US" sz="145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PDE loss: momentum residuals from Navier-Stokes.</a:t>
            </a:r>
            <a:endParaRPr sz="14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 panose="020B0604020202090204"/>
              <a:buChar char="•"/>
            </a:pPr>
            <a:r>
              <a:rPr lang="en-US" sz="145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Boundary loss: inlet, wall, and far-field conditions.</a:t>
            </a:r>
            <a:endParaRPr sz="14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 panose="020B0604020202090204"/>
              <a:buChar char="•"/>
            </a:pPr>
            <a:r>
              <a:rPr lang="en-US" sz="145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Initial loss: uniform initialization in the domain.</a:t>
            </a:r>
            <a:endParaRPr sz="14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 panose="020B0604020202090204"/>
              <a:buChar char="•"/>
            </a:pPr>
            <a:r>
              <a:rPr lang="en-US" sz="145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Outlet loss: pressure / gradient regularization downstream.</a:t>
            </a:r>
            <a:endParaRPr sz="14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8138160" y="132588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6" name="Google Shape;176;p20"/>
          <p:cNvSpPr/>
          <p:nvPr/>
        </p:nvSpPr>
        <p:spPr>
          <a:xfrm>
            <a:off x="8302752" y="1435608"/>
            <a:ext cx="309981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Sampling Strategy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8458200" y="178308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0F766E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Physics-aware collocation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458200" y="2240280"/>
            <a:ext cx="1417320" cy="292608"/>
          </a:xfrm>
          <a:prstGeom prst="rect">
            <a:avLst/>
          </a:prstGeom>
          <a:solidFill>
            <a:srgbClr val="93C5FD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p20"/>
          <p:cNvSpPr/>
          <p:nvPr/>
        </p:nvSpPr>
        <p:spPr>
          <a:xfrm>
            <a:off x="9875520" y="2240280"/>
            <a:ext cx="868680" cy="292608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" name="Google Shape;180;p20"/>
          <p:cNvSpPr/>
          <p:nvPr/>
        </p:nvSpPr>
        <p:spPr>
          <a:xfrm>
            <a:off x="10744200" y="2240280"/>
            <a:ext cx="502920" cy="292608"/>
          </a:xfrm>
          <a:prstGeom prst="rect">
            <a:avLst/>
          </a:prstGeom>
          <a:solidFill>
            <a:srgbClr val="1E3A8A"/>
          </a:solidFill>
          <a:ln w="12700" cap="flat" cmpd="sng">
            <a:solidFill>
              <a:srgbClr val="1E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Google Shape;181;p20"/>
          <p:cNvSpPr/>
          <p:nvPr/>
        </p:nvSpPr>
        <p:spPr>
          <a:xfrm>
            <a:off x="8641080" y="2578608"/>
            <a:ext cx="105156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 panose="020B0604020202090204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50%</a:t>
            </a:r>
            <a:endParaRPr sz="1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9994392" y="2578608"/>
            <a:ext cx="59436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 panose="020B0604020202090204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30%</a:t>
            </a:r>
            <a:endParaRPr sz="1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0808208" y="2578608"/>
            <a:ext cx="32004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 panose="020B0604020202090204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20%</a:t>
            </a:r>
            <a:endParaRPr sz="1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8412480" y="29718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Refine points near the cylinder to capture boundary-layer behavior.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Bias sampling in the wake to resolve separation and shedding.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Use smoother activation and derivatives for stable AD-based training.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85" name="Google Shape;185;p20"/>
          <p:cNvSpPr txBox="1"/>
          <p:nvPr>
            <p:ph type="sldNum" idx="4294967295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 cap="none">
              <a:solidFill>
                <a:srgbClr val="334155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 panose="00000500000000000000"/>
              <a:buNone/>
            </a:pPr>
            <a:r>
              <a:rPr lang="en-US" sz="2600" b="1" i="0" u="none" strike="noStrike" cap="none">
                <a:solidFill>
                  <a:srgbClr val="0F172A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Reynolds Continuation Strategy</a:t>
            </a:r>
            <a:endParaRPr sz="26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 panose="020B0604020202090204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Warm-starting across Reynolds numbers to improve optimization stability</a:t>
            </a:r>
            <a:endParaRPr sz="10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193" name="Google Shape;193;p21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" name="Google Shape;194;p21"/>
          <p:cNvSpPr/>
          <p:nvPr/>
        </p:nvSpPr>
        <p:spPr>
          <a:xfrm>
            <a:off x="731520" y="1417320"/>
            <a:ext cx="107899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5" name="Google Shape;195;p21"/>
          <p:cNvSpPr/>
          <p:nvPr/>
        </p:nvSpPr>
        <p:spPr>
          <a:xfrm>
            <a:off x="896112" y="1527048"/>
            <a:ext cx="104607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Continuation Workflow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1097280" y="2331720"/>
            <a:ext cx="1965960" cy="1234440"/>
          </a:xfrm>
          <a:prstGeom prst="roundRect">
            <a:avLst>
              <a:gd name="adj" fmla="val 3704"/>
            </a:avLst>
          </a:prstGeom>
          <a:solidFill>
            <a:srgbClr val="EFF6FF"/>
          </a:solidFill>
          <a:ln w="12700" cap="flat" cmpd="sng">
            <a:solidFill>
              <a:srgbClr val="60A5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p21"/>
          <p:cNvSpPr/>
          <p:nvPr/>
        </p:nvSpPr>
        <p:spPr>
          <a:xfrm>
            <a:off x="118872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 panose="020B0604020202090204"/>
              <a:buNone/>
            </a:pPr>
            <a:r>
              <a:rPr lang="en-US" sz="19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 = 5</a:t>
            </a:r>
            <a:endParaRPr sz="19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123444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 panose="020B0604020202090204"/>
              <a:buNone/>
            </a:pPr>
            <a:r>
              <a:rPr lang="en-US" sz="11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Initialize low-Re steady solution</a:t>
            </a:r>
            <a:endParaRPr sz="11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136392" y="2724912"/>
            <a:ext cx="329184" cy="384048"/>
          </a:xfrm>
          <a:prstGeom prst="chevron">
            <a:avLst>
              <a:gd name="adj" fmla="val 50000"/>
            </a:avLst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0" name="Google Shape;200;p21"/>
          <p:cNvSpPr/>
          <p:nvPr/>
        </p:nvSpPr>
        <p:spPr>
          <a:xfrm>
            <a:off x="3703320" y="2331720"/>
            <a:ext cx="1965960" cy="1234440"/>
          </a:xfrm>
          <a:prstGeom prst="roundRect">
            <a:avLst>
              <a:gd name="adj" fmla="val 3704"/>
            </a:avLst>
          </a:prstGeom>
          <a:solidFill>
            <a:srgbClr val="DBEAFE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" name="Google Shape;201;p21"/>
          <p:cNvSpPr/>
          <p:nvPr/>
        </p:nvSpPr>
        <p:spPr>
          <a:xfrm>
            <a:off x="379476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 panose="020B0604020202090204"/>
              <a:buNone/>
            </a:pPr>
            <a:r>
              <a:rPr lang="en-US" sz="19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 = </a:t>
            </a:r>
            <a:r>
              <a:rPr lang="en-US" sz="1900" b="1">
                <a:solidFill>
                  <a:srgbClr val="0F172A"/>
                </a:solidFill>
              </a:rPr>
              <a:t>40</a:t>
            </a:r>
            <a:endParaRPr sz="19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384048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 panose="020B0604020202090204"/>
              <a:buNone/>
            </a:pPr>
            <a:r>
              <a:rPr lang="en-US" sz="11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Transfer weights and continue training</a:t>
            </a:r>
            <a:endParaRPr sz="11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742432" y="2724912"/>
            <a:ext cx="329184" cy="384048"/>
          </a:xfrm>
          <a:prstGeom prst="chevron">
            <a:avLst>
              <a:gd name="adj" fmla="val 50000"/>
            </a:avLst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21"/>
          <p:cNvSpPr/>
          <p:nvPr/>
        </p:nvSpPr>
        <p:spPr>
          <a:xfrm>
            <a:off x="6309360" y="2331720"/>
            <a:ext cx="1965960" cy="1234440"/>
          </a:xfrm>
          <a:prstGeom prst="roundRect">
            <a:avLst>
              <a:gd name="adj" fmla="val 3704"/>
            </a:avLst>
          </a:prstGeom>
          <a:solidFill>
            <a:srgbClr val="FEF2F2"/>
          </a:solidFill>
          <a:ln w="12700" cap="flat" cmpd="sng">
            <a:solidFill>
              <a:srgbClr val="F871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5" name="Google Shape;205;p21"/>
          <p:cNvSpPr/>
          <p:nvPr/>
        </p:nvSpPr>
        <p:spPr>
          <a:xfrm>
            <a:off x="640080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 panose="020B0604020202090204"/>
              <a:buNone/>
            </a:pPr>
            <a:r>
              <a:rPr lang="en-US" sz="19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 = 40-60</a:t>
            </a:r>
            <a:endParaRPr sz="19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644652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 panose="020B0604020202090204"/>
              <a:buNone/>
            </a:pPr>
            <a:r>
              <a:rPr lang="en-US" sz="11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Resolve transition region carefully</a:t>
            </a:r>
            <a:endParaRPr sz="11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8348472" y="2724912"/>
            <a:ext cx="329184" cy="384048"/>
          </a:xfrm>
          <a:prstGeom prst="chevron">
            <a:avLst>
              <a:gd name="adj" fmla="val 50000"/>
            </a:avLst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8" name="Google Shape;208;p21"/>
          <p:cNvSpPr/>
          <p:nvPr/>
        </p:nvSpPr>
        <p:spPr>
          <a:xfrm>
            <a:off x="8915400" y="2331720"/>
            <a:ext cx="1965960" cy="1234440"/>
          </a:xfrm>
          <a:prstGeom prst="roundRect">
            <a:avLst>
              <a:gd name="adj" fmla="val 3704"/>
            </a:avLst>
          </a:prstGeom>
          <a:solidFill>
            <a:srgbClr val="E0F2FE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21"/>
          <p:cNvSpPr/>
          <p:nvPr/>
        </p:nvSpPr>
        <p:spPr>
          <a:xfrm>
            <a:off x="900684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 panose="020B0604020202090204"/>
              <a:buNone/>
            </a:pPr>
            <a:r>
              <a:rPr lang="en-US" sz="19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 = </a:t>
            </a:r>
            <a:r>
              <a:rPr lang="en-US" sz="1900" b="1">
                <a:solidFill>
                  <a:srgbClr val="0F172A"/>
                </a:solidFill>
              </a:rPr>
              <a:t>61</a:t>
            </a:r>
            <a:r>
              <a:rPr lang="en-US" sz="19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-100</a:t>
            </a:r>
            <a:endParaRPr sz="19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905256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 panose="020B0604020202090204"/>
              <a:buNone/>
            </a:pPr>
            <a:r>
              <a:rPr lang="en-US" sz="11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Track increasingly unsteady wake dynamics</a:t>
            </a:r>
            <a:endParaRPr sz="11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1371600" y="4434840"/>
            <a:ext cx="2697480" cy="530352"/>
          </a:xfrm>
          <a:prstGeom prst="roundRect">
            <a:avLst>
              <a:gd name="adj" fmla="val 5172"/>
            </a:avLst>
          </a:prstGeom>
          <a:solidFill>
            <a:srgbClr val="F0FDF4"/>
          </a:solidFill>
          <a:ln w="127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2" name="Google Shape;212;p21"/>
          <p:cNvSpPr/>
          <p:nvPr/>
        </p:nvSpPr>
        <p:spPr>
          <a:xfrm>
            <a:off x="1508760" y="4599432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50"/>
              <a:buFont typeface="Arial" panose="020B0604020202090204"/>
              <a:buNone/>
            </a:pPr>
            <a:r>
              <a:rPr lang="en-US" sz="1250" b="1" i="0" u="none" strike="noStrike" cap="none">
                <a:solidFill>
                  <a:srgbClr val="15803D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More stable optimization</a:t>
            </a:r>
            <a:endParaRPr sz="12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617720" y="4434840"/>
            <a:ext cx="2697480" cy="530352"/>
          </a:xfrm>
          <a:prstGeom prst="roundRect">
            <a:avLst>
              <a:gd name="adj" fmla="val 5172"/>
            </a:avLst>
          </a:prstGeom>
          <a:solidFill>
            <a:srgbClr val="F0FDF4"/>
          </a:solidFill>
          <a:ln w="127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21"/>
          <p:cNvSpPr/>
          <p:nvPr/>
        </p:nvSpPr>
        <p:spPr>
          <a:xfrm>
            <a:off x="4754880" y="4599432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50"/>
              <a:buFont typeface="Arial" panose="020B0604020202090204"/>
              <a:buNone/>
            </a:pPr>
            <a:r>
              <a:rPr lang="en-US" sz="1250" b="1" i="0" u="none" strike="noStrike" cap="none">
                <a:solidFill>
                  <a:srgbClr val="15803D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Fewer iterations at each new Re</a:t>
            </a:r>
            <a:endParaRPr sz="12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7863840" y="4434840"/>
            <a:ext cx="2697480" cy="530352"/>
          </a:xfrm>
          <a:prstGeom prst="roundRect">
            <a:avLst>
              <a:gd name="adj" fmla="val 5172"/>
            </a:avLst>
          </a:prstGeom>
          <a:solidFill>
            <a:srgbClr val="F0FDF4"/>
          </a:solidFill>
          <a:ln w="127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" name="Google Shape;216;p21"/>
          <p:cNvSpPr/>
          <p:nvPr/>
        </p:nvSpPr>
        <p:spPr>
          <a:xfrm>
            <a:off x="8001000" y="4599432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50"/>
              <a:buFont typeface="Arial" panose="020B0604020202090204"/>
              <a:buNone/>
            </a:pPr>
            <a:r>
              <a:rPr lang="en-US" sz="1250" b="1" i="0" u="none" strike="noStrike" cap="none">
                <a:solidFill>
                  <a:srgbClr val="15803D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Better continuity across the parameter sweep</a:t>
            </a:r>
            <a:endParaRPr sz="12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17" name="Google Shape;217;p21"/>
          <p:cNvSpPr txBox="1"/>
          <p:nvPr>
            <p:ph type="sldNum" idx="4294967295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 cap="none">
              <a:solidFill>
                <a:srgbClr val="334155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 panose="00000500000000000000"/>
              <a:buNone/>
            </a:pPr>
            <a:r>
              <a:rPr lang="en-US" sz="2600" b="1" i="0" u="none" strike="noStrike" cap="none">
                <a:solidFill>
                  <a:srgbClr val="0F172A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Results Placeholder: Flow Reconstruction</a:t>
            </a:r>
            <a:endParaRPr sz="26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 panose="020B0604020202090204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Replace placeholder panels with your exported figures</a:t>
            </a:r>
            <a:endParaRPr sz="10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225" name="Google Shape;225;p22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6" name="Google Shape;226;p22"/>
          <p:cNvSpPr/>
          <p:nvPr/>
        </p:nvSpPr>
        <p:spPr>
          <a:xfrm>
            <a:off x="640080" y="1325880"/>
            <a:ext cx="3703320" cy="46177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22"/>
          <p:cNvSpPr/>
          <p:nvPr/>
        </p:nvSpPr>
        <p:spPr>
          <a:xfrm>
            <a:off x="804672" y="1435608"/>
            <a:ext cx="33741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Key observations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868680" y="1828800"/>
            <a:ext cx="31546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 panose="020B0604020202090204"/>
              <a:buChar char="•"/>
            </a:pPr>
            <a:r>
              <a:rPr lang="en-US" sz="155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Velocity magnitude should show stagnation at the front face and acceleration near the cylinder sides.</a:t>
            </a:r>
            <a:endParaRPr sz="15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 panose="020B0604020202090204"/>
              <a:buChar char="•"/>
            </a:pPr>
            <a:r>
              <a:rPr lang="en-US" sz="155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Downstream recovery and recirculation bubble length can be compared across Reynolds numbers.</a:t>
            </a:r>
            <a:endParaRPr sz="15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 panose="020B0604020202090204"/>
              <a:buChar char="•"/>
            </a:pPr>
            <a:r>
              <a:rPr lang="en-US" sz="155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Use the same colorbar range when comparing multiple Re values.</a:t>
            </a:r>
            <a:endParaRPr sz="15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1041680" y="4387885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50"/>
              <a:buFont typeface="Arial" panose="020B0604020202090204"/>
              <a:buNone/>
            </a:pPr>
            <a:r>
              <a:rPr lang="en-US" sz="1350" b="1" i="0" u="none" strike="noStrike" cap="none">
                <a:solidFill>
                  <a:srgbClr val="1D4ED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Recommended figures</a:t>
            </a:r>
            <a:endParaRPr sz="13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982975" y="4826560"/>
            <a:ext cx="29262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 panose="020B0604020202090204"/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• Velocity magnitude contour at representative times</a:t>
            </a:r>
            <a:endParaRPr sz="13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 panose="020B0604020202090204"/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• Streamline plot showing wake topology</a:t>
            </a:r>
            <a:endParaRPr sz="13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 panose="020B0604020202090204"/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• Optional comparison: Re = 40, 60, 100</a:t>
            </a:r>
            <a:endParaRPr sz="13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31" name="Google Shape;231;p22"/>
          <p:cNvSpPr txBox="1"/>
          <p:nvPr>
            <p:ph type="sldNum" idx="4294967295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 cap="none">
              <a:solidFill>
                <a:srgbClr val="334155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232" name="Google Shape;232;p22" title="截屏2026-03-13 21.22.48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9288645" y="1927849"/>
            <a:ext cx="2173807" cy="145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title="截屏2026-03-13 21.22.41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9288645" y="3487320"/>
            <a:ext cx="2173808" cy="143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title="截屏2026-03-13 21.22.34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240300" y="1371625"/>
            <a:ext cx="6300899" cy="410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3" title="截屏2026-03-13 21.22.41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11887201" cy="6109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4" title="截屏2026-03-13 21.22.48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11759524" cy="613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5" title="截屏2026-03-13 21.27.20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11887198" cy="5786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 title="截屏2026-03-13 21.27.27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11887199" cy="6052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7" title="截屏2026-03-13 21.27.33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11887200" cy="6075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 panose="00000500000000000000"/>
              <a:buNone/>
            </a:pPr>
            <a:r>
              <a:rPr lang="en-US" sz="2600" b="1" i="0" u="none" strike="noStrike" cap="none">
                <a:solidFill>
                  <a:srgbClr val="0F172A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Results Placeholder: Vorticity and Probe Signals</a:t>
            </a:r>
            <a:endParaRPr sz="26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 panose="020B0604020202090204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Use these for wake structure and time-series evidence of transition</a:t>
            </a:r>
            <a:endParaRPr sz="10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267" name="Google Shape;267;p28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8" name="Google Shape;268;p28"/>
          <p:cNvSpPr/>
          <p:nvPr/>
        </p:nvSpPr>
        <p:spPr>
          <a:xfrm>
            <a:off x="1005840" y="5394960"/>
            <a:ext cx="489204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Arial" panose="020B0604020202090204"/>
              <a:buNone/>
            </a:pPr>
            <a:endParaRPr sz="12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69" name="Google Shape;269;p28"/>
          <p:cNvSpPr txBox="1"/>
          <p:nvPr>
            <p:ph type="sldNum" idx="4294967295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 cap="none">
              <a:solidFill>
                <a:srgbClr val="334155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270" name="Google Shape;270;p28" title="截屏2026-03-13 21.30.33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26738" y="1133875"/>
            <a:ext cx="11460474" cy="5467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9" title="截屏2026-03-13 21.34.24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04800" y="325400"/>
            <a:ext cx="11887200" cy="5924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Run A — Sanity Configuration and Commands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Re=40 single-snapshot PINN, baseline domain and point counts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325880"/>
            <a:ext cx="667512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3093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SLURM allocation + training command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630936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# 1) interactive GPU node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salloc -p gpu --gres=gpu:1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   --mem=128G -t 12:00:00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# 2) Run A baseline training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python -u cfp40.py --vtk-path Re40.vtk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--save-dir checkpoints_sanity_A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--viz-dir  viz_sanity_A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--width 96 --depth 5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--epochs-adam 1500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--maxiter-bfgs 500 --iters-per-batch 100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--n-f 20000 --n-data 8000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--n-cfd-pde 4000 --lambda-pde-cfd 2.0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--cfd-pde-wall-buffer 0.5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--cfd-pde-edge-buffer 0.5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--x-min -3 --x-max 12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--y-min -4 --y-max  4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--method-bfgs SSBroyden1</a:t>
            </a:r>
            <a:endParaRPr sz="1100" b="0">
              <a:solidFill>
                <a:srgbClr val="1E2761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60920" y="1325880"/>
            <a:ext cx="452628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1417320"/>
            <a:ext cx="4160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Why these knobs (vs. previous run)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43800" y="1828800"/>
            <a:ext cx="41605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Custom BFGS path fixed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Now actually invokes SSBroyden1 from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_optimize._minimize_bfgs.  Old code passed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method_bfgs=… into scipy stock BFGS where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it was silently dropped → standard BFGS.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Frozen colloc + full data in BFGS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BFGS gets a deterministic objective; data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MSE can monotonically decrease.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CFD-PDE buffer = 0.5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Skips boundary-layer / far-field CFD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points where the CFD itself violates NS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(see CFD-PDE residual slide).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Memory budget check enabled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Aborts before Adam if H0 (NxN float64)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won't fit. 96/5: H0 ≈ 11 GB.</a:t>
            </a:r>
            <a:endParaRPr sz="11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8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Run A — Loss Trajectory and Achieved Error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Adam (1500 ep) → SSBroyden1 (500 calls); training-DATA dropped 30×, but full-mesh MAE much higher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runA_loss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7863840" cy="35387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325880"/>
            <a:ext cx="34747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417320"/>
            <a:ext cx="31089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Numbers (analysis_runA/summary.txt)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95360" y="1828800"/>
            <a:ext cx="310896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Training-time data MSE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plateau ≈ 2.4·10⁻⁴</a:t>
            </a:r>
            <a:endParaRPr sz="1100" b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(sampled, wake-biased)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Full-mesh MAE (4869 pts)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mae_u = 1.247·10⁻¹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mae_v = 6.77·10⁻²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rel_l2_uv = 0.238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Surprise: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training-DATA suggested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MAE ~ 1.5·10⁻²;  actual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MAE is ~10× larger.  Wake-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biased sampling masked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inlet/far-field error.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1C7293"/>
                </a:solidFill>
                <a:latin typeface="Calibri"/>
              </a:rPr>
              <a:t>L_wall_uv  ≈ 3·10⁻¹⁵</a:t>
            </a:r>
            <a:endParaRPr sz="1100" b="0">
              <a:solidFill>
                <a:srgbClr val="1C7293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(machine ε² — see slide 10)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PDE rmse mag = 0.366</a:t>
            </a:r>
            <a:endParaRPr sz="1100" b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near_cyl ÷ far ≈ 15×</a:t>
            </a:r>
            <a:endParaRPr sz="11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11480" y="5669280"/>
            <a:ext cx="7863840" cy="594360"/>
          </a:xfrm>
          <a:prstGeom prst="roundRect">
            <a:avLst/>
          </a:prstGeom>
          <a:solidFill>
            <a:srgbClr val="FFF6F2"/>
          </a:solidFill>
          <a:ln w="9525">
            <a:solidFill>
              <a:srgbClr val="7A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733288"/>
            <a:ext cx="7680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7A1B1B"/>
                </a:solidFill>
                <a:latin typeface="Calibri"/>
              </a:rPr>
              <a:t>Lesson: judge progress by full-mesh MAE, not training-DATA. Random training samples are biased toward the wake (wake_frac=0.8).</a:t>
            </a:r>
            <a:endParaRPr sz="1050" b="1">
              <a:solidFill>
                <a:srgbClr val="7A1B1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9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Hard No-Slip via Stream-Function Lifting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Why L_wall_uv saturates at machine ε² ≈ 10⁻¹⁵ instead of being optimised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wall_lift_mat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1155680" cy="40742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4937760"/>
            <a:ext cx="111556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029200"/>
            <a:ext cx="107899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From the lift conditions to ⟨u² + v²⟩ ≈ ε²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107899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Define r(x,y) = √((x−x_c)² + (y−y_c)²),   ψ = lift(r) · ψ_raw    →   ∇ψ = lift′(r)·r̂·ψ_raw + lift(r)·∇ψ_raw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lift(R) = tanh²(0) = 0,    lift′(R) = 2 tanh(0) sech²(0) / δ = 0    ⇒   ∇ψ|_{r=R} = 0   ⇒   u = ∂_y ψ ≡ 0,  v = −∂_x ψ ≡ 0   on the wall.</a:t>
            </a:r>
            <a:endParaRPr sz="1100" b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Numerically:  fp32 unit round-off ε ≈ 6·10⁻⁸ on each velocity   ⇒   L_wall_uv = ⟨u² + v²⟩ ~ ε² ≈ 4·10⁻¹⁵.   Run-A measured max|u|=2.0·10⁻⁷ ✓</a:t>
            </a:r>
            <a:endParaRPr sz="1100" b="0">
              <a:solidFill>
                <a:srgbClr val="7A1B1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10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Is the CFD itself a solution of the PDE?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Steady vorticity-transport residual on the Re40 mesh — sets the achievable PINN floor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325880"/>
            <a:ext cx="411480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7490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Method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74904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On every interior CFD point: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(1) k-nearest neighbours,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(2) local quadratic fit to u and v,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(3) read u_x, u_y, ..., v_xy at center,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(4) ω = v_x − u_y,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(5) second fit for ω → ω_x, ω_y, ω_xx, ω_yy,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(6) compute  r_ω = u·ω_x + v·ω_y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           − (1/Re)(ω_xx + ω_yy).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Curl of momentum eliminates pressure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→ no need to know p from the VTK.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Three configurations tested: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 • k=24, buf=0.15  (default)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 • k=12, buf=0.15  (tighter neighbour fit)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 • k=24, buf=0.5   (exclude BL + edge band)</a:t>
            </a:r>
            <a:endParaRPr sz="1100" b="0">
              <a:solidFill>
                <a:srgbClr val="212121"/>
              </a:solidFill>
              <a:latin typeface="Calibri"/>
            </a:endParaRPr>
          </a:p>
        </p:txBody>
      </p:sp>
      <p:pic>
        <p:nvPicPr>
          <p:cNvPr id="10" name="Picture 9" descr="cfd_pde_residu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25880"/>
            <a:ext cx="7132320" cy="31010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5669280"/>
            <a:ext cx="11430000" cy="594360"/>
          </a:xfrm>
          <a:prstGeom prst="roundRect">
            <a:avLst/>
          </a:prstGeom>
          <a:solidFill>
            <a:srgbClr val="FFF6F2"/>
          </a:solidFill>
          <a:ln w="9525">
            <a:solidFill>
              <a:srgbClr val="7A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33288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7A1B1B"/>
                </a:solidFill>
                <a:latin typeface="Calibri"/>
              </a:rPr>
              <a:t>Take-away:  bulk CFD median NS residual ≈ 1·10⁻³  →  1e-4 ~ 1e-5 absolute MAE is NOT achievable while also satisfying the PDE on this mesh.</a:t>
            </a:r>
            <a:endParaRPr sz="1200" b="1">
              <a:solidFill>
                <a:srgbClr val="7A1B1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11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Run A — Velocity Agreement on CFD Points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Per-component scatter and absolute error map  (4869 points, full PDE box)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01_velocity_scat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7680960" cy="2697480"/>
          </a:xfrm>
          <a:prstGeom prst="rect">
            <a:avLst/>
          </a:prstGeom>
        </p:spPr>
      </p:pic>
      <p:pic>
        <p:nvPicPr>
          <p:cNvPr id="8" name="Picture 7" descr="02_velocity_erro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60520"/>
            <a:ext cx="7680960" cy="2194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325880"/>
            <a:ext cx="3749039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59" y="1417320"/>
            <a:ext cx="3383279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Measured numbers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66760" y="1828800"/>
            <a:ext cx="338328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mae_u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1.247·10⁻¹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mae_v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6.77·10⁻²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rel_l2_uv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0.238</a:t>
            </a:r>
            <a:endParaRPr sz="1100" b="0">
              <a:solidFill>
                <a:srgbClr val="1E2761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rel_l2_v large because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|v_true| is small here;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look at mae_v not rel.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Spatial pattern: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error concentrates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near cylinder + wake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shear layer; smooth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decay in far field.</a:t>
            </a:r>
            <a:endParaRPr sz="1100" b="0">
              <a:solidFill>
                <a:srgbClr val="212121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12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Run A — PDE Residual on Collocation Points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Where the trained PINN still violates Navier–Stokes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03_pde_residual_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7680960" cy="2606040"/>
          </a:xfrm>
          <a:prstGeom prst="rect">
            <a:avLst/>
          </a:prstGeom>
        </p:spPr>
      </p:pic>
      <p:pic>
        <p:nvPicPr>
          <p:cNvPr id="8" name="Picture 7" descr="04_pde_residual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60520"/>
            <a:ext cx="7680960" cy="2194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325880"/>
            <a:ext cx="3749039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59" y="1417320"/>
            <a:ext cx="3383279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Compatibility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66760" y="1828800"/>
            <a:ext cx="338328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pde_rmse_mag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3.66·10⁻¹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near_cyl_pde_rmse_mag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8.53·10⁻¹    (×15 of far)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far_pde_rmse_mag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5.75·10⁻²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pde_p99_mag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2.00·10⁰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Reading the map: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bright ring at r≈0.5–1.5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⇒ unresolved boundary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layer; same place where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CFD also fails NS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(slide 11 / diagnostic).</a:t>
            </a:r>
            <a:endParaRPr sz="1100" b="0">
              <a:solidFill>
                <a:srgbClr val="212121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13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Run A — Boundary-Condition Diagnostics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Wall (hard-enforced) vs inlet / top / bottom (soft penalties)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05_wall_nosli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11338560" cy="2697480"/>
          </a:xfrm>
          <a:prstGeom prst="rect">
            <a:avLst/>
          </a:prstGeom>
        </p:spPr>
      </p:pic>
      <p:pic>
        <p:nvPicPr>
          <p:cNvPr id="8" name="Picture 7" descr="06_inlet_top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14800"/>
            <a:ext cx="11338560" cy="2011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1480" y="6199632"/>
            <a:ext cx="11338560" cy="384048"/>
          </a:xfrm>
          <a:prstGeom prst="roundRect">
            <a:avLst/>
          </a:prstGeom>
          <a:solidFill>
            <a:srgbClr val="FFF6F2"/>
          </a:solidFill>
          <a:ln w="9525">
            <a:solidFill>
              <a:srgbClr val="7A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245352"/>
            <a:ext cx="111556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7A1B1B"/>
                </a:solidFill>
                <a:latin typeface="Calibri"/>
              </a:rPr>
              <a:t>Wall:  max|u|=2.0·10⁻⁷, max|v|=1.4·10⁻⁷  (fp32 ε ≈ 6·10⁻⁸ → matches lift-derivation, slide 10).   Inlet rmse(u−1)=0.20, top/bottom 0.17/0.15  ← soft BC weights too low; PINN traded them off vs data.</a:t>
            </a:r>
            <a:endParaRPr sz="1050" b="1">
              <a:solidFill>
                <a:srgbClr val="7A1B1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14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Run A — Vorticity: PINN vs CFD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Derivative-level comparison (harder than velocity-level fit)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07_vorticity_cf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3840480" cy="2194560"/>
          </a:xfrm>
          <a:prstGeom prst="rect">
            <a:avLst/>
          </a:prstGeom>
        </p:spPr>
      </p:pic>
      <p:pic>
        <p:nvPicPr>
          <p:cNvPr id="8" name="Picture 7" descr="07_vorticity_pi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25880"/>
            <a:ext cx="3840480" cy="2194560"/>
          </a:xfrm>
          <a:prstGeom prst="rect">
            <a:avLst/>
          </a:prstGeom>
        </p:spPr>
      </p:pic>
      <p:pic>
        <p:nvPicPr>
          <p:cNvPr id="9" name="Picture 8" descr="07_vorticity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25880"/>
            <a:ext cx="3840480" cy="2194560"/>
          </a:xfrm>
          <a:prstGeom prst="rect">
            <a:avLst/>
          </a:prstGeom>
        </p:spPr>
      </p:pic>
      <p:pic>
        <p:nvPicPr>
          <p:cNvPr id="10" name="Picture 9" descr="07b_vorticity_cfd_vt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749039"/>
            <a:ext cx="7680960" cy="25603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183879" y="3840480"/>
            <a:ext cx="3749039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3931920"/>
            <a:ext cx="3383279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Numbers and reading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66760" y="4297680"/>
            <a:ext cx="33832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>
                <a:solidFill>
                  <a:srgbClr val="4A4A4A"/>
                </a:solidFill>
                <a:latin typeface="Calibri"/>
              </a:rPr>
              <a:t>vort_rmse</a:t>
            </a:r>
            <a:endParaRPr sz="105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050" b="0">
                <a:solidFill>
                  <a:srgbClr val="7A1B1B"/>
                </a:solidFill>
                <a:latin typeface="Calibri"/>
              </a:rPr>
              <a:t>2.71</a:t>
            </a:r>
            <a:endParaRPr sz="105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050" b="0">
                <a:solidFill>
                  <a:srgbClr val="4A4A4A"/>
                </a:solidFill>
                <a:latin typeface="Calibri"/>
              </a:rPr>
              <a:t>vort_max_abs</a:t>
            </a:r>
            <a:endParaRPr sz="105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050" b="0">
                <a:solidFill>
                  <a:srgbClr val="7A1B1B"/>
                </a:solidFill>
                <a:latin typeface="Calibri"/>
              </a:rPr>
              <a:t>7.86  (CFD peaks at 8.1)</a:t>
            </a:r>
            <a:endParaRPr sz="105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050" b="0">
                <a:solidFill>
                  <a:srgbClr val="7A1B1B"/>
                </a:solidFill>
                <a:latin typeface="Calibri"/>
              </a:rPr>
              <a:t>PINN range: [-4.3, +8.4]</a:t>
            </a:r>
            <a:endParaRPr sz="105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050" b="0">
                <a:solidFill>
                  <a:srgbClr val="7A1B1B"/>
                </a:solidFill>
                <a:latin typeface="Calibri"/>
              </a:rPr>
              <a:t>CFD range:  [-8.1, +8.1]</a:t>
            </a:r>
            <a:endParaRPr sz="105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050" b="0">
                <a:solidFill>
                  <a:srgbClr val="7A1B1B"/>
                </a:solidFill>
                <a:latin typeface="Calibri"/>
              </a:rPr>
              <a:t>PINN under-resolves the</a:t>
            </a:r>
            <a:endParaRPr sz="105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050" b="0">
                <a:solidFill>
                  <a:srgbClr val="212121"/>
                </a:solidFill>
                <a:latin typeface="Calibri"/>
              </a:rPr>
              <a:t>negative shear lobe.</a:t>
            </a:r>
            <a:endParaRPr sz="1050" b="0">
              <a:solidFill>
                <a:srgbClr val="212121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15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Run A vs Run B — Effect of 4× Collocation Points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Mentor's first hypothesis: more colloc points → lower loss.  Tested as a controlled A/B.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B_trajecto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80160"/>
            <a:ext cx="7498079" cy="347279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92440" y="1280160"/>
            <a:ext cx="384048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371600"/>
            <a:ext cx="34747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Setup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75320" y="1783080"/>
            <a:ext cx="347472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</a:p>
          <a:p>
            <a:pPr algn="l"/>
            <a:r>
              <a:rPr sz="1000" b="0">
                <a:solidFill>
                  <a:srgbClr val="212121"/>
                </a:solidFill>
                <a:latin typeface="Consolas"/>
              </a:rPr>
              <a:t>           Run A      Run B</a:t>
            </a:r>
            <a:endParaRPr sz="1000" b="0">
              <a:solidFill>
                <a:srgbClr val="212121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n_f        20 000     80 000</a:t>
            </a:r>
            <a:endParaRPr sz="10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n_cfd_pde   4 000     16 000</a:t>
            </a:r>
            <a:endParaRPr sz="10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4A4A4A"/>
                </a:solidFill>
                <a:latin typeface="Consolas"/>
              </a:rPr>
              <a:t>n_data      8 000      8 000</a:t>
            </a:r>
            <a:endParaRPr sz="1000" b="0">
              <a:solidFill>
                <a:srgbClr val="4A4A4A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4A4A4A"/>
                </a:solidFill>
                <a:latin typeface="Consolas"/>
              </a:rPr>
              <a:t>Adam ep.    1 500      1 500</a:t>
            </a:r>
            <a:endParaRPr sz="1000" b="0">
              <a:solidFill>
                <a:srgbClr val="4A4A4A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4A4A4A"/>
                </a:solidFill>
                <a:latin typeface="Consolas"/>
              </a:rPr>
              <a:t>BFGS calls    500       500</a:t>
            </a:r>
            <a:endParaRPr sz="1000" b="0">
              <a:solidFill>
                <a:srgbClr val="4A4A4A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4A4A4A"/>
                </a:solidFill>
                <a:latin typeface="Consolas"/>
              </a:rPr>
              <a:t>network    96/5       96/5</a:t>
            </a:r>
            <a:endParaRPr sz="1000" b="0">
              <a:solidFill>
                <a:srgbClr val="4A4A4A"/>
              </a:solidFill>
              <a:latin typeface="Consola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92440" y="3383280"/>
            <a:ext cx="38404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3474720"/>
            <a:ext cx="34747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Result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75320" y="3749039"/>
            <a:ext cx="347472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7A1B1B"/>
                </a:solidFill>
                <a:latin typeface="Calibri"/>
              </a:rPr>
              <a:t>Training-DATA plateau:</a:t>
            </a:r>
            <a:endParaRPr sz="10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  Run A:  2.32·10⁻⁴</a:t>
            </a:r>
            <a:endParaRPr sz="1000" b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  Run B:  1.46·10⁻⁴   (1.6×↓)</a:t>
            </a:r>
            <a:endParaRPr sz="1000" b="0">
              <a:solidFill>
                <a:srgbClr val="1E2761"/>
              </a:solidFill>
              <a:latin typeface="Calibri"/>
            </a:endParaRPr>
          </a:p>
          <a:p>
            <a:pPr algn="l"/>
          </a:p>
          <a:p>
            <a:pPr algn="l"/>
            <a:r>
              <a:rPr sz="1000" b="0">
                <a:solidFill>
                  <a:srgbClr val="7A1B1B"/>
                </a:solidFill>
                <a:latin typeface="Calibri"/>
              </a:rPr>
              <a:t>Run A full-mesh eval (4869 pts):</a:t>
            </a:r>
            <a:endParaRPr sz="10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  mae_u = 0.125,  mae_v = 0.068</a:t>
            </a:r>
            <a:endParaRPr sz="1000" b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  rel_l2_uv = 0.238</a:t>
            </a:r>
            <a:endParaRPr sz="1000" b="0">
              <a:solidFill>
                <a:srgbClr val="1E2761"/>
              </a:solidFill>
              <a:latin typeface="Calibri"/>
            </a:endParaRPr>
          </a:p>
          <a:p>
            <a:pPr algn="l"/>
          </a:p>
          <a:p>
            <a:pPr algn="l"/>
            <a:r>
              <a:rPr sz="1000" b="0">
                <a:solidFill>
                  <a:srgbClr val="7A1B1B"/>
                </a:solidFill>
                <a:latin typeface="Calibri"/>
              </a:rPr>
              <a:t>Run B mae (sqrt-ratio est.):</a:t>
            </a:r>
            <a:endParaRPr sz="10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  mae_u ≈ 0.099,  mae_v ≈ 0.054</a:t>
            </a:r>
            <a:endParaRPr sz="1000" b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11480" y="5669280"/>
            <a:ext cx="11521440" cy="640080"/>
          </a:xfrm>
          <a:prstGeom prst="roundRect">
            <a:avLst/>
          </a:prstGeom>
          <a:solidFill>
            <a:srgbClr val="FFF6F2"/>
          </a:solidFill>
          <a:ln w="9525">
            <a:solidFill>
              <a:srgbClr val="7A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733288"/>
            <a:ext cx="11338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7A1B1B"/>
                </a:solidFill>
                <a:latin typeface="Calibri"/>
              </a:rPr>
              <a:t>4× more colloc points → 1.6× lower training-DATA plateau (2.32→1.46·10⁻⁴);   estimated mae improvement ≈ 21%   (sqrt of ratio).</a:t>
            </a:r>
            <a:endParaRPr sz="1000" b="1">
              <a:solidFill>
                <a:srgbClr val="7A1B1B"/>
              </a:solidFill>
              <a:latin typeface="Calibri"/>
            </a:endParaRPr>
          </a:p>
          <a:p>
            <a:pPr algn="ctr"/>
            <a:r>
              <a:rPr sz="1000" b="1">
                <a:solidFill>
                  <a:srgbClr val="212121"/>
                </a:solidFill>
                <a:latin typeface="Calibri"/>
              </a:rPr>
              <a:t>Eval MAE 0.125 ~ 8× larger than √(training-DATA) = 0.015 — wake-biased sampling masks inlet / far-field error.  Judge by full-mesh eval, not training log.</a:t>
            </a:r>
            <a:endParaRPr sz="1000" b="1">
              <a:solidFill>
                <a:srgbClr val="212121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6355080"/>
            <a:ext cx="115214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Calibri"/>
              </a:rPr>
              <a:t>1e-4 absolute MAE remains unreachable while respecting PDE — CFD's own NS residual median ≈ 1·10⁻³ (slide 11).</a:t>
            </a:r>
            <a:endParaRPr sz="10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16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761"/>
                </a:solidFill>
                <a:latin typeface="Calibri"/>
              </a:rPr>
              <a:t>v2 Experiments At a Glance</a:t>
            </a:r>
            <a:endParaRPr sz="2600" b="1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E68"/>
                </a:solidFill>
                <a:latin typeface="Calibri"/>
              </a:rPr>
              <a:t>All Re=40 runs since the Run A/B baseline (slide 23); same vtk reference, same domain (-8,12)×(-8,8)</a:t>
            </a:r>
            <a:endParaRPr sz="1300" b="0">
              <a:solidFill>
                <a:srgbClr val="555E68"/>
              </a:solidFill>
              <a:latin typeface="Calibr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11480" y="1097280"/>
            <a:ext cx="11365992" cy="0"/>
          </a:xfrm>
          <a:prstGeom prst="line">
            <a:avLst/>
          </a:prstGeom>
          <a:ln w="9525">
            <a:solidFill>
              <a:srgbClr val="CB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52880" y="1151890"/>
          <a:ext cx="8561705" cy="3947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665"/>
                <a:gridCol w="960120"/>
                <a:gridCol w="2057400"/>
                <a:gridCol w="777240"/>
                <a:gridCol w="1051560"/>
                <a:gridCol w="1051560"/>
                <a:gridCol w="1280160"/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setup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net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data anchor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PDE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mae_u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mae/P1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PDE drop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A1+A2 two-stage  (early v2 win)</a:t>
                      </a:r>
                      <a:endParaRPr sz="11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96 / 5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10k pts, prio=5 → 0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20k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0.047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—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—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P1 baseline  (data-only, all CFD)</a:t>
                      </a:r>
                      <a:endParaRPr sz="11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32 / 3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all CFD pts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off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0.106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1.00×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—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12E2A"/>
                          </a:solidFill>
                          <a:latin typeface="Calibri"/>
                        </a:rPr>
                        <a:t>strict consistency  (P2, no data)</a:t>
                      </a:r>
                      <a:endParaRPr sz="1100" b="1">
                        <a:solidFill>
                          <a:srgbClr val="C12E2A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E2A"/>
                          </a:solidFill>
                          <a:latin typeface="Calibri"/>
                        </a:rPr>
                        <a:t>32 / 3</a:t>
                      </a:r>
                      <a:endParaRPr sz="1100" b="1">
                        <a:solidFill>
                          <a:srgbClr val="C12E2A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E2A"/>
                          </a:solidFill>
                          <a:latin typeface="Calibri"/>
                        </a:rPr>
                        <a:t>OFF</a:t>
                      </a:r>
                      <a:endParaRPr sz="1100" b="1">
                        <a:solidFill>
                          <a:srgbClr val="C12E2A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E2A"/>
                          </a:solidFill>
                          <a:latin typeface="Calibri"/>
                        </a:rPr>
                        <a:t>20k</a:t>
                      </a:r>
                      <a:endParaRPr sz="1100" b="1">
                        <a:solidFill>
                          <a:srgbClr val="C12E2A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E2A"/>
                          </a:solidFill>
                          <a:latin typeface="Calibri"/>
                        </a:rPr>
                        <a:t>0.339</a:t>
                      </a:r>
                      <a:endParaRPr sz="1100" b="1">
                        <a:solidFill>
                          <a:srgbClr val="C12E2A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E2A"/>
                          </a:solidFill>
                          <a:latin typeface="Calibri"/>
                        </a:rPr>
                        <a:t>3.20×</a:t>
                      </a:r>
                      <a:endParaRPr sz="1100" b="1">
                        <a:solidFill>
                          <a:srgbClr val="C12E2A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E2A"/>
                          </a:solidFill>
                          <a:latin typeface="Calibri"/>
                        </a:rPr>
                        <a:t>huge (→0)</a:t>
                      </a:r>
                      <a:endParaRPr sz="1100" b="1">
                        <a:solidFill>
                          <a:srgbClr val="C12E2A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weak anchor  (P2, 500 pts)</a:t>
                      </a:r>
                      <a:endParaRPr sz="11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32 / 3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500 pts, prio=0.5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20k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0.174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1.64×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—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all-CFD anchor  (P2, prio=0.5)</a:t>
                      </a:r>
                      <a:endParaRPr sz="11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32 / 3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all CFD pts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20k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0.157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1.48×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1.57×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all-CFD anchor  (P2, prio=1.0)</a:t>
                      </a:r>
                      <a:endParaRPr sz="11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32 / 3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all CFD pts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20k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0.141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1.33×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1.45×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all-CFD anchor  (P2, prio=2.0)</a:t>
                      </a:r>
                      <a:endParaRPr sz="11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32 / 3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all CFD pts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20k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0.128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1.21×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1.17×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all-CFD anchor  (P2, prio=5.0)</a:t>
                      </a:r>
                      <a:endParaRPr sz="11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32 / 3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all CFD pts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20k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0.118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1.11×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0.95×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scale-up  (P2, prio=2.0)</a:t>
                      </a:r>
                      <a:endParaRPr sz="11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64 / 4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all CFD pts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20k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0.021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1.15×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5.97×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1480" y="5349240"/>
            <a:ext cx="11247120" cy="105156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5468112"/>
            <a:ext cx="10789920" cy="416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21295C"/>
                </a:solidFill>
                <a:latin typeface="Calibri"/>
              </a:rPr>
              <a:t>Only the scale-up row clears both columns.  All-CFD-anchor at the small net keeps the field within ~1.5× P1 but PDE barely drops; removing data (red row) lets PDE drop hard but the field collapses 3.2×.</a:t>
            </a:r>
            <a:endParaRPr sz="1150" b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E68"/>
                </a:solidFill>
                <a:latin typeface="Calibri"/>
              </a:rPr>
              <a:t>Junhe Chen  |  PINN Cylinder Flow Reconstruction  |  Brown University</a:t>
            </a:r>
            <a:endParaRPr sz="9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132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E68"/>
                </a:solidFill>
                <a:latin typeface="Calibri"/>
              </a:rPr>
              <a:t>24</a:t>
            </a:r>
            <a:endParaRPr sz="900" b="0">
              <a:solidFill>
                <a:srgbClr val="555E6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761"/>
                </a:solidFill>
                <a:latin typeface="Calibri"/>
              </a:rPr>
              <a:t>Strict Consistency (P2 with no data) — Trivial Attractor</a:t>
            </a:r>
            <a:endParaRPr sz="2600" b="1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E68"/>
                </a:solidFill>
                <a:latin typeface="Calibri"/>
              </a:rPr>
              <a:t>width=32, depth=3.   Phase 1 = data only;  Phase 2 = PDE only (n_f=20k).</a:t>
            </a:r>
            <a:endParaRPr sz="1300" b="0">
              <a:solidFill>
                <a:srgbClr val="555E68"/>
              </a:solidFill>
              <a:latin typeface="Calibr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11480" y="1097280"/>
            <a:ext cx="11365992" cy="0"/>
          </a:xfrm>
          <a:prstGeom prst="line">
            <a:avLst/>
          </a:prstGeom>
          <a:ln w="9525">
            <a:solidFill>
              <a:srgbClr val="CB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1325880"/>
            <a:ext cx="2674620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4003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E68"/>
                </a:solidFill>
                <a:latin typeface="Calibri"/>
              </a:rPr>
              <a:t>P1 mae_u  (data-only)</a:t>
            </a:r>
            <a:endParaRPr sz="1000" b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4003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7A3C"/>
                </a:solidFill>
                <a:latin typeface="Calibri"/>
              </a:rPr>
              <a:t>0.106</a:t>
            </a:r>
            <a:endParaRPr sz="2200" b="1">
              <a:solidFill>
                <a:srgbClr val="1F7A3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4003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E68"/>
                </a:solidFill>
                <a:latin typeface="Calibri"/>
              </a:rPr>
              <a:t>baseline</a:t>
            </a:r>
            <a:endParaRPr sz="10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68980" y="1325880"/>
            <a:ext cx="2674620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06140" y="1417320"/>
            <a:ext cx="24003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E68"/>
                </a:solidFill>
                <a:latin typeface="Calibri"/>
              </a:rPr>
              <a:t>P2 mae_u  (no data)</a:t>
            </a:r>
            <a:endParaRPr sz="1000" b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06140" y="1691640"/>
            <a:ext cx="24003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12E2A"/>
                </a:solidFill>
                <a:latin typeface="Calibri"/>
              </a:rPr>
              <a:t>0.339</a:t>
            </a:r>
            <a:endParaRPr sz="2200" b="1">
              <a:solidFill>
                <a:srgbClr val="C12E2A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06140" y="2148840"/>
            <a:ext cx="24003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E68"/>
                </a:solidFill>
                <a:latin typeface="Calibri"/>
              </a:rPr>
              <a:t>3.2× drift</a:t>
            </a:r>
            <a:endParaRPr sz="10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26480" y="1325880"/>
            <a:ext cx="2674620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63640" y="1417320"/>
            <a:ext cx="24003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E68"/>
                </a:solidFill>
                <a:latin typeface="Calibri"/>
              </a:rPr>
              <a:t>PDE residual</a:t>
            </a:r>
            <a:endParaRPr sz="1000" b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24003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7A3C"/>
                </a:solidFill>
                <a:latin typeface="Calibri"/>
              </a:rPr>
              <a:t>→ 0</a:t>
            </a:r>
            <a:endParaRPr sz="2200" b="1">
              <a:solidFill>
                <a:srgbClr val="1F7A3C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24003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E68"/>
                </a:solidFill>
                <a:latin typeface="Calibri"/>
              </a:rPr>
              <a:t>meets weak (X)</a:t>
            </a:r>
            <a:endParaRPr sz="10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83980" y="1325880"/>
            <a:ext cx="2674620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21140" y="1417320"/>
            <a:ext cx="24003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E68"/>
                </a:solidFill>
                <a:latin typeface="Calibri"/>
              </a:rPr>
              <a:t>Wake recirculation</a:t>
            </a:r>
            <a:endParaRPr sz="1000" b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21140" y="1691640"/>
            <a:ext cx="24003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12E2A"/>
                </a:solidFill>
                <a:latin typeface="Calibri"/>
              </a:rPr>
              <a:t>lost</a:t>
            </a:r>
            <a:endParaRPr sz="2200" b="1">
              <a:solidFill>
                <a:srgbClr val="C12E2A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21140" y="2148840"/>
            <a:ext cx="24003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E68"/>
                </a:solidFill>
                <a:latin typeface="Calibri"/>
              </a:rPr>
              <a:t>fails strict (Y)</a:t>
            </a:r>
            <a:endParaRPr sz="10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11480" y="2834640"/>
            <a:ext cx="11247120" cy="301752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" y="3017520"/>
            <a:ext cx="10789920" cy="1266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0">
                <a:solidFill>
                  <a:srgbClr val="21295C"/>
                </a:solidFill>
                <a:latin typeface="Calibri"/>
              </a:rPr>
              <a:t>Without a data anchor, BFGS finds a different minimum of the PDE objective — one that drives ‖f_NS‖ → 0 but no longer matches the CFD wake.  The field relaxes toward (u,v) ≈ (1,0) in most of the domain.</a:t>
            </a: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00" b="0">
                <a:solidFill>
                  <a:srgbClr val="21295C"/>
                </a:solidFill>
                <a:latin typeface="Calibri"/>
              </a:rPr>
              <a:t>This is the trivial-attractor mode:  uniform free-stream satisfies incompressible Navier–Stokes everywhere except a thin wall layer.  Hard BCs make it accessible but do not exclude it.</a:t>
            </a: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endParaRPr sz="1200" b="1">
              <a:solidFill>
                <a:srgbClr val="C12E2A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E68"/>
                </a:solidFill>
                <a:latin typeface="Calibri"/>
              </a:rPr>
              <a:t>Junhe Chen  |  PINN Cylinder Flow Reconstruction  |  Brown University</a:t>
            </a:r>
            <a:endParaRPr sz="9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7132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E68"/>
                </a:solidFill>
                <a:latin typeface="Calibri"/>
              </a:rPr>
              <a:t>25</a:t>
            </a:r>
            <a:endParaRPr sz="900" b="0">
              <a:solidFill>
                <a:srgbClr val="555E6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761"/>
                </a:solidFill>
                <a:latin typeface="Calibri"/>
              </a:rPr>
              <a:t>data_priority Sweep with Full CFD Anchor — Monotonic Trade-off</a:t>
            </a:r>
            <a:endParaRPr sz="2600" b="1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E68"/>
                </a:solidFill>
                <a:latin typeface="Calibri"/>
              </a:rPr>
              <a:t>Same small net (32/3).  Phase 2 keeps all 7456 CFD pts on, only the anchor weight changes.</a:t>
            </a:r>
            <a:endParaRPr sz="1300" b="0">
              <a:solidFill>
                <a:srgbClr val="555E68"/>
              </a:solidFill>
              <a:latin typeface="Calibr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11480" y="1097280"/>
            <a:ext cx="11365992" cy="0"/>
          </a:xfrm>
          <a:prstGeom prst="line">
            <a:avLst/>
          </a:prstGeom>
          <a:ln w="9525">
            <a:solidFill>
              <a:srgbClr val="CB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25880"/>
          <a:ext cx="10698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1645920"/>
                <a:gridCol w="3108960"/>
                <a:gridCol w="210312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data_priority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mae_u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mae/P1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PDE start → end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PDE drop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0.5</a:t>
                      </a:r>
                      <a:endParaRPr sz="12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0.157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1.48×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0.652 → 0.416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1.57×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1.0</a:t>
                      </a:r>
                      <a:endParaRPr sz="12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0.141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1.33×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0.653 → 0.451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1.45×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2.0</a:t>
                      </a:r>
                      <a:endParaRPr sz="12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0.128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1.21×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0.545 → 0.467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1.17×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5.0</a:t>
                      </a:r>
                      <a:endParaRPr sz="12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0.118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1.11×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0.549 → 0.581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0.95× (up)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1480" y="3703320"/>
            <a:ext cx="5486400" cy="260604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3867912"/>
            <a:ext cx="51206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What the sweep says</a:t>
            </a:r>
            <a:endParaRPr sz="1400" b="1">
              <a:solidFill>
                <a:srgbClr val="1E2761"/>
              </a:solidFill>
              <a:latin typeface="Calibr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21295C"/>
                </a:solidFill>
                <a:latin typeface="Calibri"/>
              </a:rPr>
              <a:t>priority ↑  ⇒  mae drift ↓   but   PDE drop ↓.</a:t>
            </a:r>
            <a:endParaRPr sz="125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0">
                <a:solidFill>
                  <a:srgbClr val="21295C"/>
                </a:solidFill>
                <a:latin typeface="Calibri"/>
              </a:rPr>
              <a:t>Strict monotonic trade-off — no sweet spot meets both halves of (Y) at this capacity.</a:t>
            </a: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r>
              <a:rPr sz="1200" b="0" i="1">
                <a:solidFill>
                  <a:srgbClr val="555E68"/>
                </a:solidFill>
                <a:latin typeface="Calibri"/>
              </a:rPr>
              <a:t>Best mae (1.11×) and best PDE drop (1.57×) sit at opposite ends of the curve.</a:t>
            </a:r>
            <a:endParaRPr sz="1200" b="0" i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72200" y="3703320"/>
            <a:ext cx="5486400" cy="260604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55080" y="3867912"/>
            <a:ext cx="5120640" cy="15906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Interpretation</a:t>
            </a:r>
            <a:endParaRPr sz="1400" b="1">
              <a:solidFill>
                <a:srgbClr val="1E2761"/>
              </a:solidFill>
              <a:latin typeface="Calibri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21295C"/>
                </a:solidFill>
                <a:latin typeface="Calibri"/>
              </a:rPr>
              <a:t>At width=32, depth=3 the CFD-matching minimum and the low-PDE-residual minimum live on different sheets of parameter space.</a:t>
            </a:r>
            <a:endParaRPr sz="125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0">
                <a:solidFill>
                  <a:srgbClr val="21295C"/>
                </a:solidFill>
                <a:latin typeface="Calibri"/>
              </a:rPr>
              <a:t>Tuning the anchor only slides the optimiser along the trade-off curve — it cannot make the two minima merge.</a:t>
            </a: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endParaRPr sz="1200" b="1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E68"/>
                </a:solidFill>
                <a:latin typeface="Calibri"/>
              </a:rPr>
              <a:t>Junhe Chen  |  PINN Cylinder Flow Reconstruction  |  Brown University</a:t>
            </a:r>
            <a:endParaRPr sz="9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132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E68"/>
                </a:solidFill>
                <a:latin typeface="Calibri"/>
              </a:rPr>
              <a:t>26</a:t>
            </a:r>
            <a:endParaRPr sz="900" b="0">
              <a:solidFill>
                <a:srgbClr val="555E6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59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761"/>
                </a:solidFill>
                <a:latin typeface="Calibri"/>
              </a:rPr>
              <a:t>Scale-Up —  Achieved by Capacity, Same Protocol</a:t>
            </a:r>
            <a:endParaRPr sz="2600" b="1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E68"/>
                </a:solidFill>
                <a:latin typeface="Calibri"/>
              </a:rPr>
              <a:t>Only width and depth changed.  data_priority=2 fixed; all CFD pts kept on; n_f=20k.</a:t>
            </a:r>
            <a:endParaRPr sz="1300" b="0">
              <a:solidFill>
                <a:srgbClr val="555E68"/>
              </a:solidFill>
              <a:latin typeface="Calibr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11480" y="1097280"/>
            <a:ext cx="11365992" cy="0"/>
          </a:xfrm>
          <a:prstGeom prst="line">
            <a:avLst/>
          </a:prstGeom>
          <a:ln w="9525">
            <a:solidFill>
              <a:srgbClr val="CB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1280160"/>
            <a:ext cx="2688336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E68"/>
                </a:solidFill>
                <a:latin typeface="Calibri"/>
              </a:rPr>
              <a:t>P1 mae_u (big net)</a:t>
            </a:r>
            <a:endParaRPr sz="1000" b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241401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7A3C"/>
                </a:solidFill>
                <a:latin typeface="Calibri"/>
              </a:rPr>
              <a:t>0.0186</a:t>
            </a:r>
            <a:endParaRPr sz="2200" b="1">
              <a:solidFill>
                <a:srgbClr val="1F7A3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E68"/>
                </a:solidFill>
                <a:latin typeface="Calibri"/>
              </a:rPr>
              <a:t>5.7× better than small (0.106)</a:t>
            </a:r>
            <a:endParaRPr sz="10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64408" y="1280160"/>
            <a:ext cx="2688336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01568" y="137160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E68"/>
                </a:solidFill>
                <a:latin typeface="Calibri"/>
              </a:rPr>
              <a:t>P2 mae_u</a:t>
            </a:r>
            <a:endParaRPr sz="1000" b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01568" y="1645920"/>
            <a:ext cx="241401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7A3C"/>
                </a:solidFill>
                <a:latin typeface="Calibri"/>
              </a:rPr>
              <a:t>0.0213</a:t>
            </a:r>
            <a:endParaRPr sz="2200" b="1">
              <a:solidFill>
                <a:srgbClr val="1F7A3C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01568" y="210312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E68"/>
                </a:solidFill>
                <a:latin typeface="Calibri"/>
              </a:rPr>
              <a:t>rel_l2_u = 0.032</a:t>
            </a:r>
            <a:endParaRPr sz="10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17336" y="1280160"/>
            <a:ext cx="2688336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54496" y="137160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E68"/>
                </a:solidFill>
                <a:latin typeface="Calibri"/>
              </a:rPr>
              <a:t>mae P2/P1</a:t>
            </a:r>
            <a:endParaRPr sz="1000" b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54496" y="1645920"/>
            <a:ext cx="241401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7A3C"/>
                </a:solidFill>
                <a:latin typeface="Calibri"/>
              </a:rPr>
              <a:t>1.15×</a:t>
            </a:r>
            <a:endParaRPr sz="2200" b="1">
              <a:solidFill>
                <a:srgbClr val="1F7A3C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54496" y="210312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E68"/>
                </a:solidFill>
                <a:latin typeface="Calibri"/>
              </a:rPr>
              <a:t>(Y) needs ≤ 2×   ✓</a:t>
            </a:r>
            <a:endParaRPr sz="10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70264" y="1280160"/>
            <a:ext cx="2688336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07424" y="137160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E68"/>
                </a:solidFill>
                <a:latin typeface="Calibri"/>
              </a:rPr>
              <a:t>PDE 0.084 → 0.014</a:t>
            </a:r>
            <a:endParaRPr sz="1000" b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07424" y="1645920"/>
            <a:ext cx="241401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7A3C"/>
                </a:solidFill>
                <a:latin typeface="Calibri"/>
              </a:rPr>
              <a:t>5.97×</a:t>
            </a:r>
            <a:endParaRPr sz="2200" b="1">
              <a:solidFill>
                <a:srgbClr val="1F7A3C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07424" y="210312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E68"/>
                </a:solidFill>
                <a:latin typeface="Calibri"/>
              </a:rPr>
              <a:t>(Y) needs ≥ 5×   ✓</a:t>
            </a:r>
            <a:endParaRPr sz="1000" b="0">
              <a:solidFill>
                <a:srgbClr val="555E68"/>
              </a:solidFill>
              <a:latin typeface="Calibri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11480" y="2743200"/>
          <a:ext cx="106984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08760"/>
                <a:gridCol w="1097280"/>
                <a:gridCol w="1280160"/>
                <a:gridCol w="1280160"/>
                <a:gridCol w="1188720"/>
                <a:gridCol w="2148840"/>
              </a:tblGrid>
              <a:tr h="472440">
                <a:tc>
                  <a:txBody>
                    <a:bodyPr/>
                    <a:lstStyle/>
                    <a:p>
                      <a:pPr algn="l"/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width / depth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P1 mae_u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P2 mae_u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mae/P1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PDE drop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small  (32 / 3)</a:t>
                      </a:r>
                      <a:endParaRPr sz="12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32 / 3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~3k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0.106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0.128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1.21×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1.17×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7A3C"/>
                          </a:solidFill>
                          <a:latin typeface="Calibri"/>
                        </a:rPr>
                        <a:t>scale-up  (64 / 4)</a:t>
                      </a:r>
                      <a:endParaRPr sz="1200" b="1">
                        <a:solidFill>
                          <a:srgbClr val="1F7A3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3C"/>
                          </a:solidFill>
                          <a:latin typeface="Calibri"/>
                        </a:rPr>
                        <a:t>64 / 4</a:t>
                      </a:r>
                      <a:endParaRPr sz="1200" b="1">
                        <a:solidFill>
                          <a:srgbClr val="1F7A3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3C"/>
                          </a:solidFill>
                          <a:latin typeface="Calibri"/>
                        </a:rPr>
                        <a:t>~17k</a:t>
                      </a:r>
                      <a:endParaRPr sz="1200" b="1">
                        <a:solidFill>
                          <a:srgbClr val="1F7A3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3C"/>
                          </a:solidFill>
                          <a:latin typeface="Calibri"/>
                        </a:rPr>
                        <a:t>0.0186</a:t>
                      </a:r>
                      <a:endParaRPr sz="1200" b="1">
                        <a:solidFill>
                          <a:srgbClr val="1F7A3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3C"/>
                          </a:solidFill>
                          <a:latin typeface="Calibri"/>
                        </a:rPr>
                        <a:t>0.0213</a:t>
                      </a:r>
                      <a:endParaRPr sz="1200" b="1">
                        <a:solidFill>
                          <a:srgbClr val="1F7A3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3C"/>
                          </a:solidFill>
                          <a:latin typeface="Calibri"/>
                        </a:rPr>
                        <a:t>1.15×</a:t>
                      </a:r>
                      <a:endParaRPr sz="1200" b="1">
                        <a:solidFill>
                          <a:srgbClr val="1F7A3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3C"/>
                          </a:solidFill>
                          <a:latin typeface="Calibri"/>
                        </a:rPr>
                        <a:t>5.97×</a:t>
                      </a:r>
                      <a:endParaRPr sz="1200" b="1">
                        <a:solidFill>
                          <a:srgbClr val="1F7A3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411480" y="4343400"/>
            <a:ext cx="11247120" cy="109728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10789920" cy="1207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Conclusion</a:t>
            </a:r>
            <a:endParaRPr sz="1400" b="1">
              <a:solidFill>
                <a:srgbClr val="1E2761"/>
              </a:solidFill>
              <a:latin typeface="Calibr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21295C"/>
                </a:solidFill>
                <a:latin typeface="Calibri"/>
              </a:rPr>
              <a:t>At width=64 the CFD-matching minimum and the low-PDE-residual minimum are essentially the same point.  Both halves of (Y) are met simultaneously with the same Phase-1 / Phase-2 protocol and the same data_priority=2.</a:t>
            </a: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endParaRPr sz="1150" b="0" i="1">
              <a:solidFill>
                <a:srgbClr val="555E68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endParaRPr sz="1150" b="0" i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E68"/>
                </a:solidFill>
                <a:latin typeface="Calibri"/>
              </a:rPr>
              <a:t>Junhe Chen  |  PINN Cylinder Flow Reconstruction  |  Brown University</a:t>
            </a:r>
            <a:endParaRPr sz="9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7132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E68"/>
                </a:solidFill>
                <a:latin typeface="Calibri"/>
              </a:rPr>
              <a:t>27</a:t>
            </a:r>
            <a:endParaRPr sz="900" b="0">
              <a:solidFill>
                <a:srgbClr val="555E68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12431</Words>
  <Application>WPS 演示</Application>
  <PresentationFormat/>
  <Paragraphs>766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8" baseType="lpstr">
      <vt:lpstr>Arial</vt:lpstr>
      <vt:lpstr>宋体</vt:lpstr>
      <vt:lpstr>Wingdings</vt:lpstr>
      <vt:lpstr>Arial</vt:lpstr>
      <vt:lpstr>Calibri</vt:lpstr>
      <vt:lpstr>Helvetica Neue</vt:lpstr>
      <vt:lpstr>Play</vt:lpstr>
      <vt:lpstr>Courier New</vt:lpstr>
      <vt:lpstr>微软雅黑</vt:lpstr>
      <vt:lpstr>汉仪旗黑</vt:lpstr>
      <vt:lpstr>宋体</vt:lpstr>
      <vt:lpstr>Arial Unicode MS</vt:lpstr>
      <vt:lpstr>汉仪书宋二KW</vt:lpstr>
      <vt:lpstr>Consolas</vt:lpstr>
      <vt:lpstr>Thonburi</vt:lpstr>
      <vt:lpstr>Consolas</vt:lpstr>
      <vt:lpstr>Courier New</vt:lpstr>
      <vt:lpstr>Play</vt:lpstr>
      <vt:lpstr>苹方-简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Man Lian</cp:lastModifiedBy>
  <cp:revision>1</cp:revision>
  <dcterms:created xsi:type="dcterms:W3CDTF">2026-06-02T07:39:51Z</dcterms:created>
  <dcterms:modified xsi:type="dcterms:W3CDTF">2026-06-02T07:39:51Z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3C8B071B7FF13D71C6881E6A3D97E2F6_42</vt:lpwstr>
  </property>
</Properties>
</file>