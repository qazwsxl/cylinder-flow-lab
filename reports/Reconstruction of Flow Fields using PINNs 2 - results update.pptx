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3"/>
    <p:sldId id="271" r:id="rId24"/>
    <p:sldId id="272" r:id="rId25"/>
    <p:sldId id="273" r:id="rId26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Play-regular.fntdata"/><Relationship Id="rId22" Type="http://schemas.openxmlformats.org/officeDocument/2006/relationships/font" Target="fonts/Play-bold.fntdata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5c171f2_4_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cfc5c171f2_4_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fc5c171f2_4_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a1d1f1b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aa1d1f1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c5c171f2_4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cfc5c171f2_4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fc5c171f2_4_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fc5c171f2_4_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cfc5c171f2_4_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fc5c171f2_4_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c5c171f2_4_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cfc5c171f2_4_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cfc5c171f2_4_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c5c171f2_4_1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cfc5c171f2_4_1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fc5c171f2_4_1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fc5c171f2_4_1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cfc5c171f2_4_1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fc5c171f2_4_1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c5c171f2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fc5c171f2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fc5c171f2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fc5c171f2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fc5c171f2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fc5c171f2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fc5c171f2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fc5c171f2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fc5c171f2_2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fc5c171f2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fc5c171f2_4_1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cfc5c171f2_4_1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fc5c171f2_4_1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fc5c171f2_2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fc5c171f2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0019"/>
          </a:solidFill>
          <a:ln cap="flat" cmpd="sng" w="12700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411480" y="6592824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Junhe Chen  |  PINN Cylinder Flow Reconstruction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9829800" y="659282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Brown University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502920" y="594360"/>
            <a:ext cx="11155680" cy="5440680"/>
          </a:xfrm>
          <a:prstGeom prst="roundRect">
            <a:avLst>
              <a:gd fmla="val 134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502920" y="594360"/>
            <a:ext cx="11155680" cy="164592"/>
          </a:xfrm>
          <a:prstGeom prst="rect">
            <a:avLst/>
          </a:prstGeom>
          <a:solidFill>
            <a:srgbClr val="7A0019"/>
          </a:solidFill>
          <a:ln cap="flat" cmpd="sng" w="12700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868680" y="1188720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Physics-Informed Reconstruction of Cylinder Flow</a:t>
            </a:r>
            <a:r>
              <a:rPr lang="en-US" sz="2600">
                <a:solidFill>
                  <a:schemeClr val="dk1"/>
                </a:solidFill>
              </a:rPr>
              <a:t>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with Reynolds Continuation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932688" y="2514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PINN-based reconstruction and transition analysis for 2D incompressible flow past a cylinder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9006840" y="168249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285100" y="4279272"/>
            <a:ext cx="3749100" cy="1097400"/>
          </a:xfrm>
          <a:prstGeom prst="roundRect">
            <a:avLst>
              <a:gd fmla="val 4211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Junhe Chen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464040" y="53766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Spring 2026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Project Overview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Physical problem, objectives, and expected transition behavior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8"/>
          <p:cNvSpPr/>
          <p:nvPr/>
        </p:nvSpPr>
        <p:spPr>
          <a:xfrm>
            <a:off x="571505" y="1325880"/>
            <a:ext cx="5486400" cy="452640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804672" y="1435608"/>
            <a:ext cx="51572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68680" y="1783080"/>
            <a:ext cx="4892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2D incompressible flow past a circular cylinder is a canonical benchmark in fluid dynamics.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 Reynolds number increases, the wake evolves from steady symmetric recirculation to time-periodic vortex shedding.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This project uses a Physics-Informed Neural Network (PINN) to reconstruct the flow field and study the transition region.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04675" y="4123950"/>
            <a:ext cx="4617600" cy="1417200"/>
          </a:xfrm>
          <a:prstGeom prst="roundRect">
            <a:avLst>
              <a:gd fmla="val 3226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1035505" y="4279398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Geometry and setup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1035505" y="4594230"/>
            <a:ext cx="384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Cylinder radius R = 0.5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Domain x in [-5, 25], y in [-10, 10]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Target Reynolds sweep: Re = 5 to 100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400800" y="1325880"/>
            <a:ext cx="5166360" cy="4526280"/>
          </a:xfrm>
          <a:prstGeom prst="roundRect">
            <a:avLst>
              <a:gd fmla="val 161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6565392" y="1435608"/>
            <a:ext cx="48371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Main Deliverables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675120" y="1783080"/>
            <a:ext cx="4572000" cy="82296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6858000" y="192938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Flow reconstruction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641080" y="19293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Velocity, pressure, vorticity, and streamlines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675120" y="3977640"/>
            <a:ext cx="4572000" cy="82296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6858000" y="41239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Reusable pipeline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8641080" y="41239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Continuation training across Reynolds numbers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675120" y="50749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Governing Equations and PINN Formulation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2D incompressible Navier-Stokes with stream-function parameterization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9"/>
          <p:cNvSpPr/>
          <p:nvPr/>
        </p:nvSpPr>
        <p:spPr>
          <a:xfrm>
            <a:off x="640080" y="1325880"/>
            <a:ext cx="640080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804672" y="1435608"/>
            <a:ext cx="60716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Navier-Stokes Equations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051560" y="1965960"/>
            <a:ext cx="5577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u_t + u u_x + v u_y = -p_x + (1/Re)(u_xx + u_yy)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v_t + u v_x + v v_y = -p_y + (1/Re)(v_xx + v_yy)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u_x + v_y = 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914400" y="3886200"/>
            <a:ext cx="5806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PINN minimizes PDE residuals together with boundary, initial, and outlet constraints using automatic differentiation.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315200" y="1325880"/>
            <a:ext cx="4251960" cy="4480560"/>
          </a:xfrm>
          <a:prstGeom prst="roundRect">
            <a:avLst>
              <a:gd fmla="val 172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7479792" y="1435608"/>
            <a:ext cx="3922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Stream Function 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7726680" y="187452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Represent the solution 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psi(x, y, t), p(x, y, t)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818120" y="2606040"/>
            <a:ext cx="3246120" cy="868680"/>
          </a:xfrm>
          <a:prstGeom prst="roundRect">
            <a:avLst>
              <a:gd fmla="val 4211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8001000" y="281635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u = d psi / d 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v = - d psi / d x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635240" y="3840480"/>
            <a:ext cx="3611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Enforces incompressibility by construction.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Removes the need for an extra divergence penalty term.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Produces smooth derivatives compatible with PDE residual evaluation.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Network Architecture, Training, and Loss Design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>
            <a:off x="548640" y="9144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20"/>
          <p:cNvSpPr/>
          <p:nvPr/>
        </p:nvSpPr>
        <p:spPr>
          <a:xfrm>
            <a:off x="640080" y="1325880"/>
            <a:ext cx="3794760" cy="4526280"/>
          </a:xfrm>
          <a:prstGeom prst="roundRect">
            <a:avLst>
              <a:gd fmla="val 192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04672" y="1435608"/>
            <a:ext cx="3465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Architecture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914400" y="17830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(x, y, t)  --&gt;  MLP  --&gt;  (psi, p)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14400" y="233172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1097280" y="24414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057400" y="244144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128 neurons/layer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914400" y="297180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EEF2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097280" y="308152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Depth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057400" y="308152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 hidden layers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914400" y="361188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1097280" y="372160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Activation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057400" y="372160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tanh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14400" y="425196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EEF2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1097280" y="436168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057400" y="43616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Adam + L-BFGS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663440" y="1325880"/>
            <a:ext cx="3246120" cy="452628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4828032" y="143560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Loss Function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983480" y="1783080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L = L_pde + 10 L_bc + 10 L_ic + L_out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937760" y="2331720"/>
            <a:ext cx="2697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PDE loss: momentum residuals from Navier-Stokes.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Boundary loss: inlet, wall, and far-field conditions.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Initial loss: uniform initialization in the domain.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Outlet loss: pressure / gradient regularization downstream.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138160" y="1325880"/>
            <a:ext cx="3429000" cy="452628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8302752" y="1435608"/>
            <a:ext cx="3099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Sampling Strategy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8458200" y="17830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Physics-aware collocation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458200" y="2240280"/>
            <a:ext cx="1417320" cy="292608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9875520" y="2240280"/>
            <a:ext cx="868680" cy="2926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10744200" y="2240280"/>
            <a:ext cx="502920" cy="292608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8641080" y="2578608"/>
            <a:ext cx="10515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994392" y="2578608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0808208" y="2578608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412480" y="29718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Refine points near the cylinder to capture boundary-layer behavior.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Bias sampling in the wake to resolve separation and shedding.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smoother activation and derivatives for stable AD-based training.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Reynolds Continuation Strategy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Warm-starting across Reynolds numbers to improve optimization stability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1"/>
          <p:cNvSpPr/>
          <p:nvPr/>
        </p:nvSpPr>
        <p:spPr>
          <a:xfrm>
            <a:off x="731520" y="1417320"/>
            <a:ext cx="1078992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896112" y="1527048"/>
            <a:ext cx="104607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Continuation Workflow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09728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EFF6FF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118872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5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23444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Initialize low-Re steady solution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13639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370332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DBEAF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379476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</a:t>
            </a:r>
            <a:r>
              <a:rPr b="1" lang="en-US" sz="1900">
                <a:solidFill>
                  <a:srgbClr val="0F172A"/>
                </a:solidFill>
              </a:rPr>
              <a:t>40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84048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Transfer weights and continue training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4243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630936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FEF2F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640080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40-60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44652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Resolve transition region carefully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34847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891540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E0F2FE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900684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</a:t>
            </a:r>
            <a:r>
              <a:rPr b="1" lang="en-US" sz="1900">
                <a:solidFill>
                  <a:srgbClr val="0F172A"/>
                </a:solidFill>
              </a:rPr>
              <a:t>61</a:t>
            </a: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-100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05256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Track increasingly unsteady wake dynamics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37160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0876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More stable optimization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61772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75488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Fewer iterations at each new 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86384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800100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Better continuity across the parameter sweep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Results Placeholder: Flow Reconstruction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Replace placeholder panels with your exported figures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22"/>
          <p:cNvSpPr/>
          <p:nvPr/>
        </p:nvSpPr>
        <p:spPr>
          <a:xfrm>
            <a:off x="640080" y="1325880"/>
            <a:ext cx="3703320" cy="461772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804672" y="1435608"/>
            <a:ext cx="3374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observations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68680" y="182880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Velocity magnitude should show stagnation at the front face and acceleration near the cylinder sides.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Downstream recovery and recirculation bubble length can be compared across Reynolds numbers.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the same colorbar range when comparing multiple Re values.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41680" y="4387885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Recommended figures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982975" y="4826560"/>
            <a:ext cx="2926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Velocity magnitude contour at representative times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Streamline plot showing wake topology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Optional comparison: Re = 40, 60, 100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2" title="截屏2026-03-13 21.22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8645" y="1927849"/>
            <a:ext cx="2173807" cy="145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title="截屏2026-03-13 21.22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88645" y="3487320"/>
            <a:ext cx="2173808" cy="143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title="截屏2026-03-13 21.22.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0300" y="1371625"/>
            <a:ext cx="6300899" cy="41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title="截屏2026-03-13 21.22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109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title="截屏2026-03-13 21.22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59524" cy="613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title="截屏2026-03-13 21.27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5786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title="截屏2026-03-13 21.27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052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7" title="截屏2026-03-13 21.27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07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Results Placeholder: Vorticity and Probe Signals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these for wake structure and time-series evidence of transition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2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28"/>
          <p:cNvSpPr/>
          <p:nvPr/>
        </p:nvSpPr>
        <p:spPr>
          <a:xfrm>
            <a:off x="1005840" y="5394960"/>
            <a:ext cx="4892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28" title="截屏2026-03-13 21.30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38" y="1133875"/>
            <a:ext cx="11460474" cy="546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9" title="截屏2026-03-13 21.34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25400"/>
            <a:ext cx="11887200" cy="592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Calibri"/>
              </a:rPr>
              <a:t>Ablation: pseudo-time (PT) x CFD data anchor  (Re=40, steady)</a:t>
            </a:r>
          </a:p>
        </p:txBody>
      </p:sp>
      <p:pic>
        <p:nvPicPr>
          <p:cNvPr id="3" name="Picture 2" descr="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36" y="822960"/>
            <a:ext cx="8412480" cy="53599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5608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555555"/>
                </a:solidFill>
                <a:latin typeface="Calibri"/>
              </a:rPr>
              <a:t>Takeaway: the CFD data anchor is the dominant lever (rel-L2 0.017). Physics-only PINNs reach the lowest training loss yet the worst field -- a spurious wake.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Calibri"/>
              </a:rPr>
              <a:t>What the 2x2 shows, and how to reach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Calibri"/>
              </a:rPr>
              <a:t>Key findings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CFD data anchor is decisive: field rel-L2 (u,v) 0.56 -&gt; 0.017. Best cell = anchor, NO PT.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Physics-only PINN (no anchor) finds a SPURIOUS wake: lowest training loss (7e-6) but worst field (0.56).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PT helps only without data: 0.56 -&gt; 0.39 (avoids the spurious solution, per Wang et al. 2026) -- but still far from truth.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PT + anchor was WORSE than anchor alone (0.040 vs 0.017): PT weight saturated at the ceiling and fought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96012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C5F2D"/>
                </a:solidFill>
                <a:latin typeface="Calibri"/>
              </a:rPr>
              <a:t>Next steps -&gt; full field ~ ground truth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1. Keep the full-field CFD anchor -- it is what gets you to ~1.7%. This is the working config.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2. Fix the wake / v-component (rel-L2 v still 0.12): add Fourier features + hard BCs (cfp40_v2), and more collocation + data in the near wake.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3. Anchor pressure (pMean) too, not just u/v, for the full physical field.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4. Drop PT in the data-supervised setting; reserve PT for data-free / forward solves. If kept, widen w_max and let the gamma shrink activate.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5. Tighter convergence: longer BFGS or the two-stage recipe (data-only pretrain -&gt; PDE 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Calibri"/>
              </a:rPr>
              <a:t>How little data does Re=40 need?  (data -&gt; no-data)</a:t>
            </a:r>
          </a:p>
        </p:txBody>
      </p:sp>
      <p:pic>
        <p:nvPicPr>
          <p:cNvPr id="3" name="Picture 2" descr="rel_l2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48" y="868680"/>
            <a:ext cx="1106305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~100 random CFD points collapse the field error from 0.56 (data-free) to ~0.03: the data-&gt;no-data transition is a CLIFF, not a ramp. Beyond ~100 points, more data barely helps velocity.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PT helps ONLY at exactly N=0. With ANY data, plain PINN (no PT) wins at every level -- PT's relaxation fights the data.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Pressure never recovers at any N (it is not supervised) -- it needs its own anchor.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Calibri"/>
              </a:rPr>
              <a:t>Warm-start annealing toward zero data (Re=40)</a:t>
            </a:r>
          </a:p>
        </p:txBody>
      </p:sp>
      <p:pic>
        <p:nvPicPr>
          <p:cNvPr id="3" name="Picture 2" descr="anneal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611" y="868680"/>
            <a:ext cx="721172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C5F2D"/>
                </a:solidFill>
                <a:latin typeface="Calibri"/>
              </a:rPr>
              <a:t>Verdict: promising direction, but zero-data is genuinely hard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Warm-starting N=0 from a correct low-data solution -&gt; 0.127, 4.4x better than cold-start (0.563). So the annealing direction has real value.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But it drifts up from A's 0.021: once data is removed, the optimizer slides toward the spurious solution -- PDE residual DROPS (0.012-&gt;0.005) while the field DEGRADES. Classic low-residual-wrong-field.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Faithful PT did NOT rescue it (0.204, worse than no-PT). PT is not the fix here.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Next: gradual ladder (500-&gt;250-&gt;100-&gt;50-&gt;0) -- smaller steps may hold lower than the single 500-&gt;0 jump; find the data floor.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